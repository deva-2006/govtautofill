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a:t>
            </a:r>
          </a:p>
          <a:p>
            <a:r>
              <a:t>Good morning respected evaluators and staff. We are Afrin Reshma, Akshay, and Devadharshini from the Department of Artificial Intelligence and Data Science, Rajalakshmi Institute of Technology. Today, we are presenting our First Review on the project: 'CLEARPATH AI – AI Based Accident Detection and Traffic Diversion System'. Our goal is to detect road accidents automatically from CCTV feeds, infer incidents from nearby cameras when direct video is absent, and guide drivers to alternative routes before they get stuck in traffic.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a:t>
            </a:r>
          </a:p>
          <a:p>
            <a:r>
              <a:t>Here is our agenda for today. First, we outline the road safety context, project background, problem statement, aim and objectives, literature study, and limitations of existing traffic setups. Second, we explain our proposed CLEARPATH AI system, architecture, technology stack, initial progress, timeline, and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3):</a:t>
            </a:r>
          </a:p>
          <a:p>
            <a:r>
              <a:t>To introduce our project: When an accident occurs on an urban road, it often takes 15 to 30 minutes before emergency services and traffic police are notified. In that time, hundreds of vehicles enter the road, causing heavy gridlock. CLEARPATH AI uses Computer Vision on CCTV footage to automatically detect crashes, assess traffic, and immediately recommend alternative routes to drivers on a mobile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4):</a:t>
            </a:r>
          </a:p>
          <a:p>
            <a:r>
              <a:t>Looking at the background: Cities have thousands of CCTV cameras, but they are used mostly for recording or post-incident review. Moreover, cameras are not available on every single corner. If an accident occurs in a blind spot, nearby cameras show abnormal traffic stopping suddenly. CLEARPATH AI is designed to use both direct crash detection and nearby-camera traffic inference to trigger re-routing.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5):</a:t>
            </a:r>
          </a:p>
          <a:p>
            <a:r>
              <a:t>Our problem statement highlights five major issues: delayed accident detection, alerts arriving after entering the jam, camera blind spots, lack of indirect inference, and no automatic re-routing. Therefore, our formal definition is to build an end-to-end AI platform that detects accidents, infers blind-spot events from neighboring cameras, and automatically pushes alternative routes to drivers.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6):</a:t>
            </a:r>
          </a:p>
          <a:p>
            <a:r>
              <a:t>Our primary aim is to detect accidents, monitor congestion, and re-route drivers. We have divided our work into specific objectives: First, automatic accident detection using computer vision. Second, traffic density analysis. Third, nearby camera pattern inference. Fourth, road mapping. Fifth, routing with Dijkstra or A*. Sixth, mobile alerts via Flutter. And seventh, an admin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7):</a:t>
            </a:r>
          </a:p>
          <a:p>
            <a:r>
              <a:t>We surveyed three recent, high-impact papers from IEEE Access and MDPI. The 2023 IEEE paper detects traffic events from CCTV but provides no re-routing. The 2025 MDPI paper focuses on adaptive traffic lights without alternative road calculation. The 2019 MDPI paper computes vehicle re-routing but lacks CCTV accident vision. Our research gap is combining all three into a single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8):</a:t>
            </a:r>
          </a:p>
          <a:p>
            <a:r>
              <a:t>In the existing system, city authorities monitor CCTV screens manually or use basic vehicle-counting vision models. Traffic signal timings may adjust slightly, and message boards display general delays. However, accident detection and GPS re-routing exist as completely separate islands with no real-time automated connection.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9):</a:t>
            </a:r>
          </a:p>
          <a:p>
            <a:r>
              <a:t>Here are the four limitations: First, 100% dependency on direct camera visibility. Second, blind-spot failures where indirect patterns are ignored. Third, alerts reaching drivers far too late. And fourth, notifying drivers without offering a smart, computed alternative route.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10):</a:t>
            </a:r>
          </a:p>
          <a:p>
            <a:r>
              <a:t>CLEARPATH AI solves these limitations with an integrated platform: YOLOv11 detects collisions; nearby cameras detect congestion spikes when direct views are missing; routing algorithms calculate alternative roads; and our Flutter app alerts approaching drivers in real time while traffic police monitor the situation on an admin dashboard.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11):</a:t>
            </a:r>
          </a:p>
          <a:p>
            <a:r>
              <a:t>Here is the 8-step methodology of our architecture: 1. Video ingestion from CCTV. 2. Frame processing in OpenCV. 3. YOLOv11 accident and vehicle detection. 4. Location mapping. 5. Neighboring camera traffic analysis. 6. Re-routing using Dijkstra or A*. 7. Pushing alerts to the Flutter mobile app. 8. Real-time logging on the admin dashboard.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12):</a:t>
            </a:r>
          </a:p>
          <a:p>
            <a:r>
              <a:t>Here is our complete technology stack: Python and OpenCV handle video processing; YOLOv11 performs accident detection; FastAPI coordinates the backend; Dijkstra/A* compute alternative paths; Google Maps API and Flutter present the navigation to drivers; and Firebase handles live data and cloud messaging.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13):</a:t>
            </a:r>
          </a:p>
          <a:p>
            <a:r>
              <a:t>At this First Review stage, we have finalized the project title, problem statement, and objectives; completed the IEEE and MDPI literature review; designed the 8-step system architecture; and selected our technology stack. System design and planning are complete, and we are now ready for model training and implementation in Phase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14):</a:t>
            </a:r>
          </a:p>
          <a:p>
            <a:r>
              <a:t>Our expected outcomes are: automatic accident detection from CCTV; nearby-camera blind spot inference; early mobile notifications; automatic alternative route calculation; a Flutter driver application; an admin monitoring dashboard; and significant reductions in urban traffic delay times.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15):</a:t>
            </a:r>
          </a:p>
          <a:p>
            <a:r>
              <a:t>Our work plan is structured into 5 phases over 10 weeks. Phase 1 is completed. Weeks 2 to 4 focus on dataset collection and YOLOv11 model training. Weeks 5 and 6 cover backend and routing algorithms. Weeks 7 and 8 involve the Flutter mobile app and Firebase integration. Weeks 9 and 10 conclude with end-to-end testing, documentation, and the final review.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16):</a:t>
            </a:r>
          </a:p>
          <a:p>
            <a:r>
              <a:t>In conclusion: CLEARPATH AI provides an integrated solution to detect road accidents from CCTV, infer incidents from neighboring cameras, and proactively re-route approaching drivers to prevent city-wide gridlock. We are ready to move into Phase 2 for model training and development. Thank you respected staff, we welcome your questions and suggestions.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AI &amp; DATA SCIENCE | FINAL YEAR PROJECT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1 of 16</a:t>
            </a:r>
          </a:p>
        </p:txBody>
      </p:sp>
      <p:sp>
        <p:nvSpPr>
          <p:cNvPr id="6" name="TextBox 5"/>
          <p:cNvSpPr txBox="1"/>
          <p:nvPr/>
        </p:nvSpPr>
        <p:spPr>
          <a:xfrm>
            <a:off x="731520" y="1051560"/>
            <a:ext cx="10728655" cy="2103120"/>
          </a:xfrm>
          <a:prstGeom prst="rect">
            <a:avLst/>
          </a:prstGeom>
          <a:noFill/>
        </p:spPr>
        <p:txBody>
          <a:bodyPr wrap="square">
            <a:spAutoFit/>
          </a:bodyPr>
          <a:lstStyle/>
          <a:p>
            <a:pPr>
              <a:spcAft>
                <a:spcPts val="800"/>
              </a:spcAft>
              <a:defRPr sz="2600" b="1">
                <a:solidFill>
                  <a:srgbClr val="0F172A"/>
                </a:solidFill>
              </a:defRPr>
            </a:pPr>
            <a:r>
              <a:t>CLEARPATH AI: AI Based Accident Detection and Traffic Diversion System</a:t>
            </a:r>
          </a:p>
          <a:p>
            <a:pPr>
              <a:defRPr sz="1400">
                <a:solidFill>
                  <a:srgbClr val="64748B"/>
                </a:solidFill>
              </a:defRPr>
            </a:pPr>
            <a:r>
              <a:t>Detecting Road Accidents from CCTV Footage, Inferring Incidents via Nearby Cameras, and Recommending Real-Time Alternative Routes</a:t>
            </a:r>
          </a:p>
        </p:txBody>
      </p:sp>
      <p:sp>
        <p:nvSpPr>
          <p:cNvPr id="7" name="Rounded Rectangle 6"/>
          <p:cNvSpPr/>
          <p:nvPr/>
        </p:nvSpPr>
        <p:spPr>
          <a:xfrm>
            <a:off x="731520" y="3429000"/>
            <a:ext cx="5120640" cy="265176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611880"/>
            <a:ext cx="4663440" cy="2286000"/>
          </a:xfrm>
          <a:prstGeom prst="rect">
            <a:avLst/>
          </a:prstGeom>
          <a:noFill/>
        </p:spPr>
        <p:txBody>
          <a:bodyPr wrap="square">
            <a:spAutoFit/>
          </a:bodyPr>
          <a:lstStyle/>
          <a:p>
            <a:pPr>
              <a:spcAft>
                <a:spcPts val="800"/>
              </a:spcAft>
              <a:defRPr sz="1300" b="1">
                <a:solidFill>
                  <a:srgbClr val="1E40AF"/>
                </a:solidFill>
              </a:defRPr>
            </a:pPr>
            <a:r>
              <a:t>🎓  INSTITUTION DETAILS</a:t>
            </a:r>
          </a:p>
          <a:p>
            <a:pPr>
              <a:spcAft>
                <a:spcPts val="600"/>
              </a:spcAft>
              <a:defRPr sz="1700" b="1">
                <a:solidFill>
                  <a:srgbClr val="0F172A"/>
                </a:solidFill>
              </a:defRPr>
            </a:pPr>
            <a:r>
              <a:t>Rajalakshmi Institute of Technology</a:t>
            </a:r>
          </a:p>
          <a:p>
            <a:pPr>
              <a:spcAft>
                <a:spcPts val="300"/>
              </a:spcAft>
              <a:defRPr sz="1100">
                <a:solidFill>
                  <a:srgbClr val="1E293B"/>
                </a:solidFill>
              </a:defRPr>
            </a:pPr>
            <a:r>
              <a:t>• Department of Artificial Intelligence and Data Science</a:t>
            </a:r>
          </a:p>
          <a:p>
            <a:pPr>
              <a:spcAft>
                <a:spcPts val="300"/>
              </a:spcAft>
              <a:defRPr sz="1100">
                <a:solidFill>
                  <a:srgbClr val="1E293B"/>
                </a:solidFill>
              </a:defRPr>
            </a:pPr>
            <a:r>
              <a:t>• Degree: B.Tech. AI &amp; Data Science</a:t>
            </a:r>
          </a:p>
          <a:p>
            <a:pPr>
              <a:spcAft>
                <a:spcPts val="300"/>
              </a:spcAft>
              <a:defRPr sz="1100">
                <a:solidFill>
                  <a:srgbClr val="1E293B"/>
                </a:solidFill>
              </a:defRPr>
            </a:pPr>
            <a:r>
              <a:t>• Academic Year: 2026–2027</a:t>
            </a:r>
          </a:p>
          <a:p>
            <a:pPr>
              <a:spcAft>
                <a:spcPts val="300"/>
              </a:spcAft>
              <a:defRPr sz="1100">
                <a:solidFill>
                  <a:srgbClr val="1E293B"/>
                </a:solidFill>
              </a:defRPr>
            </a:pPr>
            <a:r>
              <a:t>• Stage: Undergraduate Project Review - I</a:t>
            </a:r>
          </a:p>
        </p:txBody>
      </p:sp>
      <p:sp>
        <p:nvSpPr>
          <p:cNvPr id="9" name="Rounded Rectangle 8"/>
          <p:cNvSpPr/>
          <p:nvPr/>
        </p:nvSpPr>
        <p:spPr>
          <a:xfrm>
            <a:off x="6217920" y="3429000"/>
            <a:ext cx="5242255" cy="265176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3611880"/>
            <a:ext cx="4754880" cy="2286000"/>
          </a:xfrm>
          <a:prstGeom prst="rect">
            <a:avLst/>
          </a:prstGeom>
          <a:noFill/>
        </p:spPr>
        <p:txBody>
          <a:bodyPr wrap="square">
            <a:spAutoFit/>
          </a:bodyPr>
          <a:lstStyle/>
          <a:p>
            <a:pPr>
              <a:spcAft>
                <a:spcPts val="1000"/>
              </a:spcAft>
              <a:defRPr sz="1300" b="1">
                <a:solidFill>
                  <a:srgbClr val="1E40AF"/>
                </a:solidFill>
              </a:defRPr>
            </a:pPr>
            <a:r>
              <a:t>👥  PROJECT MEMBERS</a:t>
            </a:r>
          </a:p>
          <a:p>
            <a:pPr>
              <a:spcAft>
                <a:spcPts val="800"/>
              </a:spcAft>
              <a:defRPr sz="1400" b="1">
                <a:solidFill>
                  <a:srgbClr val="0F172A"/>
                </a:solidFill>
              </a:defRPr>
            </a:pPr>
            <a:r>
              <a:t>Afrin Reshma C   (2117230070006)</a:t>
            </a:r>
          </a:p>
          <a:p>
            <a:pPr>
              <a:spcAft>
                <a:spcPts val="800"/>
              </a:spcAft>
              <a:defRPr sz="1400" b="1">
                <a:solidFill>
                  <a:srgbClr val="0F172A"/>
                </a:solidFill>
              </a:defRPr>
            </a:pPr>
            <a:r>
              <a:t>Akshay A   (2117230070009)</a:t>
            </a:r>
          </a:p>
          <a:p>
            <a:pPr>
              <a:spcAft>
                <a:spcPts val="800"/>
              </a:spcAft>
              <a:defRPr sz="1400" b="1">
                <a:solidFill>
                  <a:srgbClr val="0F172A"/>
                </a:solidFill>
              </a:defRPr>
            </a:pPr>
            <a:r>
              <a:t>Devadharshini R   (2117230070026)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2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Table of Contents</a:t>
            </a:r>
          </a:p>
          <a:p>
            <a:pPr>
              <a:defRPr sz="1150">
                <a:solidFill>
                  <a:srgbClr val="64748B"/>
                </a:solidFill>
              </a:defRPr>
            </a:pPr>
            <a:r>
              <a:t>Presentation outline and agenda</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Part 1: Problem &amp; Existing Work</a:t>
            </a:r>
          </a:p>
          <a:p>
            <a:pPr>
              <a:spcAft>
                <a:spcPts val="600"/>
              </a:spcAft>
              <a:defRPr sz="1150">
                <a:solidFill>
                  <a:srgbClr val="1E293B"/>
                </a:solidFill>
              </a:defRPr>
            </a:pPr>
            <a:r>
              <a:t>•  1. Introduction</a:t>
            </a:r>
          </a:p>
          <a:p>
            <a:pPr>
              <a:spcAft>
                <a:spcPts val="600"/>
              </a:spcAft>
              <a:defRPr sz="1150">
                <a:solidFill>
                  <a:srgbClr val="1E293B"/>
                </a:solidFill>
              </a:defRPr>
            </a:pPr>
            <a:r>
              <a:t>•  2. Background of the Project</a:t>
            </a:r>
          </a:p>
          <a:p>
            <a:pPr>
              <a:spcAft>
                <a:spcPts val="600"/>
              </a:spcAft>
              <a:defRPr sz="1150">
                <a:solidFill>
                  <a:srgbClr val="1E293B"/>
                </a:solidFill>
              </a:defRPr>
            </a:pPr>
            <a:r>
              <a:t>•  3. Problem Statement</a:t>
            </a:r>
          </a:p>
          <a:p>
            <a:pPr>
              <a:spcAft>
                <a:spcPts val="600"/>
              </a:spcAft>
              <a:defRPr sz="1150">
                <a:solidFill>
                  <a:srgbClr val="1E293B"/>
                </a:solidFill>
              </a:defRPr>
            </a:pPr>
            <a:r>
              <a:t>•  4. Aim and Objectives</a:t>
            </a:r>
          </a:p>
          <a:p>
            <a:pPr>
              <a:spcAft>
                <a:spcPts val="600"/>
              </a:spcAft>
              <a:defRPr sz="1150">
                <a:solidFill>
                  <a:srgbClr val="1E293B"/>
                </a:solidFill>
              </a:defRPr>
            </a:pPr>
            <a:r>
              <a:t>•  5. Literature Review</a:t>
            </a:r>
          </a:p>
          <a:p>
            <a:pPr>
              <a:spcAft>
                <a:spcPts val="600"/>
              </a:spcAft>
              <a:defRPr sz="1150">
                <a:solidFill>
                  <a:srgbClr val="1E293B"/>
                </a:solidFill>
              </a:defRPr>
            </a:pPr>
            <a:r>
              <a:t>•  6. Existing System</a:t>
            </a:r>
          </a:p>
          <a:p>
            <a:pPr>
              <a:spcAft>
                <a:spcPts val="600"/>
              </a:spcAft>
              <a:defRPr sz="1150">
                <a:solidFill>
                  <a:srgbClr val="1E293B"/>
                </a:solidFill>
              </a:defRPr>
            </a:pPr>
            <a:r>
              <a:t>•  7. Limitations of Existing System</a:t>
            </a:r>
          </a:p>
        </p:txBody>
      </p:sp>
      <p:sp>
        <p:nvSpPr>
          <p:cNvPr id="9" name="Rounded Rectangle 8"/>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Part 2: Proposed Solution &amp; Roadmap</a:t>
            </a:r>
          </a:p>
          <a:p>
            <a:pPr>
              <a:spcAft>
                <a:spcPts val="600"/>
              </a:spcAft>
              <a:defRPr sz="1150">
                <a:solidFill>
                  <a:srgbClr val="1E293B"/>
                </a:solidFill>
              </a:defRPr>
            </a:pPr>
            <a:r>
              <a:t>•  8. Proposed System</a:t>
            </a:r>
          </a:p>
          <a:p>
            <a:pPr>
              <a:spcAft>
                <a:spcPts val="600"/>
              </a:spcAft>
              <a:defRPr sz="1150">
                <a:solidFill>
                  <a:srgbClr val="1E293B"/>
                </a:solidFill>
              </a:defRPr>
            </a:pPr>
            <a:r>
              <a:t>•  9. Proposed Methodology / Architecture</a:t>
            </a:r>
          </a:p>
          <a:p>
            <a:pPr>
              <a:spcAft>
                <a:spcPts val="600"/>
              </a:spcAft>
              <a:defRPr sz="1150">
                <a:solidFill>
                  <a:srgbClr val="1E293B"/>
                </a:solidFill>
              </a:defRPr>
            </a:pPr>
            <a:r>
              <a:t>•  10. Tools and Technologies Used</a:t>
            </a:r>
          </a:p>
          <a:p>
            <a:pPr>
              <a:spcAft>
                <a:spcPts val="600"/>
              </a:spcAft>
              <a:defRPr sz="1150">
                <a:solidFill>
                  <a:srgbClr val="1E293B"/>
                </a:solidFill>
              </a:defRPr>
            </a:pPr>
            <a:r>
              <a:t>•  11. Work Completed So Far</a:t>
            </a:r>
          </a:p>
          <a:p>
            <a:pPr>
              <a:spcAft>
                <a:spcPts val="600"/>
              </a:spcAft>
              <a:defRPr sz="1150">
                <a:solidFill>
                  <a:srgbClr val="1E293B"/>
                </a:solidFill>
              </a:defRPr>
            </a:pPr>
            <a:r>
              <a:t>•  12. Expected Outcomes</a:t>
            </a:r>
          </a:p>
          <a:p>
            <a:pPr>
              <a:spcAft>
                <a:spcPts val="600"/>
              </a:spcAft>
              <a:defRPr sz="1150">
                <a:solidFill>
                  <a:srgbClr val="1E293B"/>
                </a:solidFill>
              </a:defRPr>
            </a:pPr>
            <a:r>
              <a:t>•  13. Project Timeline and Work Plan</a:t>
            </a:r>
          </a:p>
          <a:p>
            <a:pPr>
              <a:spcAft>
                <a:spcPts val="600"/>
              </a:spcAft>
              <a:defRPr sz="1150">
                <a:solidFill>
                  <a:srgbClr val="1E293B"/>
                </a:solidFill>
              </a:defRPr>
            </a:pPr>
            <a:r>
              <a:t>•  14. References and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3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1. Introduction</a:t>
            </a:r>
          </a:p>
          <a:p>
            <a:pPr>
              <a:defRPr sz="1150">
                <a:solidFill>
                  <a:srgbClr val="64748B"/>
                </a:solidFill>
              </a:defRPr>
            </a:pPr>
            <a:r>
              <a:t>Overview of road accident delays and AI-driven solutions</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The Urban Traffic Problem</a:t>
            </a:r>
          </a:p>
          <a:p>
            <a:pPr>
              <a:spcAft>
                <a:spcPts val="600"/>
              </a:spcAft>
              <a:defRPr sz="1150">
                <a:solidFill>
                  <a:srgbClr val="1E293B"/>
                </a:solidFill>
              </a:defRPr>
            </a:pPr>
            <a:r>
              <a:t>•  Road accidents are a major cause of sudden traffic congestion, emergency delays, and increased road safety risks in urban areas.</a:t>
            </a:r>
          </a:p>
          <a:p>
            <a:pPr>
              <a:spcAft>
                <a:spcPts val="600"/>
              </a:spcAft>
              <a:defRPr sz="1150">
                <a:solidFill>
                  <a:srgbClr val="1E293B"/>
                </a:solidFill>
              </a:defRPr>
            </a:pPr>
            <a:r>
              <a:t>•  Traditional traffic monitoring systems rely on manual calls or slow human reporting, failing to alert approaching drivers in time.</a:t>
            </a:r>
          </a:p>
          <a:p>
            <a:pPr>
              <a:spcAft>
                <a:spcPts val="600"/>
              </a:spcAft>
              <a:defRPr sz="1150">
                <a:solidFill>
                  <a:srgbClr val="1E293B"/>
                </a:solidFill>
              </a:defRPr>
            </a:pPr>
            <a:r>
              <a:t>•  When an accident happens, incoming drivers continue towards the affected road without knowing about the blockage, worsening the jam.</a:t>
            </a:r>
          </a:p>
        </p:txBody>
      </p:sp>
      <p:sp>
        <p:nvSpPr>
          <p:cNvPr id="9" name="Rounded Rectangle 8"/>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The CLEARPATH AI Solution</a:t>
            </a:r>
          </a:p>
          <a:p>
            <a:pPr>
              <a:spcAft>
                <a:spcPts val="600"/>
              </a:spcAft>
              <a:defRPr sz="1150">
                <a:solidFill>
                  <a:srgbClr val="1E293B"/>
                </a:solidFill>
              </a:defRPr>
            </a:pPr>
            <a:r>
              <a:t>•  Artificial Intelligence and Computer Vision can analyze CCTV footage automatically to detect road accidents in real time.</a:t>
            </a:r>
          </a:p>
          <a:p>
            <a:pPr>
              <a:spcAft>
                <a:spcPts val="600"/>
              </a:spcAft>
              <a:defRPr sz="1150">
                <a:solidFill>
                  <a:srgbClr val="1E293B"/>
                </a:solidFill>
              </a:defRPr>
            </a:pPr>
            <a:r>
              <a:t>•  CLEARPATH AI aims to detect accidents, evaluate nearby road traffic conditions, and compute alternative routes.</a:t>
            </a:r>
          </a:p>
          <a:p>
            <a:pPr>
              <a:spcAft>
                <a:spcPts val="600"/>
              </a:spcAft>
              <a:defRPr sz="1150">
                <a:solidFill>
                  <a:srgbClr val="1E293B"/>
                </a:solidFill>
              </a:defRPr>
            </a:pPr>
            <a:r>
              <a:t>•  The system sends early diversion alerts to drivers through a mobile app so they can divert before reaching the accident site.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4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2. Background of the Project</a:t>
            </a:r>
          </a:p>
          <a:p>
            <a:pPr>
              <a:defRPr sz="1150">
                <a:solidFill>
                  <a:srgbClr val="64748B"/>
                </a:solidFill>
              </a:defRPr>
            </a:pPr>
            <a:r>
              <a:t>Current CCTV monitoring infrastructure and gaps</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CCTV Vision &amp; Monitoring</a:t>
            </a:r>
          </a:p>
          <a:p>
            <a:pPr>
              <a:spcAft>
                <a:spcPts val="600"/>
              </a:spcAft>
              <a:defRPr sz="1150">
                <a:solidFill>
                  <a:srgbClr val="1E293B"/>
                </a:solidFill>
              </a:defRPr>
            </a:pPr>
            <a:r>
              <a:t>•  CCTV cameras are now widely installed across city intersections and highways to monitor vehicle flow.</a:t>
            </a:r>
          </a:p>
          <a:p>
            <a:pPr>
              <a:spcAft>
                <a:spcPts val="600"/>
              </a:spcAft>
              <a:defRPr sz="1150">
                <a:solidFill>
                  <a:srgbClr val="1E293B"/>
                </a:solidFill>
              </a:defRPr>
            </a:pPr>
            <a:r>
              <a:t>•  Modern deep learning vision models like YOLO can detect vehicles, recognize abnormal collisions, and monitor road density.</a:t>
            </a:r>
          </a:p>
          <a:p>
            <a:pPr>
              <a:spcAft>
                <a:spcPts val="600"/>
              </a:spcAft>
              <a:defRPr sz="1150">
                <a:solidFill>
                  <a:srgbClr val="1E293B"/>
                </a:solidFill>
              </a:defRPr>
            </a:pPr>
            <a:r>
              <a:t>•  However, existing smart city systems mainly focus on passive video recording, vehicle counting, or static incident alerts.</a:t>
            </a:r>
          </a:p>
        </p:txBody>
      </p:sp>
      <p:sp>
        <p:nvSpPr>
          <p:cNvPr id="9" name="Rounded Rectangle 8"/>
          <p:cNvSpPr/>
          <p:nvPr/>
        </p:nvSpPr>
        <p:spPr>
          <a:xfrm>
            <a:off x="6217920" y="1463040"/>
            <a:ext cx="5242255"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Need for Unified Diversion</a:t>
            </a:r>
          </a:p>
          <a:p>
            <a:pPr>
              <a:spcAft>
                <a:spcPts val="600"/>
              </a:spcAft>
              <a:defRPr sz="1150">
                <a:solidFill>
                  <a:srgbClr val="1E293B"/>
                </a:solidFill>
              </a:defRPr>
            </a:pPr>
            <a:r>
              <a:t>•  Traffic congestion quickly builds up because drivers continue driving into the accident zone without diversion advice.</a:t>
            </a:r>
          </a:p>
          <a:p>
            <a:pPr>
              <a:spcAft>
                <a:spcPts val="600"/>
              </a:spcAft>
              <a:defRPr sz="1150">
                <a:solidFill>
                  <a:srgbClr val="1E293B"/>
                </a:solidFill>
              </a:defRPr>
            </a:pPr>
            <a:r>
              <a:t>•  An intelligent system must combine automated accident detection with active traffic analysis and dynamic route recommendations.</a:t>
            </a:r>
          </a:p>
          <a:p>
            <a:pPr>
              <a:spcAft>
                <a:spcPts val="600"/>
              </a:spcAft>
              <a:defRPr sz="1150">
                <a:solidFill>
                  <a:srgbClr val="1E293B"/>
                </a:solidFill>
              </a:defRPr>
            </a:pPr>
            <a:r>
              <a:t>•  Key Innovation: CLEARPATH AI also proposes analyzing nearby CCTV cameras to infer possible incidents even when direct camera footage is unavailable.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5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3. Problem Statement</a:t>
            </a:r>
          </a:p>
          <a:p>
            <a:pPr>
              <a:defRPr sz="1150">
                <a:solidFill>
                  <a:srgbClr val="64748B"/>
                </a:solidFill>
              </a:defRPr>
            </a:pPr>
            <a:r>
              <a:t>Major pain points and formal problem definition</a:t>
            </a:r>
          </a:p>
        </p:txBody>
      </p:sp>
      <p:sp>
        <p:nvSpPr>
          <p:cNvPr id="7" name="Rounded Rectangle 6"/>
          <p:cNvSpPr/>
          <p:nvPr/>
        </p:nvSpPr>
        <p:spPr>
          <a:xfrm>
            <a:off x="731520" y="1463040"/>
            <a:ext cx="10728655" cy="246888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10271455" cy="2103120"/>
          </a:xfrm>
          <a:prstGeom prst="rect">
            <a:avLst/>
          </a:prstGeom>
          <a:noFill/>
        </p:spPr>
        <p:txBody>
          <a:bodyPr wrap="square">
            <a:spAutoFit/>
          </a:bodyPr>
          <a:lstStyle/>
          <a:p>
            <a:pPr>
              <a:spcAft>
                <a:spcPts val="800"/>
              </a:spcAft>
              <a:defRPr sz="1400" b="1">
                <a:solidFill>
                  <a:srgbClr val="0F172A"/>
                </a:solidFill>
              </a:defRPr>
            </a:pPr>
            <a:r>
              <a:t>⚠️  Identified Pain Points</a:t>
            </a:r>
          </a:p>
          <a:p>
            <a:pPr>
              <a:spcAft>
                <a:spcPts val="600"/>
              </a:spcAft>
              <a:defRPr sz="1150">
                <a:solidFill>
                  <a:srgbClr val="1E293B"/>
                </a:solidFill>
              </a:defRPr>
            </a:pPr>
            <a:r>
              <a:t>•  Late Accident Detection: Crashes are detected late, causing massive delays and slowing emergency responses.</a:t>
            </a:r>
          </a:p>
          <a:p>
            <a:pPr>
              <a:spcAft>
                <a:spcPts val="600"/>
              </a:spcAft>
              <a:defRPr sz="1150">
                <a:solidFill>
                  <a:srgbClr val="1E293B"/>
                </a:solidFill>
              </a:defRPr>
            </a:pPr>
            <a:r>
              <a:t>•  Delayed Driver Information: Commuters receive accident alerts only after already entering the blocked corridor.</a:t>
            </a:r>
          </a:p>
          <a:p>
            <a:pPr>
              <a:spcAft>
                <a:spcPts val="600"/>
              </a:spcAft>
              <a:defRPr sz="1150">
                <a:solidFill>
                  <a:srgbClr val="1E293B"/>
                </a:solidFill>
              </a:defRPr>
            </a:pPr>
            <a:r>
              <a:t>•  Incomplete Camera Coverage: CCTV cameras are not installed at every blind spot or accident-prone stretch.</a:t>
            </a:r>
          </a:p>
          <a:p>
            <a:pPr>
              <a:spcAft>
                <a:spcPts val="600"/>
              </a:spcAft>
              <a:defRPr sz="1150">
                <a:solidFill>
                  <a:srgbClr val="1E293B"/>
                </a:solidFill>
              </a:defRPr>
            </a:pPr>
            <a:r>
              <a:t>•  Lack of Nearby-Camera Inference: Existing systems fail to detect incidents by analyzing abnormal stoppages from adjacent cameras.</a:t>
            </a:r>
          </a:p>
          <a:p>
            <a:pPr>
              <a:spcAft>
                <a:spcPts val="600"/>
              </a:spcAft>
              <a:defRPr sz="1150">
                <a:solidFill>
                  <a:srgbClr val="1E293B"/>
                </a:solidFill>
              </a:defRPr>
            </a:pPr>
            <a:r>
              <a:t>•  Missing Automatic Re-Routing: Standard monitoring systems post warnings but fail to suggest feasible alternate routes.</a:t>
            </a:r>
          </a:p>
        </p:txBody>
      </p:sp>
      <p:sp>
        <p:nvSpPr>
          <p:cNvPr id="9" name="Rounded Rectangle 8"/>
          <p:cNvSpPr/>
          <p:nvPr/>
        </p:nvSpPr>
        <p:spPr>
          <a:xfrm>
            <a:off x="731520" y="41148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97680"/>
            <a:ext cx="10271455" cy="1737360"/>
          </a:xfrm>
          <a:prstGeom prst="rect">
            <a:avLst/>
          </a:prstGeom>
          <a:noFill/>
        </p:spPr>
        <p:txBody>
          <a:bodyPr wrap="square">
            <a:spAutoFit/>
          </a:bodyPr>
          <a:lstStyle/>
          <a:p>
            <a:pPr>
              <a:spcAft>
                <a:spcPts val="800"/>
              </a:spcAft>
              <a:defRPr sz="1400" b="1">
                <a:solidFill>
                  <a:srgbClr val="0F172A"/>
                </a:solidFill>
              </a:defRPr>
            </a:pPr>
            <a:r>
              <a:t>🎯  Problem Definition</a:t>
            </a:r>
          </a:p>
          <a:p>
            <a:pPr>
              <a:spcAft>
                <a:spcPts val="600"/>
              </a:spcAft>
              <a:defRPr sz="1150">
                <a:solidFill>
                  <a:srgbClr val="1E293B"/>
                </a:solidFill>
              </a:defRPr>
            </a:pPr>
            <a:r>
              <a:t>•  To develop an AI-based accident detection and traffic diversion system that detects road accidents using CCTV footage, identifies possible incidents through nearby-camera traffic analysis, and provides early alerts with automated alternative-route recommendations.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6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4. Aim and Objectives</a:t>
            </a:r>
          </a:p>
          <a:p>
            <a:pPr>
              <a:defRPr sz="1150">
                <a:solidFill>
                  <a:srgbClr val="64748B"/>
                </a:solidFill>
              </a:defRPr>
            </a:pPr>
            <a:r>
              <a:t>Primary goal and key measurable technical objectives</a:t>
            </a:r>
          </a:p>
        </p:txBody>
      </p:sp>
      <p:sp>
        <p:nvSpPr>
          <p:cNvPr id="7" name="Rounded Rectangle 6"/>
          <p:cNvSpPr/>
          <p:nvPr/>
        </p:nvSpPr>
        <p:spPr>
          <a:xfrm>
            <a:off x="731520" y="1463040"/>
            <a:ext cx="10728655" cy="123444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10271455" cy="868680"/>
          </a:xfrm>
          <a:prstGeom prst="rect">
            <a:avLst/>
          </a:prstGeom>
          <a:noFill/>
        </p:spPr>
        <p:txBody>
          <a:bodyPr wrap="square">
            <a:spAutoFit/>
          </a:bodyPr>
          <a:lstStyle/>
          <a:p>
            <a:pPr>
              <a:spcAft>
                <a:spcPts val="800"/>
              </a:spcAft>
              <a:defRPr sz="1400" b="1">
                <a:solidFill>
                  <a:srgbClr val="0F172A"/>
                </a:solidFill>
              </a:defRPr>
            </a:pPr>
            <a:r>
              <a:t>🎯  AIM OF THE PROJECT</a:t>
            </a:r>
          </a:p>
          <a:p>
            <a:pPr>
              <a:spcAft>
                <a:spcPts val="600"/>
              </a:spcAft>
              <a:defRPr sz="1150">
                <a:solidFill>
                  <a:srgbClr val="1E293B"/>
                </a:solidFill>
              </a:defRPr>
            </a:pPr>
            <a:r>
              <a:t>•  To develop an intelligent AI-based system for detecting road accidents, monitoring traffic congestion, and recommending alternative routes to approaching drivers.</a:t>
            </a:r>
          </a:p>
        </p:txBody>
      </p:sp>
      <p:sp>
        <p:nvSpPr>
          <p:cNvPr id="9" name="Rounded Rectangle 8"/>
          <p:cNvSpPr/>
          <p:nvPr/>
        </p:nvSpPr>
        <p:spPr>
          <a:xfrm>
            <a:off x="731520" y="2834640"/>
            <a:ext cx="5120640" cy="3383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017520"/>
            <a:ext cx="4663440" cy="3017520"/>
          </a:xfrm>
          <a:prstGeom prst="rect">
            <a:avLst/>
          </a:prstGeom>
          <a:noFill/>
        </p:spPr>
        <p:txBody>
          <a:bodyPr wrap="square">
            <a:spAutoFit/>
          </a:bodyPr>
          <a:lstStyle/>
          <a:p>
            <a:pPr>
              <a:spcAft>
                <a:spcPts val="800"/>
              </a:spcAft>
              <a:defRPr sz="1400" b="1">
                <a:solidFill>
                  <a:srgbClr val="0F172A"/>
                </a:solidFill>
              </a:defRPr>
            </a:pPr>
            <a:r>
              <a:t>🔍  Detection &amp; Inference Objectives</a:t>
            </a:r>
          </a:p>
          <a:p>
            <a:pPr>
              <a:spcAft>
                <a:spcPts val="600"/>
              </a:spcAft>
              <a:defRPr sz="1150">
                <a:solidFill>
                  <a:srgbClr val="1E293B"/>
                </a:solidFill>
              </a:defRPr>
            </a:pPr>
            <a:r>
              <a:t>•  Detect road accidents automatically using CCTV footage and computer vision.</a:t>
            </a:r>
          </a:p>
          <a:p>
            <a:pPr>
              <a:spcAft>
                <a:spcPts val="600"/>
              </a:spcAft>
              <a:defRPr sz="1150">
                <a:solidFill>
                  <a:srgbClr val="1E293B"/>
                </a:solidFill>
              </a:defRPr>
            </a:pPr>
            <a:r>
              <a:t>•  Monitor vehicle movement and analyze real-time traffic density.</a:t>
            </a:r>
          </a:p>
          <a:p>
            <a:pPr>
              <a:spcAft>
                <a:spcPts val="600"/>
              </a:spcAft>
              <a:defRPr sz="1150">
                <a:solidFill>
                  <a:srgbClr val="1E293B"/>
                </a:solidFill>
              </a:defRPr>
            </a:pPr>
            <a:r>
              <a:t>•  Identify possible incidents using abnormal traffic patterns from nearby cameras.</a:t>
            </a:r>
          </a:p>
          <a:p>
            <a:pPr>
              <a:spcAft>
                <a:spcPts val="600"/>
              </a:spcAft>
              <a:defRPr sz="1150">
                <a:solidFill>
                  <a:srgbClr val="1E293B"/>
                </a:solidFill>
              </a:defRPr>
            </a:pPr>
            <a:r>
              <a:t>•  Determine the exact accident location and identify the affected road segment.</a:t>
            </a:r>
          </a:p>
        </p:txBody>
      </p:sp>
      <p:sp>
        <p:nvSpPr>
          <p:cNvPr id="11" name="Rounded Rectangle 10"/>
          <p:cNvSpPr/>
          <p:nvPr/>
        </p:nvSpPr>
        <p:spPr>
          <a:xfrm>
            <a:off x="6217920" y="2834640"/>
            <a:ext cx="5242255" cy="33832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017520"/>
            <a:ext cx="4785055" cy="3017520"/>
          </a:xfrm>
          <a:prstGeom prst="rect">
            <a:avLst/>
          </a:prstGeom>
          <a:noFill/>
        </p:spPr>
        <p:txBody>
          <a:bodyPr wrap="square">
            <a:spAutoFit/>
          </a:bodyPr>
          <a:lstStyle/>
          <a:p>
            <a:pPr>
              <a:spcAft>
                <a:spcPts val="800"/>
              </a:spcAft>
              <a:defRPr sz="1400" b="1">
                <a:solidFill>
                  <a:srgbClr val="0F172A"/>
                </a:solidFill>
              </a:defRPr>
            </a:pPr>
            <a:r>
              <a:t>📱  Routing &amp; Notification Objectives</a:t>
            </a:r>
          </a:p>
          <a:p>
            <a:pPr>
              <a:spcAft>
                <a:spcPts val="600"/>
              </a:spcAft>
              <a:defRPr sz="1150">
                <a:solidFill>
                  <a:srgbClr val="1E293B"/>
                </a:solidFill>
              </a:defRPr>
            </a:pPr>
            <a:r>
              <a:t>•  Generate alternative routes using road-network information and routing algorithms.</a:t>
            </a:r>
          </a:p>
          <a:p>
            <a:pPr>
              <a:spcAft>
                <a:spcPts val="600"/>
              </a:spcAft>
              <a:defRPr sz="1150">
                <a:solidFill>
                  <a:srgbClr val="1E293B"/>
                </a:solidFill>
              </a:defRPr>
            </a:pPr>
            <a:r>
              <a:t>•  Send early accident notifications through a cross-platform mobile application.</a:t>
            </a:r>
          </a:p>
          <a:p>
            <a:pPr>
              <a:spcAft>
                <a:spcPts val="600"/>
              </a:spcAft>
              <a:defRPr sz="1150">
                <a:solidFill>
                  <a:srgbClr val="1E293B"/>
                </a:solidFill>
              </a:defRPr>
            </a:pPr>
            <a:r>
              <a:t>•  Develop an interactive admin dashboard for traffic authorities to monitor incidents and alerts.</a:t>
            </a:r>
          </a:p>
          <a:p>
            <a:pPr>
              <a:spcAft>
                <a:spcPts val="600"/>
              </a:spcAft>
              <a:defRPr sz="1150">
                <a:solidFill>
                  <a:srgbClr val="1E293B"/>
                </a:solidFill>
              </a:defRPr>
            </a:pPr>
            <a:r>
              <a:t>•  Evaluate system efficiency in reducing travel delays and congestion.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7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5. Literature Review</a:t>
            </a:r>
          </a:p>
          <a:p>
            <a:pPr>
              <a:defRPr sz="1150">
                <a:solidFill>
                  <a:srgbClr val="64748B"/>
                </a:solidFill>
              </a:defRPr>
            </a:pPr>
            <a:r>
              <a:t>Analysis of recent research papers and identified research gap</a:t>
            </a:r>
          </a:p>
        </p:txBody>
      </p:sp>
      <p:graphicFrame>
        <p:nvGraphicFramePr>
          <p:cNvPr id="7" name="Table 6"/>
          <p:cNvGraphicFramePr>
            <a:graphicFrameLocks noGrp="1"/>
          </p:cNvGraphicFramePr>
          <p:nvPr/>
        </p:nvGraphicFramePr>
        <p:xfrm>
          <a:off x="731520" y="1463040"/>
          <a:ext cx="10728655" cy="3474720"/>
        </p:xfrm>
        <a:graphic>
          <a:graphicData uri="http://schemas.openxmlformats.org/drawingml/2006/table">
            <a:tbl>
              <a:tblPr firstRow="1" bandRow="1">
                <a:tableStyleId>{5C22544A-7EE6-4342-B048-85BDC9FD1C3A}</a:tableStyleId>
              </a:tblPr>
              <a:tblGrid>
                <a:gridCol w="3474720"/>
                <a:gridCol w="3657600"/>
                <a:gridCol w="3596335"/>
              </a:tblGrid>
              <a:tr h="868680">
                <a:tc>
                  <a:txBody>
                    <a:bodyPr/>
                    <a:lstStyle/>
                    <a:p>
                      <a:pPr>
                        <a:defRPr sz="1100" b="1">
                          <a:solidFill>
                            <a:srgbClr val="0F172A"/>
                          </a:solidFill>
                        </a:defRPr>
                      </a:pPr>
                      <a:r>
                        <a:t>Research Paper</a:t>
                      </a:r>
                    </a:p>
                  </a:txBody>
                  <a:tcPr>
                    <a:solidFill>
                      <a:srgbClr val="EFF6FF"/>
                    </a:solidFill>
                  </a:tcPr>
                </a:tc>
                <a:tc>
                  <a:txBody>
                    <a:bodyPr/>
                    <a:lstStyle/>
                    <a:p>
                      <a:pPr>
                        <a:defRPr sz="1100" b="1">
                          <a:solidFill>
                            <a:srgbClr val="0F172A"/>
                          </a:solidFill>
                        </a:defRPr>
                      </a:pPr>
                      <a:r>
                        <a:t>Methodology</a:t>
                      </a:r>
                    </a:p>
                  </a:txBody>
                  <a:tcPr>
                    <a:solidFill>
                      <a:srgbClr val="EFF6FF"/>
                    </a:solidFill>
                  </a:tcPr>
                </a:tc>
                <a:tc>
                  <a:txBody>
                    <a:bodyPr/>
                    <a:lstStyle/>
                    <a:p>
                      <a:pPr>
                        <a:defRPr sz="1100" b="1">
                          <a:solidFill>
                            <a:srgbClr val="0F172A"/>
                          </a:solidFill>
                        </a:defRPr>
                      </a:pPr>
                      <a:r>
                        <a:t>Research Gap Relevant to Our Project</a:t>
                      </a:r>
                    </a:p>
                  </a:txBody>
                  <a:tcPr>
                    <a:solidFill>
                      <a:srgbClr val="EFF6FF"/>
                    </a:solidFill>
                  </a:tcPr>
                </a:tc>
              </a:tr>
              <a:tr h="868680">
                <a:tc>
                  <a:txBody>
                    <a:bodyPr/>
                    <a:lstStyle/>
                    <a:p>
                      <a:pPr>
                        <a:defRPr sz="1000">
                          <a:solidFill>
                            <a:srgbClr val="1E293B"/>
                          </a:solidFill>
                        </a:defRPr>
                      </a:pPr>
                      <a:r>
                        <a:t>Real-Time Event-Driven Road Traffic Monitoring System Using CCTV Video Analytics</a:t>
                      </a:r>
                      <a:br/>
                      <a:r>
                        <a:t>(IEEE Access, 2023)</a:t>
                      </a:r>
                    </a:p>
                  </a:txBody>
                  <a:tcPr>
                    <a:solidFill>
                      <a:srgbClr val="FFFFFF"/>
                    </a:solidFill>
                  </a:tcPr>
                </a:tc>
                <a:tc>
                  <a:txBody>
                    <a:bodyPr/>
                    <a:lstStyle/>
                    <a:p>
                      <a:pPr>
                        <a:defRPr sz="1000">
                          <a:solidFill>
                            <a:srgbClr val="1E293B"/>
                          </a:solidFill>
                        </a:defRPr>
                      </a:pPr>
                      <a:r>
                        <a:t>Uses deep learning and CCTV video analytics for traffic-event detection and density estimation.</a:t>
                      </a:r>
                    </a:p>
                  </a:txBody>
                  <a:tcPr>
                    <a:solidFill>
                      <a:srgbClr val="FFFFFF"/>
                    </a:solidFill>
                  </a:tcPr>
                </a:tc>
                <a:tc>
                  <a:txBody>
                    <a:bodyPr/>
                    <a:lstStyle/>
                    <a:p>
                      <a:pPr>
                        <a:defRPr sz="1000">
                          <a:solidFill>
                            <a:srgbClr val="1E293B"/>
                          </a:solidFill>
                        </a:defRPr>
                      </a:pPr>
                      <a:r>
                        <a:t>Does not focus on automatic traffic diversion or driver route recommendations.</a:t>
                      </a:r>
                    </a:p>
                  </a:txBody>
                  <a:tcPr>
                    <a:solidFill>
                      <a:srgbClr val="FFFFFF"/>
                    </a:solidFill>
                  </a:tcPr>
                </a:tc>
              </a:tr>
              <a:tr h="868680">
                <a:tc>
                  <a:txBody>
                    <a:bodyPr/>
                    <a:lstStyle/>
                    <a:p>
                      <a:pPr>
                        <a:defRPr sz="1000">
                          <a:solidFill>
                            <a:srgbClr val="1E293B"/>
                          </a:solidFill>
                        </a:defRPr>
                      </a:pPr>
                      <a:r>
                        <a:t>Passable: An Intelligent Traffic Light System with Integrated Incident Detection and Vehicle Alerting</a:t>
                      </a:r>
                      <a:br/>
                      <a:r>
                        <a:t>(MDPI Sensors, 2025)</a:t>
                      </a:r>
                    </a:p>
                  </a:txBody>
                  <a:tcPr>
                    <a:solidFill>
                      <a:srgbClr val="FFFFFF"/>
                    </a:solidFill>
                  </a:tcPr>
                </a:tc>
                <a:tc>
                  <a:txBody>
                    <a:bodyPr/>
                    <a:lstStyle/>
                    <a:p>
                      <a:pPr>
                        <a:defRPr sz="1000">
                          <a:solidFill>
                            <a:srgbClr val="1E293B"/>
                          </a:solidFill>
                        </a:defRPr>
                      </a:pPr>
                      <a:r>
                        <a:t>Integrates accident detection, congestion monitoring, adaptive traffic signals, and driver alerts.</a:t>
                      </a:r>
                    </a:p>
                  </a:txBody>
                  <a:tcPr>
                    <a:solidFill>
                      <a:srgbClr val="FFFFFF"/>
                    </a:solidFill>
                  </a:tcPr>
                </a:tc>
                <a:tc>
                  <a:txBody>
                    <a:bodyPr/>
                    <a:lstStyle/>
                    <a:p>
                      <a:pPr>
                        <a:defRPr sz="1000">
                          <a:solidFill>
                            <a:srgbClr val="1E293B"/>
                          </a:solidFill>
                        </a:defRPr>
                      </a:pPr>
                      <a:r>
                        <a:t>Does not primarily provide accident-triggered alternative-route calculation to bypass blocked roads.</a:t>
                      </a:r>
                    </a:p>
                  </a:txBody>
                  <a:tcPr>
                    <a:solidFill>
                      <a:srgbClr val="FFFFFF"/>
                    </a:solidFill>
                  </a:tcPr>
                </a:tc>
              </a:tr>
              <a:tr h="868680">
                <a:tc>
                  <a:txBody>
                    <a:bodyPr/>
                    <a:lstStyle/>
                    <a:p>
                      <a:pPr>
                        <a:defRPr sz="1000">
                          <a:solidFill>
                            <a:srgbClr val="1E293B"/>
                          </a:solidFill>
                        </a:defRPr>
                      </a:pPr>
                      <a:r>
                        <a:t>Deep Learning System for Vehicular Re-Routing and Congestion Avoidance</a:t>
                      </a:r>
                      <a:br/>
                      <a:r>
                        <a:t>(MDPI Applied Sciences, 2019)</a:t>
                      </a:r>
                    </a:p>
                  </a:txBody>
                  <a:tcPr>
                    <a:solidFill>
                      <a:srgbClr val="FFFFFF"/>
                    </a:solidFill>
                  </a:tcPr>
                </a:tc>
                <a:tc>
                  <a:txBody>
                    <a:bodyPr/>
                    <a:lstStyle/>
                    <a:p>
                      <a:pPr>
                        <a:defRPr sz="1000">
                          <a:solidFill>
                            <a:srgbClr val="1E293B"/>
                          </a:solidFill>
                        </a:defRPr>
                      </a:pPr>
                      <a:r>
                        <a:t>Uses deep learning for congestion prediction and alternative-route generation.</a:t>
                      </a:r>
                    </a:p>
                  </a:txBody>
                  <a:tcPr>
                    <a:solidFill>
                      <a:srgbClr val="FFFFFF"/>
                    </a:solidFill>
                  </a:tcPr>
                </a:tc>
                <a:tc>
                  <a:txBody>
                    <a:bodyPr/>
                    <a:lstStyle/>
                    <a:p>
                      <a:pPr>
                        <a:defRPr sz="1000">
                          <a:solidFill>
                            <a:srgbClr val="1E293B"/>
                          </a:solidFill>
                        </a:defRPr>
                      </a:pPr>
                      <a:r>
                        <a:t>Does not integrate CCTV-based accident detection as its main operational feature.</a:t>
                      </a:r>
                    </a:p>
                  </a:txBody>
                  <a:tcPr>
                    <a:solidFill>
                      <a:srgbClr val="FFFFFF"/>
                    </a:solidFill>
                  </a:tcPr>
                </a:tc>
              </a:tr>
            </a:tbl>
          </a:graphicData>
        </a:graphic>
      </p:graphicFrame>
      <p:sp>
        <p:nvSpPr>
          <p:cNvPr id="8" name="Rounded Rectangle 7"/>
          <p:cNvSpPr/>
          <p:nvPr/>
        </p:nvSpPr>
        <p:spPr>
          <a:xfrm>
            <a:off x="731520" y="5120640"/>
            <a:ext cx="10728655" cy="10972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303520"/>
            <a:ext cx="10271455" cy="731520"/>
          </a:xfrm>
          <a:prstGeom prst="rect">
            <a:avLst/>
          </a:prstGeom>
          <a:noFill/>
        </p:spPr>
        <p:txBody>
          <a:bodyPr wrap="square">
            <a:spAutoFit/>
          </a:bodyPr>
          <a:lstStyle/>
          <a:p>
            <a:pPr>
              <a:spcAft>
                <a:spcPts val="800"/>
              </a:spcAft>
              <a:defRPr sz="1400" b="1">
                <a:solidFill>
                  <a:srgbClr val="0F172A"/>
                </a:solidFill>
              </a:defRPr>
            </a:pPr>
            <a:r>
              <a:t>⭐  Identified Research Gap</a:t>
            </a:r>
          </a:p>
          <a:p>
            <a:pPr>
              <a:spcAft>
                <a:spcPts val="600"/>
              </a:spcAft>
              <a:defRPr sz="1150">
                <a:solidFill>
                  <a:srgbClr val="1E293B"/>
                </a:solidFill>
              </a:defRPr>
            </a:pPr>
            <a:r>
              <a:t>•  Research Gap: Existing literature addresses either CCTV accident detection OR vehicular re-routing as separate systems. CLEARPATH AI bridges this gap by integrating CCTV accident detection, nearby-camera incident inference, and automatic traffic diversion with real-time driver mobile alerts.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8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6. Existing System</a:t>
            </a:r>
          </a:p>
          <a:p>
            <a:pPr>
              <a:defRPr sz="1150">
                <a:solidFill>
                  <a:srgbClr val="64748B"/>
                </a:solidFill>
              </a:defRPr>
            </a:pPr>
            <a:r>
              <a:t>Current traffic management approaches and monitoring tools</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Monitoring &amp; Surveillance Tools</a:t>
            </a:r>
          </a:p>
          <a:p>
            <a:pPr>
              <a:spcAft>
                <a:spcPts val="600"/>
              </a:spcAft>
              <a:defRPr sz="1150">
                <a:solidFill>
                  <a:srgbClr val="1E293B"/>
                </a:solidFill>
              </a:defRPr>
            </a:pPr>
            <a:r>
              <a:t>•  CCTV Infrastructure: Traffic control rooms monitor vehicle movement using stationary surveillance cameras.</a:t>
            </a:r>
          </a:p>
          <a:p>
            <a:pPr>
              <a:spcAft>
                <a:spcPts val="600"/>
              </a:spcAft>
              <a:defRPr sz="1150">
                <a:solidFill>
                  <a:srgbClr val="1E293B"/>
                </a:solidFill>
              </a:defRPr>
            </a:pPr>
            <a:r>
              <a:t>•  Computer Vision for Counting: Standard deep learning models perform vehicle counting, speed estimation, and lane tracking.</a:t>
            </a:r>
          </a:p>
          <a:p>
            <a:pPr>
              <a:spcAft>
                <a:spcPts val="600"/>
              </a:spcAft>
              <a:defRPr sz="1150">
                <a:solidFill>
                  <a:srgbClr val="1E293B"/>
                </a:solidFill>
              </a:defRPr>
            </a:pPr>
            <a:r>
              <a:t>•  Incident Logging: When an accident is manually observed by operators, an incident log is created in the traffic center.</a:t>
            </a:r>
          </a:p>
        </p:txBody>
      </p:sp>
      <p:sp>
        <p:nvSpPr>
          <p:cNvPr id="9" name="Rounded Rectangle 8"/>
          <p:cNvSpPr/>
          <p:nvPr/>
        </p:nvSpPr>
        <p:spPr>
          <a:xfrm>
            <a:off x="6217920" y="1463040"/>
            <a:ext cx="5242255"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Signal Control &amp; Notification</a:t>
            </a:r>
          </a:p>
          <a:p>
            <a:pPr>
              <a:spcAft>
                <a:spcPts val="600"/>
              </a:spcAft>
              <a:defRPr sz="1150">
                <a:solidFill>
                  <a:srgbClr val="1E293B"/>
                </a:solidFill>
              </a:defRPr>
            </a:pPr>
            <a:r>
              <a:t>•  Adaptive Traffic Signals: Some smart traffic systems adjust green-light timing at junctions based on congestion levels.</a:t>
            </a:r>
          </a:p>
          <a:p>
            <a:pPr>
              <a:spcAft>
                <a:spcPts val="600"/>
              </a:spcAft>
              <a:defRPr sz="1150">
                <a:solidFill>
                  <a:srgbClr val="1E293B"/>
                </a:solidFill>
              </a:defRPr>
            </a:pPr>
            <a:r>
              <a:t>•  Passive Notifications: Variable Message Signs (VMS boards) or radio announcements provide general traffic updates.</a:t>
            </a:r>
          </a:p>
          <a:p>
            <a:pPr>
              <a:spcAft>
                <a:spcPts val="600"/>
              </a:spcAft>
              <a:defRPr sz="1150">
                <a:solidFill>
                  <a:srgbClr val="1E293B"/>
                </a:solidFill>
              </a:defRPr>
            </a:pPr>
            <a:r>
              <a:t>•  Fragmented Solutions: Accident detection, density calculation, and GPS navigation apps function as completely separate, disconnected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9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7. Limitations of the Existing System</a:t>
            </a:r>
          </a:p>
          <a:p>
            <a:pPr>
              <a:defRPr sz="1150">
                <a:solidFill>
                  <a:srgbClr val="64748B"/>
                </a:solidFill>
              </a:defRPr>
            </a:pPr>
            <a:r>
              <a:t>Critical bottlenecks and operational weaknesses</a:t>
            </a:r>
          </a:p>
        </p:txBody>
      </p:sp>
      <p:sp>
        <p:nvSpPr>
          <p:cNvPr id="7" name="Rounded Rectangle 6"/>
          <p:cNvSpPr/>
          <p:nvPr/>
        </p:nvSpPr>
        <p:spPr>
          <a:xfrm>
            <a:off x="731520" y="1463040"/>
            <a:ext cx="5120640"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Direct Coverage Dependency</a:t>
            </a:r>
          </a:p>
          <a:p>
            <a:pPr>
              <a:spcAft>
                <a:spcPts val="600"/>
              </a:spcAft>
              <a:defRPr sz="1150">
                <a:solidFill>
                  <a:srgbClr val="1E293B"/>
                </a:solidFill>
              </a:defRPr>
            </a:pPr>
            <a:r>
              <a:t>•  Accident detection strictly depends on having direct CCTV camera coverage.</a:t>
            </a:r>
          </a:p>
          <a:p>
            <a:pPr>
              <a:spcAft>
                <a:spcPts val="600"/>
              </a:spcAft>
              <a:defRPr sz="1150">
                <a:solidFill>
                  <a:srgbClr val="1E293B"/>
                </a:solidFill>
              </a:defRPr>
            </a:pPr>
            <a:r>
              <a:t>•  If a crash happens 200 meters away from a camera, the system is completely blind.</a:t>
            </a:r>
          </a:p>
        </p:txBody>
      </p:sp>
      <p:sp>
        <p:nvSpPr>
          <p:cNvPr id="9" name="Rounded Rectangle 8"/>
          <p:cNvSpPr/>
          <p:nvPr/>
        </p:nvSpPr>
        <p:spPr>
          <a:xfrm>
            <a:off x="6217920" y="146304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Blind-Spot Blindness</a:t>
            </a:r>
          </a:p>
          <a:p>
            <a:pPr>
              <a:spcAft>
                <a:spcPts val="600"/>
              </a:spcAft>
              <a:defRPr sz="1150">
                <a:solidFill>
                  <a:srgbClr val="1E293B"/>
                </a:solidFill>
              </a:defRPr>
            </a:pPr>
            <a:r>
              <a:t>•  Existing systems cannot identify incidents by observing sudden stoppages on adjacent cameras.</a:t>
            </a:r>
          </a:p>
          <a:p>
            <a:pPr>
              <a:spcAft>
                <a:spcPts val="600"/>
              </a:spcAft>
              <a:defRPr sz="1150">
                <a:solidFill>
                  <a:srgbClr val="1E293B"/>
                </a:solidFill>
              </a:defRPr>
            </a:pPr>
            <a:r>
              <a:t>•  Blind-spot accidents go unnoticed until long traffic queues form.</a:t>
            </a:r>
          </a:p>
        </p:txBody>
      </p:sp>
      <p:sp>
        <p:nvSpPr>
          <p:cNvPr id="11" name="Rounded Rectangle 10"/>
          <p:cNvSpPr/>
          <p:nvPr/>
        </p:nvSpPr>
        <p:spPr>
          <a:xfrm>
            <a:off x="731520" y="3931920"/>
            <a:ext cx="5120640"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Delayed Driver Notifications</a:t>
            </a:r>
          </a:p>
          <a:p>
            <a:pPr>
              <a:spcAft>
                <a:spcPts val="600"/>
              </a:spcAft>
              <a:defRPr sz="1150">
                <a:solidFill>
                  <a:srgbClr val="1E293B"/>
                </a:solidFill>
              </a:defRPr>
            </a:pPr>
            <a:r>
              <a:t>•  Alerts reach drivers too late—typically after they have already joined the stationary traffic jam.</a:t>
            </a:r>
          </a:p>
          <a:p>
            <a:pPr>
              <a:spcAft>
                <a:spcPts val="600"/>
              </a:spcAft>
              <a:defRPr sz="1150">
                <a:solidFill>
                  <a:srgbClr val="1E293B"/>
                </a:solidFill>
              </a:defRPr>
            </a:pPr>
            <a:r>
              <a:t>•  Radio broadcasts and roadside boards are too generic for targeted commuter navigation.</a:t>
            </a:r>
          </a:p>
        </p:txBody>
      </p:sp>
      <p:sp>
        <p:nvSpPr>
          <p:cNvPr id="13" name="Rounded Rectangle 12"/>
          <p:cNvSpPr/>
          <p:nvPr/>
        </p:nvSpPr>
        <p:spPr>
          <a:xfrm>
            <a:off x="6217920" y="3931920"/>
            <a:ext cx="5242255" cy="233172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Lack of Integrated Re-Routing</a:t>
            </a:r>
          </a:p>
          <a:p>
            <a:pPr>
              <a:spcAft>
                <a:spcPts val="600"/>
              </a:spcAft>
              <a:defRPr sz="1150">
                <a:solidFill>
                  <a:srgbClr val="1E293B"/>
                </a:solidFill>
              </a:defRPr>
            </a:pPr>
            <a:r>
              <a:t>•  Alerts warn of an accident but do not calculate a suitable, unblocked alternative route.</a:t>
            </a:r>
          </a:p>
          <a:p>
            <a:pPr>
              <a:spcAft>
                <a:spcPts val="600"/>
              </a:spcAft>
              <a:defRPr sz="1150">
                <a:solidFill>
                  <a:srgbClr val="1E293B"/>
                </a:solidFill>
              </a:defRPr>
            </a:pPr>
            <a:r>
              <a:t>•  Adjacent road congestion is ignored during diversions, causing secondary gridlocks.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10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8. Proposed System: CLEARPATH AI</a:t>
            </a:r>
          </a:p>
          <a:p>
            <a:pPr>
              <a:defRPr sz="1150">
                <a:solidFill>
                  <a:srgbClr val="64748B"/>
                </a:solidFill>
              </a:defRPr>
            </a:pPr>
            <a:r>
              <a:t>Key capabilities and proposed innovations</a:t>
            </a:r>
          </a:p>
        </p:txBody>
      </p:sp>
      <p:sp>
        <p:nvSpPr>
          <p:cNvPr id="7" name="Rounded Rectangle 6"/>
          <p:cNvSpPr/>
          <p:nvPr/>
        </p:nvSpPr>
        <p:spPr>
          <a:xfrm>
            <a:off x="731520" y="1463040"/>
            <a:ext cx="5120640" cy="475488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4389120"/>
          </a:xfrm>
          <a:prstGeom prst="rect">
            <a:avLst/>
          </a:prstGeom>
          <a:noFill/>
        </p:spPr>
        <p:txBody>
          <a:bodyPr wrap="square">
            <a:spAutoFit/>
          </a:bodyPr>
          <a:lstStyle/>
          <a:p>
            <a:pPr>
              <a:spcAft>
                <a:spcPts val="800"/>
              </a:spcAft>
              <a:defRPr sz="1400" b="1">
                <a:solidFill>
                  <a:srgbClr val="0F172A"/>
                </a:solidFill>
              </a:defRPr>
            </a:pPr>
            <a:r>
              <a:t>🤖  Computer Vision &amp; Incident Inference</a:t>
            </a:r>
          </a:p>
          <a:p>
            <a:pPr>
              <a:spcAft>
                <a:spcPts val="600"/>
              </a:spcAft>
              <a:defRPr sz="1150">
                <a:solidFill>
                  <a:srgbClr val="1E293B"/>
                </a:solidFill>
              </a:defRPr>
            </a:pPr>
            <a:r>
              <a:t>•  AI-Powered Vision: CLEARPATH AI processes CCTV feeds using OpenCV and YOLOv11 for vehicle and accident detection.</a:t>
            </a:r>
          </a:p>
          <a:p>
            <a:pPr>
              <a:spcAft>
                <a:spcPts val="600"/>
              </a:spcAft>
              <a:defRPr sz="1150">
                <a:solidFill>
                  <a:srgbClr val="1E293B"/>
                </a:solidFill>
              </a:defRPr>
            </a:pPr>
            <a:r>
              <a:t>•  Congestion Monitoring: Analyzes vehicle movement and flow rate to detect sudden, abnormal traffic density spikes.</a:t>
            </a:r>
          </a:p>
          <a:p>
            <a:pPr>
              <a:spcAft>
                <a:spcPts val="600"/>
              </a:spcAft>
              <a:defRPr sz="1150">
                <a:solidFill>
                  <a:srgbClr val="1E293B"/>
                </a:solidFill>
              </a:defRPr>
            </a:pPr>
            <a:r>
              <a:t>•  Nearby-Camera Inference: When an accident occurs away from direct camera views, neighboring camera data is analyzed to infer the incident.</a:t>
            </a:r>
          </a:p>
          <a:p>
            <a:pPr>
              <a:spcAft>
                <a:spcPts val="600"/>
              </a:spcAft>
              <a:defRPr sz="1150">
                <a:solidFill>
                  <a:srgbClr val="1E293B"/>
                </a:solidFill>
              </a:defRPr>
            </a:pPr>
            <a:r>
              <a:t>•  Accident Location Mapping: Automatically maps the detected crash to the specific street and road network segment.</a:t>
            </a:r>
          </a:p>
        </p:txBody>
      </p:sp>
      <p:sp>
        <p:nvSpPr>
          <p:cNvPr id="9" name="Rounded Rectangle 8"/>
          <p:cNvSpPr/>
          <p:nvPr/>
        </p:nvSpPr>
        <p:spPr>
          <a:xfrm>
            <a:off x="6217920" y="1463040"/>
            <a:ext cx="5242255" cy="475488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4389120"/>
          </a:xfrm>
          <a:prstGeom prst="rect">
            <a:avLst/>
          </a:prstGeom>
          <a:noFill/>
        </p:spPr>
        <p:txBody>
          <a:bodyPr wrap="square">
            <a:spAutoFit/>
          </a:bodyPr>
          <a:lstStyle/>
          <a:p>
            <a:pPr>
              <a:spcAft>
                <a:spcPts val="800"/>
              </a:spcAft>
              <a:defRPr sz="1400" b="1">
                <a:solidFill>
                  <a:srgbClr val="0F172A"/>
                </a:solidFill>
              </a:defRPr>
            </a:pPr>
            <a:r>
              <a:t>📱  Routing, Mobile Alerts &amp; Dashboard</a:t>
            </a:r>
          </a:p>
          <a:p>
            <a:pPr>
              <a:spcAft>
                <a:spcPts val="600"/>
              </a:spcAft>
              <a:defRPr sz="1150">
                <a:solidFill>
                  <a:srgbClr val="1E293B"/>
                </a:solidFill>
              </a:defRPr>
            </a:pPr>
            <a:r>
              <a:t>•  Dynamic Alternative Routing: Calculates the optimal alternative route around the accident using Dijkstra or A* algorithms.</a:t>
            </a:r>
          </a:p>
          <a:p>
            <a:pPr>
              <a:spcAft>
                <a:spcPts val="600"/>
              </a:spcAft>
              <a:defRPr sz="1150">
                <a:solidFill>
                  <a:srgbClr val="1E293B"/>
                </a:solidFill>
              </a:defRPr>
            </a:pPr>
            <a:r>
              <a:t>•  Mobile App Guidance: Pushes instant notifications and turn-by-turn diversion routes to approaching drivers via Flutter app.</a:t>
            </a:r>
          </a:p>
          <a:p>
            <a:pPr>
              <a:spcAft>
                <a:spcPts val="600"/>
              </a:spcAft>
              <a:defRPr sz="1150">
                <a:solidFill>
                  <a:srgbClr val="1E293B"/>
                </a:solidFill>
              </a:defRPr>
            </a:pPr>
            <a:r>
              <a:t>•  Admin Monitoring Dashboard: Provides traffic authorities with a centralized live map of incidents, traffic levels, and active diversions.</a:t>
            </a:r>
          </a:p>
          <a:p>
            <a:pPr>
              <a:spcAft>
                <a:spcPts val="600"/>
              </a:spcAft>
              <a:defRPr sz="1150">
                <a:solidFill>
                  <a:srgbClr val="1E293B"/>
                </a:solidFill>
              </a:defRPr>
            </a:pPr>
            <a:r>
              <a:t>•  Proactive Traffic Relief: Diverts traffic before congestion accumulates, reducing delay times and improving overall road safety.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11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9. Proposed Methodology &amp; System Architecture</a:t>
            </a:r>
          </a:p>
          <a:p>
            <a:pPr>
              <a:defRPr sz="1150">
                <a:solidFill>
                  <a:srgbClr val="64748B"/>
                </a:solidFill>
              </a:defRPr>
            </a:pPr>
            <a:r>
              <a:t>End-to-end pipeline from video feed to mobile re-routing</a:t>
            </a:r>
          </a:p>
        </p:txBody>
      </p:sp>
      <p:sp>
        <p:nvSpPr>
          <p:cNvPr id="7" name="Rounded Rectangle 6"/>
          <p:cNvSpPr/>
          <p:nvPr/>
        </p:nvSpPr>
        <p:spPr>
          <a:xfrm>
            <a:off x="731520" y="1463040"/>
            <a:ext cx="2542032" cy="228600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00200"/>
            <a:ext cx="2359152" cy="2011680"/>
          </a:xfrm>
          <a:prstGeom prst="rect">
            <a:avLst/>
          </a:prstGeom>
          <a:noFill/>
        </p:spPr>
        <p:txBody>
          <a:bodyPr wrap="square">
            <a:spAutoFit/>
          </a:bodyPr>
          <a:lstStyle/>
          <a:p>
            <a:pPr>
              <a:spcAft>
                <a:spcPts val="400"/>
              </a:spcAft>
              <a:defRPr sz="1100" b="1">
                <a:solidFill>
                  <a:srgbClr val="1A56DB"/>
                </a:solidFill>
              </a:defRPr>
            </a:pPr>
            <a:r>
              <a:t>STEP 01</a:t>
            </a:r>
          </a:p>
          <a:p>
            <a:pPr>
              <a:spcAft>
                <a:spcPts val="600"/>
              </a:spcAft>
              <a:defRPr sz="1300" b="1">
                <a:solidFill>
                  <a:srgbClr val="0F172A"/>
                </a:solidFill>
              </a:defRPr>
            </a:pPr>
            <a:r>
              <a:t>CCTV Video Ingestion</a:t>
            </a:r>
          </a:p>
          <a:p>
            <a:pPr>
              <a:defRPr sz="1050">
                <a:solidFill>
                  <a:srgbClr val="1E293B"/>
                </a:solidFill>
              </a:defRPr>
            </a:pPr>
            <a:r>
              <a:t>Capture live or recorded traffic video streams.</a:t>
            </a:r>
          </a:p>
        </p:txBody>
      </p:sp>
      <p:sp>
        <p:nvSpPr>
          <p:cNvPr id="9" name="Rounded Rectangle 8"/>
          <p:cNvSpPr/>
          <p:nvPr/>
        </p:nvSpPr>
        <p:spPr>
          <a:xfrm>
            <a:off x="3456432" y="1463040"/>
            <a:ext cx="2542032" cy="228600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7872" y="1600200"/>
            <a:ext cx="2359152" cy="2011680"/>
          </a:xfrm>
          <a:prstGeom prst="rect">
            <a:avLst/>
          </a:prstGeom>
          <a:noFill/>
        </p:spPr>
        <p:txBody>
          <a:bodyPr wrap="square">
            <a:spAutoFit/>
          </a:bodyPr>
          <a:lstStyle/>
          <a:p>
            <a:pPr>
              <a:spcAft>
                <a:spcPts val="400"/>
              </a:spcAft>
              <a:defRPr sz="1100" b="1">
                <a:solidFill>
                  <a:srgbClr val="1A56DB"/>
                </a:solidFill>
              </a:defRPr>
            </a:pPr>
            <a:r>
              <a:t>STEP 02</a:t>
            </a:r>
          </a:p>
          <a:p>
            <a:pPr>
              <a:spcAft>
                <a:spcPts val="600"/>
              </a:spcAft>
              <a:defRPr sz="1300" b="1">
                <a:solidFill>
                  <a:srgbClr val="0F172A"/>
                </a:solidFill>
              </a:defRPr>
            </a:pPr>
            <a:r>
              <a:t>OpenCV Video Processing</a:t>
            </a:r>
          </a:p>
          <a:p>
            <a:pPr>
              <a:defRPr sz="1050">
                <a:solidFill>
                  <a:srgbClr val="1E293B"/>
                </a:solidFill>
              </a:defRPr>
            </a:pPr>
            <a:r>
              <a:t>Extract and preprocess video frames for AI analysis.</a:t>
            </a:r>
          </a:p>
        </p:txBody>
      </p:sp>
      <p:sp>
        <p:nvSpPr>
          <p:cNvPr id="11" name="Rounded Rectangle 10"/>
          <p:cNvSpPr/>
          <p:nvPr/>
        </p:nvSpPr>
        <p:spPr>
          <a:xfrm>
            <a:off x="6181344" y="1463040"/>
            <a:ext cx="2542032" cy="228600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2784" y="1600200"/>
            <a:ext cx="2359152" cy="2011680"/>
          </a:xfrm>
          <a:prstGeom prst="rect">
            <a:avLst/>
          </a:prstGeom>
          <a:noFill/>
        </p:spPr>
        <p:txBody>
          <a:bodyPr wrap="square">
            <a:spAutoFit/>
          </a:bodyPr>
          <a:lstStyle/>
          <a:p>
            <a:pPr>
              <a:spcAft>
                <a:spcPts val="400"/>
              </a:spcAft>
              <a:defRPr sz="1100" b="1">
                <a:solidFill>
                  <a:srgbClr val="1A56DB"/>
                </a:solidFill>
              </a:defRPr>
            </a:pPr>
            <a:r>
              <a:t>STEP 03</a:t>
            </a:r>
          </a:p>
          <a:p>
            <a:pPr>
              <a:spcAft>
                <a:spcPts val="600"/>
              </a:spcAft>
              <a:defRPr sz="1300" b="1">
                <a:solidFill>
                  <a:srgbClr val="0F172A"/>
                </a:solidFill>
              </a:defRPr>
            </a:pPr>
            <a:r>
              <a:t>YOLOv11 Detection</a:t>
            </a:r>
          </a:p>
          <a:p>
            <a:pPr>
              <a:defRPr sz="1050">
                <a:solidFill>
                  <a:srgbClr val="1E293B"/>
                </a:solidFill>
              </a:defRPr>
            </a:pPr>
            <a:r>
              <a:t>Detect vehicles, collisions, and stopped traffic.</a:t>
            </a:r>
          </a:p>
        </p:txBody>
      </p:sp>
      <p:sp>
        <p:nvSpPr>
          <p:cNvPr id="13" name="Rounded Rectangle 12"/>
          <p:cNvSpPr/>
          <p:nvPr/>
        </p:nvSpPr>
        <p:spPr>
          <a:xfrm>
            <a:off x="8906256" y="1463040"/>
            <a:ext cx="2542032" cy="22860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97696" y="1600200"/>
            <a:ext cx="2359152" cy="2011680"/>
          </a:xfrm>
          <a:prstGeom prst="rect">
            <a:avLst/>
          </a:prstGeom>
          <a:noFill/>
        </p:spPr>
        <p:txBody>
          <a:bodyPr wrap="square">
            <a:spAutoFit/>
          </a:bodyPr>
          <a:lstStyle/>
          <a:p>
            <a:pPr>
              <a:spcAft>
                <a:spcPts val="400"/>
              </a:spcAft>
              <a:defRPr sz="1100" b="1">
                <a:solidFill>
                  <a:srgbClr val="1A56DB"/>
                </a:solidFill>
              </a:defRPr>
            </a:pPr>
            <a:r>
              <a:t>STEP 04</a:t>
            </a:r>
          </a:p>
          <a:p>
            <a:pPr>
              <a:spcAft>
                <a:spcPts val="600"/>
              </a:spcAft>
              <a:defRPr sz="1300" b="1">
                <a:solidFill>
                  <a:srgbClr val="0F172A"/>
                </a:solidFill>
              </a:defRPr>
            </a:pPr>
            <a:r>
              <a:t>Incident Confirmation</a:t>
            </a:r>
          </a:p>
          <a:p>
            <a:pPr>
              <a:defRPr sz="1050">
                <a:solidFill>
                  <a:srgbClr val="1E293B"/>
                </a:solidFill>
              </a:defRPr>
            </a:pPr>
            <a:r>
              <a:t>Confirm accident and map coordinates to road network.</a:t>
            </a:r>
          </a:p>
        </p:txBody>
      </p:sp>
      <p:sp>
        <p:nvSpPr>
          <p:cNvPr id="15" name="Rounded Rectangle 14"/>
          <p:cNvSpPr/>
          <p:nvPr/>
        </p:nvSpPr>
        <p:spPr>
          <a:xfrm>
            <a:off x="731520" y="3931920"/>
            <a:ext cx="2542032" cy="22860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69080"/>
            <a:ext cx="2359152" cy="2011680"/>
          </a:xfrm>
          <a:prstGeom prst="rect">
            <a:avLst/>
          </a:prstGeom>
          <a:noFill/>
        </p:spPr>
        <p:txBody>
          <a:bodyPr wrap="square">
            <a:spAutoFit/>
          </a:bodyPr>
          <a:lstStyle/>
          <a:p>
            <a:pPr>
              <a:spcAft>
                <a:spcPts val="400"/>
              </a:spcAft>
              <a:defRPr sz="1100" b="1">
                <a:solidFill>
                  <a:srgbClr val="10B981"/>
                </a:solidFill>
              </a:defRPr>
            </a:pPr>
            <a:r>
              <a:t>STEP 05</a:t>
            </a:r>
          </a:p>
          <a:p>
            <a:pPr>
              <a:spcAft>
                <a:spcPts val="600"/>
              </a:spcAft>
              <a:defRPr sz="1300" b="1">
                <a:solidFill>
                  <a:srgbClr val="0F172A"/>
                </a:solidFill>
              </a:defRPr>
            </a:pPr>
            <a:r>
              <a:t>Nearby-Camera Analysis</a:t>
            </a:r>
          </a:p>
          <a:p>
            <a:pPr>
              <a:defRPr sz="1050">
                <a:solidFill>
                  <a:srgbClr val="1E293B"/>
                </a:solidFill>
              </a:defRPr>
            </a:pPr>
            <a:r>
              <a:t>Assess adjacent camera flow for congestion inference.</a:t>
            </a:r>
          </a:p>
        </p:txBody>
      </p:sp>
      <p:sp>
        <p:nvSpPr>
          <p:cNvPr id="17" name="Rounded Rectangle 16"/>
          <p:cNvSpPr/>
          <p:nvPr/>
        </p:nvSpPr>
        <p:spPr>
          <a:xfrm>
            <a:off x="3456432" y="3931920"/>
            <a:ext cx="2542032" cy="22860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47872" y="4069080"/>
            <a:ext cx="2359152" cy="2011680"/>
          </a:xfrm>
          <a:prstGeom prst="rect">
            <a:avLst/>
          </a:prstGeom>
          <a:noFill/>
        </p:spPr>
        <p:txBody>
          <a:bodyPr wrap="square">
            <a:spAutoFit/>
          </a:bodyPr>
          <a:lstStyle/>
          <a:p>
            <a:pPr>
              <a:spcAft>
                <a:spcPts val="400"/>
              </a:spcAft>
              <a:defRPr sz="1100" b="1">
                <a:solidFill>
                  <a:srgbClr val="10B981"/>
                </a:solidFill>
              </a:defRPr>
            </a:pPr>
            <a:r>
              <a:t>STEP 06</a:t>
            </a:r>
          </a:p>
          <a:p>
            <a:pPr>
              <a:spcAft>
                <a:spcPts val="600"/>
              </a:spcAft>
              <a:defRPr sz="1300" b="1">
                <a:solidFill>
                  <a:srgbClr val="0F172A"/>
                </a:solidFill>
              </a:defRPr>
            </a:pPr>
            <a:r>
              <a:t>Dijkstra / A* Routing</a:t>
            </a:r>
          </a:p>
          <a:p>
            <a:pPr>
              <a:defRPr sz="1050">
                <a:solidFill>
                  <a:srgbClr val="1E293B"/>
                </a:solidFill>
              </a:defRPr>
            </a:pPr>
            <a:r>
              <a:t>Compute alternative diversion routes for approaching traffic.</a:t>
            </a:r>
          </a:p>
        </p:txBody>
      </p:sp>
      <p:sp>
        <p:nvSpPr>
          <p:cNvPr id="19" name="Rounded Rectangle 18"/>
          <p:cNvSpPr/>
          <p:nvPr/>
        </p:nvSpPr>
        <p:spPr>
          <a:xfrm>
            <a:off x="6181344" y="3931920"/>
            <a:ext cx="2542032" cy="228600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2784" y="4069080"/>
            <a:ext cx="2359152" cy="2011680"/>
          </a:xfrm>
          <a:prstGeom prst="rect">
            <a:avLst/>
          </a:prstGeom>
          <a:noFill/>
        </p:spPr>
        <p:txBody>
          <a:bodyPr wrap="square">
            <a:spAutoFit/>
          </a:bodyPr>
          <a:lstStyle/>
          <a:p>
            <a:pPr>
              <a:spcAft>
                <a:spcPts val="400"/>
              </a:spcAft>
              <a:defRPr sz="1100" b="1">
                <a:solidFill>
                  <a:srgbClr val="10B981"/>
                </a:solidFill>
              </a:defRPr>
            </a:pPr>
            <a:r>
              <a:t>STEP 07</a:t>
            </a:r>
          </a:p>
          <a:p>
            <a:pPr>
              <a:spcAft>
                <a:spcPts val="600"/>
              </a:spcAft>
              <a:defRPr sz="1300" b="1">
                <a:solidFill>
                  <a:srgbClr val="0F172A"/>
                </a:solidFill>
              </a:defRPr>
            </a:pPr>
            <a:r>
              <a:t>Driver Mobile Alerts</a:t>
            </a:r>
          </a:p>
          <a:p>
            <a:pPr>
              <a:defRPr sz="1050">
                <a:solidFill>
                  <a:srgbClr val="1E293B"/>
                </a:solidFill>
              </a:defRPr>
            </a:pPr>
            <a:r>
              <a:t>Push early notifications and maps via Flutter app.</a:t>
            </a:r>
          </a:p>
        </p:txBody>
      </p:sp>
      <p:sp>
        <p:nvSpPr>
          <p:cNvPr id="21" name="Rounded Rectangle 20"/>
          <p:cNvSpPr/>
          <p:nvPr/>
        </p:nvSpPr>
        <p:spPr>
          <a:xfrm>
            <a:off x="8906256" y="3931920"/>
            <a:ext cx="2542032" cy="228600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97696" y="4069080"/>
            <a:ext cx="2359152" cy="2011680"/>
          </a:xfrm>
          <a:prstGeom prst="rect">
            <a:avLst/>
          </a:prstGeom>
          <a:noFill/>
        </p:spPr>
        <p:txBody>
          <a:bodyPr wrap="square">
            <a:spAutoFit/>
          </a:bodyPr>
          <a:lstStyle/>
          <a:p>
            <a:pPr>
              <a:spcAft>
                <a:spcPts val="400"/>
              </a:spcAft>
              <a:defRPr sz="1100" b="1">
                <a:solidFill>
                  <a:srgbClr val="10B981"/>
                </a:solidFill>
              </a:defRPr>
            </a:pPr>
            <a:r>
              <a:t>STEP 08</a:t>
            </a:r>
          </a:p>
          <a:p>
            <a:pPr>
              <a:spcAft>
                <a:spcPts val="600"/>
              </a:spcAft>
              <a:defRPr sz="1300" b="1">
                <a:solidFill>
                  <a:srgbClr val="0F172A"/>
                </a:solidFill>
              </a:defRPr>
            </a:pPr>
            <a:r>
              <a:t>Admin Dashboard</a:t>
            </a:r>
          </a:p>
          <a:p>
            <a:pPr>
              <a:defRPr sz="1050">
                <a:solidFill>
                  <a:srgbClr val="1E293B"/>
                </a:solidFill>
              </a:defRPr>
            </a:pPr>
            <a:r>
              <a:t>Log incident in Firebase and display status on monitor.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12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10. Tools and Technologies Used</a:t>
            </a:r>
          </a:p>
          <a:p>
            <a:pPr>
              <a:defRPr sz="1150">
                <a:solidFill>
                  <a:srgbClr val="64748B"/>
                </a:solidFill>
              </a:defRPr>
            </a:pPr>
            <a:r>
              <a:t>Technology choices and their specific operational purpose</a:t>
            </a:r>
          </a:p>
        </p:txBody>
      </p:sp>
      <p:graphicFrame>
        <p:nvGraphicFramePr>
          <p:cNvPr id="7" name="Table 6"/>
          <p:cNvGraphicFramePr>
            <a:graphicFrameLocks noGrp="1"/>
          </p:cNvGraphicFramePr>
          <p:nvPr/>
        </p:nvGraphicFramePr>
        <p:xfrm>
          <a:off x="731520" y="1463040"/>
          <a:ext cx="10728655" cy="4663440"/>
        </p:xfrm>
        <a:graphic>
          <a:graphicData uri="http://schemas.openxmlformats.org/drawingml/2006/table">
            <a:tbl>
              <a:tblPr firstRow="1" bandRow="1">
                <a:tableStyleId>{5C22544A-7EE6-4342-B048-85BDC9FD1C3A}</a:tableStyleId>
              </a:tblPr>
              <a:tblGrid>
                <a:gridCol w="3200400"/>
                <a:gridCol w="7528255"/>
              </a:tblGrid>
              <a:tr h="466344">
                <a:tc>
                  <a:txBody>
                    <a:bodyPr/>
                    <a:lstStyle/>
                    <a:p>
                      <a:pPr>
                        <a:defRPr sz="1150" b="1">
                          <a:solidFill>
                            <a:srgbClr val="0F172A"/>
                          </a:solidFill>
                        </a:defRPr>
                      </a:pPr>
                      <a:r>
                        <a:t>Technology / Tool</a:t>
                      </a:r>
                    </a:p>
                  </a:txBody>
                  <a:tcPr>
                    <a:solidFill>
                      <a:srgbClr val="EFF6FF"/>
                    </a:solidFill>
                  </a:tcPr>
                </a:tc>
                <a:tc>
                  <a:txBody>
                    <a:bodyPr/>
                    <a:lstStyle/>
                    <a:p>
                      <a:pPr>
                        <a:defRPr sz="1150" b="1">
                          <a:solidFill>
                            <a:srgbClr val="0F172A"/>
                          </a:solidFill>
                        </a:defRPr>
                      </a:pPr>
                      <a:r>
                        <a:t>Purpose &amp; Operational Role in CLEARPATH AI</a:t>
                      </a:r>
                    </a:p>
                  </a:txBody>
                  <a:tcPr>
                    <a:solidFill>
                      <a:srgbClr val="EFF6FF"/>
                    </a:solidFill>
                  </a:tcPr>
                </a:tc>
              </a:tr>
              <a:tr h="466344">
                <a:tc>
                  <a:txBody>
                    <a:bodyPr/>
                    <a:lstStyle/>
                    <a:p>
                      <a:pPr>
                        <a:defRPr sz="1100" b="1">
                          <a:solidFill>
                            <a:srgbClr val="1A56DB"/>
                          </a:solidFill>
                        </a:defRPr>
                      </a:pPr>
                      <a:r>
                        <a:t>Python</a:t>
                      </a:r>
                    </a:p>
                  </a:txBody>
                  <a:tcPr>
                    <a:solidFill>
                      <a:srgbClr val="FFFFFF"/>
                    </a:solidFill>
                  </a:tcPr>
                </a:tc>
                <a:tc>
                  <a:txBody>
                    <a:bodyPr/>
                    <a:lstStyle/>
                    <a:p>
                      <a:pPr>
                        <a:defRPr sz="1050">
                          <a:solidFill>
                            <a:srgbClr val="1E293B"/>
                          </a:solidFill>
                        </a:defRPr>
                      </a:pPr>
                      <a:r>
                        <a:t>Core programming language for AI model training, logic, and backend processing.</a:t>
                      </a:r>
                    </a:p>
                  </a:txBody>
                  <a:tcPr>
                    <a:solidFill>
                      <a:srgbClr val="FFFFFF"/>
                    </a:solidFill>
                  </a:tcPr>
                </a:tc>
              </a:tr>
              <a:tr h="466344">
                <a:tc>
                  <a:txBody>
                    <a:bodyPr/>
                    <a:lstStyle/>
                    <a:p>
                      <a:pPr>
                        <a:defRPr sz="1100" b="1">
                          <a:solidFill>
                            <a:srgbClr val="1A56DB"/>
                          </a:solidFill>
                        </a:defRPr>
                      </a:pPr>
                      <a:r>
                        <a:t>OpenCV</a:t>
                      </a:r>
                    </a:p>
                  </a:txBody>
                  <a:tcPr>
                    <a:solidFill>
                      <a:srgbClr val="FFFFFF"/>
                    </a:solidFill>
                  </a:tcPr>
                </a:tc>
                <a:tc>
                  <a:txBody>
                    <a:bodyPr/>
                    <a:lstStyle/>
                    <a:p>
                      <a:pPr>
                        <a:defRPr sz="1050">
                          <a:solidFill>
                            <a:srgbClr val="1E293B"/>
                          </a:solidFill>
                        </a:defRPr>
                      </a:pPr>
                      <a:r>
                        <a:t>CCTV video stream decoding, frame extraction, and visual preprocessing.</a:t>
                      </a:r>
                    </a:p>
                  </a:txBody>
                  <a:tcPr>
                    <a:solidFill>
                      <a:srgbClr val="FFFFFF"/>
                    </a:solidFill>
                  </a:tcPr>
                </a:tc>
              </a:tr>
              <a:tr h="466344">
                <a:tc>
                  <a:txBody>
                    <a:bodyPr/>
                    <a:lstStyle/>
                    <a:p>
                      <a:pPr>
                        <a:defRPr sz="1100" b="1">
                          <a:solidFill>
                            <a:srgbClr val="1A56DB"/>
                          </a:solidFill>
                        </a:defRPr>
                      </a:pPr>
                      <a:r>
                        <a:t>YOLOv11</a:t>
                      </a:r>
                    </a:p>
                  </a:txBody>
                  <a:tcPr>
                    <a:solidFill>
                      <a:srgbClr val="FFFFFF"/>
                    </a:solidFill>
                  </a:tcPr>
                </a:tc>
                <a:tc>
                  <a:txBody>
                    <a:bodyPr/>
                    <a:lstStyle/>
                    <a:p>
                      <a:pPr>
                        <a:defRPr sz="1050">
                          <a:solidFill>
                            <a:srgbClr val="1E293B"/>
                          </a:solidFill>
                        </a:defRPr>
                      </a:pPr>
                      <a:r>
                        <a:t>State-of-the-art object detection model for vehicle tracking and accident classification.</a:t>
                      </a:r>
                    </a:p>
                  </a:txBody>
                  <a:tcPr>
                    <a:solidFill>
                      <a:srgbClr val="FFFFFF"/>
                    </a:solidFill>
                  </a:tcPr>
                </a:tc>
              </a:tr>
              <a:tr h="466344">
                <a:tc>
                  <a:txBody>
                    <a:bodyPr/>
                    <a:lstStyle/>
                    <a:p>
                      <a:pPr>
                        <a:defRPr sz="1100" b="1">
                          <a:solidFill>
                            <a:srgbClr val="1A56DB"/>
                          </a:solidFill>
                        </a:defRPr>
                      </a:pPr>
                      <a:r>
                        <a:t>FastAPI</a:t>
                      </a:r>
                    </a:p>
                  </a:txBody>
                  <a:tcPr>
                    <a:solidFill>
                      <a:srgbClr val="FFFFFF"/>
                    </a:solidFill>
                  </a:tcPr>
                </a:tc>
                <a:tc>
                  <a:txBody>
                    <a:bodyPr/>
                    <a:lstStyle/>
                    <a:p>
                      <a:pPr>
                        <a:defRPr sz="1050">
                          <a:solidFill>
                            <a:srgbClr val="1E293B"/>
                          </a:solidFill>
                        </a:defRPr>
                      </a:pPr>
                      <a:r>
                        <a:t>High-performance asynchronous backend framework for microservices and API endpoints.</a:t>
                      </a:r>
                    </a:p>
                  </a:txBody>
                  <a:tcPr>
                    <a:solidFill>
                      <a:srgbClr val="FFFFFF"/>
                    </a:solidFill>
                  </a:tcPr>
                </a:tc>
              </a:tr>
              <a:tr h="466344">
                <a:tc>
                  <a:txBody>
                    <a:bodyPr/>
                    <a:lstStyle/>
                    <a:p>
                      <a:pPr>
                        <a:defRPr sz="1100" b="1">
                          <a:solidFill>
                            <a:srgbClr val="1A56DB"/>
                          </a:solidFill>
                        </a:defRPr>
                      </a:pPr>
                      <a:r>
                        <a:t>Flutter</a:t>
                      </a:r>
                    </a:p>
                  </a:txBody>
                  <a:tcPr>
                    <a:solidFill>
                      <a:srgbClr val="FFFFFF"/>
                    </a:solidFill>
                  </a:tcPr>
                </a:tc>
                <a:tc>
                  <a:txBody>
                    <a:bodyPr/>
                    <a:lstStyle/>
                    <a:p>
                      <a:pPr>
                        <a:defRPr sz="1050">
                          <a:solidFill>
                            <a:srgbClr val="1E293B"/>
                          </a:solidFill>
                        </a:defRPr>
                      </a:pPr>
                      <a:r>
                        <a:t>Cross-platform mobile application development for driver navigation and alert screens.</a:t>
                      </a:r>
                    </a:p>
                  </a:txBody>
                  <a:tcPr>
                    <a:solidFill>
                      <a:srgbClr val="FFFFFF"/>
                    </a:solidFill>
                  </a:tcPr>
                </a:tc>
              </a:tr>
              <a:tr h="466344">
                <a:tc>
                  <a:txBody>
                    <a:bodyPr/>
                    <a:lstStyle/>
                    <a:p>
                      <a:pPr>
                        <a:defRPr sz="1100" b="1">
                          <a:solidFill>
                            <a:srgbClr val="1A56DB"/>
                          </a:solidFill>
                        </a:defRPr>
                      </a:pPr>
                      <a:r>
                        <a:t>Firebase</a:t>
                      </a:r>
                    </a:p>
                  </a:txBody>
                  <a:tcPr>
                    <a:solidFill>
                      <a:srgbClr val="FFFFFF"/>
                    </a:solidFill>
                  </a:tcPr>
                </a:tc>
                <a:tc>
                  <a:txBody>
                    <a:bodyPr/>
                    <a:lstStyle/>
                    <a:p>
                      <a:pPr>
                        <a:defRPr sz="1050">
                          <a:solidFill>
                            <a:srgbClr val="1E293B"/>
                          </a:solidFill>
                        </a:defRPr>
                      </a:pPr>
                      <a:r>
                        <a:t>Real-time NoSQL database to store active accident locations and road congestion data.</a:t>
                      </a:r>
                    </a:p>
                  </a:txBody>
                  <a:tcPr>
                    <a:solidFill>
                      <a:srgbClr val="FFFFFF"/>
                    </a:solidFill>
                  </a:tcPr>
                </a:tc>
              </a:tr>
              <a:tr h="466344">
                <a:tc>
                  <a:txBody>
                    <a:bodyPr/>
                    <a:lstStyle/>
                    <a:p>
                      <a:pPr>
                        <a:defRPr sz="1100" b="1">
                          <a:solidFill>
                            <a:srgbClr val="1A56DB"/>
                          </a:solidFill>
                        </a:defRPr>
                      </a:pPr>
                      <a:r>
                        <a:t>Google Maps API</a:t>
                      </a:r>
                    </a:p>
                  </a:txBody>
                  <a:tcPr>
                    <a:solidFill>
                      <a:srgbClr val="FFFFFF"/>
                    </a:solidFill>
                  </a:tcPr>
                </a:tc>
                <a:tc>
                  <a:txBody>
                    <a:bodyPr/>
                    <a:lstStyle/>
                    <a:p>
                      <a:pPr>
                        <a:defRPr sz="1050">
                          <a:solidFill>
                            <a:srgbClr val="1E293B"/>
                          </a:solidFill>
                        </a:defRPr>
                      </a:pPr>
                      <a:r>
                        <a:t>Road network mapping, geocoding, and interactive turn-by-turn navigation overlay.</a:t>
                      </a:r>
                    </a:p>
                  </a:txBody>
                  <a:tcPr>
                    <a:solidFill>
                      <a:srgbClr val="FFFFFF"/>
                    </a:solidFill>
                  </a:tcPr>
                </a:tc>
              </a:tr>
              <a:tr h="466344">
                <a:tc>
                  <a:txBody>
                    <a:bodyPr/>
                    <a:lstStyle/>
                    <a:p>
                      <a:pPr>
                        <a:defRPr sz="1100" b="1">
                          <a:solidFill>
                            <a:srgbClr val="1A56DB"/>
                          </a:solidFill>
                        </a:defRPr>
                      </a:pPr>
                      <a:r>
                        <a:t>Firebase Cloud Messaging (FCM)</a:t>
                      </a:r>
                    </a:p>
                  </a:txBody>
                  <a:tcPr>
                    <a:solidFill>
                      <a:srgbClr val="FFFFFF"/>
                    </a:solidFill>
                  </a:tcPr>
                </a:tc>
                <a:tc>
                  <a:txBody>
                    <a:bodyPr/>
                    <a:lstStyle/>
                    <a:p>
                      <a:pPr>
                        <a:defRPr sz="1050">
                          <a:solidFill>
                            <a:srgbClr val="1E293B"/>
                          </a:solidFill>
                        </a:defRPr>
                      </a:pPr>
                      <a:r>
                        <a:t>Instant push notifications sent to approaching drivers' mobile phones.</a:t>
                      </a:r>
                    </a:p>
                  </a:txBody>
                  <a:tcPr>
                    <a:solidFill>
                      <a:srgbClr val="FFFFFF"/>
                    </a:solidFill>
                  </a:tcPr>
                </a:tc>
              </a:tr>
              <a:tr h="466344">
                <a:tc>
                  <a:txBody>
                    <a:bodyPr/>
                    <a:lstStyle/>
                    <a:p>
                      <a:pPr>
                        <a:defRPr sz="1100" b="1">
                          <a:solidFill>
                            <a:srgbClr val="1A56DB"/>
                          </a:solidFill>
                        </a:defRPr>
                      </a:pPr>
                      <a:r>
                        <a:t>Dijkstra / A* Algorithm</a:t>
                      </a:r>
                    </a:p>
                  </a:txBody>
                  <a:tcPr>
                    <a:solidFill>
                      <a:srgbClr val="FFFFFF"/>
                    </a:solidFill>
                  </a:tcPr>
                </a:tc>
                <a:tc>
                  <a:txBody>
                    <a:bodyPr/>
                    <a:lstStyle/>
                    <a:p>
                      <a:pPr>
                        <a:defRPr sz="1050">
                          <a:solidFill>
                            <a:srgbClr val="1E293B"/>
                          </a:solidFill>
                        </a:defRPr>
                      </a:pPr>
                      <a:r>
                        <a:t>Graph-based routing algorithms for calculating optimal alternative bypass routes.</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13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11. Work Completed So Far</a:t>
            </a:r>
          </a:p>
          <a:p>
            <a:pPr>
              <a:defRPr sz="1150">
                <a:solidFill>
                  <a:srgbClr val="64748B"/>
                </a:solidFill>
              </a:defRPr>
            </a:pPr>
            <a:r>
              <a:t>Initial project milestones achieved during Phase 1</a:t>
            </a:r>
          </a:p>
        </p:txBody>
      </p:sp>
      <p:sp>
        <p:nvSpPr>
          <p:cNvPr id="7" name="Rounded Rectangle 6"/>
          <p:cNvSpPr/>
          <p:nvPr/>
        </p:nvSpPr>
        <p:spPr>
          <a:xfrm>
            <a:off x="731520" y="146304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1. Title &amp; Problem Definition</a:t>
            </a:r>
          </a:p>
          <a:p>
            <a:pPr>
              <a:spcAft>
                <a:spcPts val="600"/>
              </a:spcAft>
              <a:defRPr sz="1150">
                <a:solidFill>
                  <a:srgbClr val="1E293B"/>
                </a:solidFill>
              </a:defRPr>
            </a:pPr>
            <a:r>
              <a:t>•  Finalized project title: CLEARPATH AI.</a:t>
            </a:r>
          </a:p>
          <a:p>
            <a:pPr>
              <a:spcAft>
                <a:spcPts val="600"/>
              </a:spcAft>
              <a:defRPr sz="1150">
                <a:solidFill>
                  <a:srgbClr val="1E293B"/>
                </a:solidFill>
              </a:defRPr>
            </a:pPr>
            <a:r>
              <a:t>•  Formulated the core problem statement and research scope.</a:t>
            </a:r>
          </a:p>
          <a:p>
            <a:pPr>
              <a:spcAft>
                <a:spcPts val="600"/>
              </a:spcAft>
              <a:defRPr sz="1150">
                <a:solidFill>
                  <a:srgbClr val="1E293B"/>
                </a:solidFill>
              </a:defRPr>
            </a:pPr>
            <a:r>
              <a:t>•  Defined 7 specific project objectives covering detection, routing, and mobile notification.</a:t>
            </a:r>
          </a:p>
        </p:txBody>
      </p:sp>
      <p:sp>
        <p:nvSpPr>
          <p:cNvPr id="9" name="Rounded Rectangle 8"/>
          <p:cNvSpPr/>
          <p:nvPr/>
        </p:nvSpPr>
        <p:spPr>
          <a:xfrm>
            <a:off x="6217920" y="1463040"/>
            <a:ext cx="5242255"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2. Literature Review &amp; Gap</a:t>
            </a:r>
          </a:p>
          <a:p>
            <a:pPr>
              <a:spcAft>
                <a:spcPts val="600"/>
              </a:spcAft>
              <a:defRPr sz="1150">
                <a:solidFill>
                  <a:srgbClr val="1E293B"/>
                </a:solidFill>
              </a:defRPr>
            </a:pPr>
            <a:r>
              <a:t>•  Conducted literature survey analyzing recent IEEE Access (2023) and MDPI (2025, 2019) research papers.</a:t>
            </a:r>
          </a:p>
          <a:p>
            <a:pPr>
              <a:spcAft>
                <a:spcPts val="600"/>
              </a:spcAft>
              <a:defRPr sz="1150">
                <a:solidFill>
                  <a:srgbClr val="1E293B"/>
                </a:solidFill>
              </a:defRPr>
            </a:pPr>
            <a:r>
              <a:t>•  Identified the specific research gap in combining CCTV vision with dynamic traffic diversion.</a:t>
            </a:r>
          </a:p>
        </p:txBody>
      </p:sp>
      <p:sp>
        <p:nvSpPr>
          <p:cNvPr id="11" name="Rounded Rectangle 10"/>
          <p:cNvSpPr/>
          <p:nvPr/>
        </p:nvSpPr>
        <p:spPr>
          <a:xfrm>
            <a:off x="731520" y="3931920"/>
            <a:ext cx="5120640"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3. System Architecture Design</a:t>
            </a:r>
          </a:p>
          <a:p>
            <a:pPr>
              <a:spcAft>
                <a:spcPts val="600"/>
              </a:spcAft>
              <a:defRPr sz="1150">
                <a:solidFill>
                  <a:srgbClr val="1E293B"/>
                </a:solidFill>
              </a:defRPr>
            </a:pPr>
            <a:r>
              <a:t>•  Prepared the complete 8-step system architecture and dataflow pipeline.</a:t>
            </a:r>
          </a:p>
          <a:p>
            <a:pPr>
              <a:spcAft>
                <a:spcPts val="600"/>
              </a:spcAft>
              <a:defRPr sz="1150">
                <a:solidFill>
                  <a:srgbClr val="1E293B"/>
                </a:solidFill>
              </a:defRPr>
            </a:pPr>
            <a:r>
              <a:t>•  Finalized the multi-camera inference strategy for blind-spot accident detection.</a:t>
            </a:r>
          </a:p>
        </p:txBody>
      </p:sp>
      <p:sp>
        <p:nvSpPr>
          <p:cNvPr id="13" name="Rounded Rectangle 12"/>
          <p:cNvSpPr/>
          <p:nvPr/>
        </p:nvSpPr>
        <p:spPr>
          <a:xfrm>
            <a:off x="6217920" y="3931920"/>
            <a:ext cx="5242255"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4. Technology Selection &amp; Status</a:t>
            </a:r>
          </a:p>
          <a:p>
            <a:pPr>
              <a:spcAft>
                <a:spcPts val="600"/>
              </a:spcAft>
              <a:defRPr sz="1150">
                <a:solidFill>
                  <a:srgbClr val="1E293B"/>
                </a:solidFill>
              </a:defRPr>
            </a:pPr>
            <a:r>
              <a:t>•  Selected tools and libraries: YOLOv11, OpenCV, FastAPI, Flutter, Firebase, and Dijkstra/A*.</a:t>
            </a:r>
          </a:p>
          <a:p>
            <a:pPr>
              <a:spcAft>
                <a:spcPts val="600"/>
              </a:spcAft>
              <a:defRPr sz="1150">
                <a:solidFill>
                  <a:srgbClr val="1E293B"/>
                </a:solidFill>
              </a:defRPr>
            </a:pPr>
            <a:r>
              <a:t>•  Current Status: Project planning and architectural design completed at Review 1. Model training and app integration are next.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14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12. Expected Outcomes</a:t>
            </a:r>
          </a:p>
          <a:p>
            <a:pPr>
              <a:defRPr sz="1150">
                <a:solidFill>
                  <a:srgbClr val="64748B"/>
                </a:solidFill>
              </a:defRPr>
            </a:pPr>
            <a:r>
              <a:t>Target capabilities and real-world system deliverables</a:t>
            </a:r>
          </a:p>
        </p:txBody>
      </p:sp>
      <p:sp>
        <p:nvSpPr>
          <p:cNvPr id="7" name="Rounded Rectangle 6"/>
          <p:cNvSpPr/>
          <p:nvPr/>
        </p:nvSpPr>
        <p:spPr>
          <a:xfrm>
            <a:off x="731520" y="1463040"/>
            <a:ext cx="5120640"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1965960"/>
          </a:xfrm>
          <a:prstGeom prst="rect">
            <a:avLst/>
          </a:prstGeom>
          <a:noFill/>
        </p:spPr>
        <p:txBody>
          <a:bodyPr wrap="square">
            <a:spAutoFit/>
          </a:bodyPr>
          <a:lstStyle/>
          <a:p>
            <a:pPr>
              <a:spcAft>
                <a:spcPts val="800"/>
              </a:spcAft>
              <a:defRPr sz="1400" b="1">
                <a:solidFill>
                  <a:srgbClr val="0F172A"/>
                </a:solidFill>
              </a:defRPr>
            </a:pPr>
            <a:r>
              <a:t>👁️  AI Vision &amp; Incident Inference</a:t>
            </a:r>
          </a:p>
          <a:p>
            <a:pPr>
              <a:spcAft>
                <a:spcPts val="600"/>
              </a:spcAft>
              <a:defRPr sz="1150">
                <a:solidFill>
                  <a:srgbClr val="1E293B"/>
                </a:solidFill>
              </a:defRPr>
            </a:pPr>
            <a:r>
              <a:t>•  Automatic detection of road accidents from CCTV video feeds.</a:t>
            </a:r>
          </a:p>
          <a:p>
            <a:pPr>
              <a:spcAft>
                <a:spcPts val="600"/>
              </a:spcAft>
              <a:defRPr sz="1150">
                <a:solidFill>
                  <a:srgbClr val="1E293B"/>
                </a:solidFill>
              </a:defRPr>
            </a:pPr>
            <a:r>
              <a:t>•  Continuous traffic congestion monitoring through vehicle movement analysis.</a:t>
            </a:r>
          </a:p>
          <a:p>
            <a:pPr>
              <a:spcAft>
                <a:spcPts val="600"/>
              </a:spcAft>
              <a:defRPr sz="1150">
                <a:solidFill>
                  <a:srgbClr val="1E293B"/>
                </a:solidFill>
              </a:defRPr>
            </a:pPr>
            <a:r>
              <a:t>•  Identification of possible blind-spot incidents using abnormal traffic patterns on nearby cameras.</a:t>
            </a:r>
          </a:p>
        </p:txBody>
      </p:sp>
      <p:sp>
        <p:nvSpPr>
          <p:cNvPr id="9" name="Rounded Rectangle 8"/>
          <p:cNvSpPr/>
          <p:nvPr/>
        </p:nvSpPr>
        <p:spPr>
          <a:xfrm>
            <a:off x="6217920" y="1463040"/>
            <a:ext cx="5242255" cy="23317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1965960"/>
          </a:xfrm>
          <a:prstGeom prst="rect">
            <a:avLst/>
          </a:prstGeom>
          <a:noFill/>
        </p:spPr>
        <p:txBody>
          <a:bodyPr wrap="square">
            <a:spAutoFit/>
          </a:bodyPr>
          <a:lstStyle/>
          <a:p>
            <a:pPr>
              <a:spcAft>
                <a:spcPts val="800"/>
              </a:spcAft>
              <a:defRPr sz="1400" b="1">
                <a:solidFill>
                  <a:srgbClr val="0F172A"/>
                </a:solidFill>
              </a:defRPr>
            </a:pPr>
            <a:r>
              <a:t>🗺️  Dynamic Re-Routing &amp; Alerts</a:t>
            </a:r>
          </a:p>
          <a:p>
            <a:pPr>
              <a:spcAft>
                <a:spcPts val="600"/>
              </a:spcAft>
              <a:defRPr sz="1150">
                <a:solidFill>
                  <a:srgbClr val="1E293B"/>
                </a:solidFill>
              </a:defRPr>
            </a:pPr>
            <a:r>
              <a:t>•  Early accident notifications delivered directly to approaching drivers before entering congested zones.</a:t>
            </a:r>
          </a:p>
          <a:p>
            <a:pPr>
              <a:spcAft>
                <a:spcPts val="600"/>
              </a:spcAft>
              <a:defRPr sz="1150">
                <a:solidFill>
                  <a:srgbClr val="1E293B"/>
                </a:solidFill>
              </a:defRPr>
            </a:pPr>
            <a:r>
              <a:t>•  Automated alternative-route recommendations generated to bypass the affected road segment.</a:t>
            </a:r>
          </a:p>
        </p:txBody>
      </p:sp>
      <p:sp>
        <p:nvSpPr>
          <p:cNvPr id="11" name="Rounded Rectangle 10"/>
          <p:cNvSpPr/>
          <p:nvPr/>
        </p:nvSpPr>
        <p:spPr>
          <a:xfrm>
            <a:off x="731520" y="3931920"/>
            <a:ext cx="5120640" cy="2331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4663440" cy="1965960"/>
          </a:xfrm>
          <a:prstGeom prst="rect">
            <a:avLst/>
          </a:prstGeom>
          <a:noFill/>
        </p:spPr>
        <p:txBody>
          <a:bodyPr wrap="square">
            <a:spAutoFit/>
          </a:bodyPr>
          <a:lstStyle/>
          <a:p>
            <a:pPr>
              <a:spcAft>
                <a:spcPts val="800"/>
              </a:spcAft>
              <a:defRPr sz="1400" b="1">
                <a:solidFill>
                  <a:srgbClr val="0F172A"/>
                </a:solidFill>
              </a:defRPr>
            </a:pPr>
            <a:r>
              <a:t>📱  Mobile App &amp; Admin Dashboard</a:t>
            </a:r>
          </a:p>
          <a:p>
            <a:pPr>
              <a:spcAft>
                <a:spcPts val="600"/>
              </a:spcAft>
              <a:defRPr sz="1150">
                <a:solidFill>
                  <a:srgbClr val="1E293B"/>
                </a:solidFill>
              </a:defRPr>
            </a:pPr>
            <a:r>
              <a:t>•  User-friendly Flutter mobile application displaying live accident alerts and interactive diversion maps.</a:t>
            </a:r>
          </a:p>
          <a:p>
            <a:pPr>
              <a:spcAft>
                <a:spcPts val="600"/>
              </a:spcAft>
              <a:defRPr sz="1150">
                <a:solidFill>
                  <a:srgbClr val="1E293B"/>
                </a:solidFill>
              </a:defRPr>
            </a:pPr>
            <a:r>
              <a:t>•  Centralized web-based admin dashboard for traffic authorities to monitor accidents, roads, and active alerts.</a:t>
            </a:r>
          </a:p>
        </p:txBody>
      </p:sp>
      <p:sp>
        <p:nvSpPr>
          <p:cNvPr id="13" name="Rounded Rectangle 12"/>
          <p:cNvSpPr/>
          <p:nvPr/>
        </p:nvSpPr>
        <p:spPr>
          <a:xfrm>
            <a:off x="6217920" y="3931920"/>
            <a:ext cx="5242255"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14800"/>
            <a:ext cx="4785055" cy="1965960"/>
          </a:xfrm>
          <a:prstGeom prst="rect">
            <a:avLst/>
          </a:prstGeom>
          <a:noFill/>
        </p:spPr>
        <p:txBody>
          <a:bodyPr wrap="square">
            <a:spAutoFit/>
          </a:bodyPr>
          <a:lstStyle/>
          <a:p>
            <a:pPr>
              <a:spcAft>
                <a:spcPts val="800"/>
              </a:spcAft>
              <a:defRPr sz="1400" b="1">
                <a:solidFill>
                  <a:srgbClr val="0F172A"/>
                </a:solidFill>
              </a:defRPr>
            </a:pPr>
            <a:r>
              <a:t>🚦  Traffic &amp; Safety Benefits</a:t>
            </a:r>
          </a:p>
          <a:p>
            <a:pPr>
              <a:spcAft>
                <a:spcPts val="600"/>
              </a:spcAft>
              <a:defRPr sz="1150">
                <a:solidFill>
                  <a:srgbClr val="1E293B"/>
                </a:solidFill>
              </a:defRPr>
            </a:pPr>
            <a:r>
              <a:t>•  Measurable reduction in urban traffic congestion and vehicle delay times.</a:t>
            </a:r>
          </a:p>
          <a:p>
            <a:pPr>
              <a:spcAft>
                <a:spcPts val="600"/>
              </a:spcAft>
              <a:defRPr sz="1150">
                <a:solidFill>
                  <a:srgbClr val="1E293B"/>
                </a:solidFill>
              </a:defRPr>
            </a:pPr>
            <a:r>
              <a:t>•  Faster emergency response coordination and improved overall commuter safety, subject to testing.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15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13. Project Timeline and Work Plan</a:t>
            </a:r>
          </a:p>
          <a:p>
            <a:pPr>
              <a:defRPr sz="1150">
                <a:solidFill>
                  <a:srgbClr val="64748B"/>
                </a:solidFill>
              </a:defRPr>
            </a:pPr>
            <a:r>
              <a:t>Phase breakdown across the project lifecycle</a:t>
            </a:r>
          </a:p>
        </p:txBody>
      </p:sp>
      <p:graphicFrame>
        <p:nvGraphicFramePr>
          <p:cNvPr id="7" name="Table 6"/>
          <p:cNvGraphicFramePr>
            <a:graphicFrameLocks noGrp="1"/>
          </p:cNvGraphicFramePr>
          <p:nvPr/>
        </p:nvGraphicFramePr>
        <p:xfrm>
          <a:off x="731520" y="1463040"/>
          <a:ext cx="10728655" cy="3291840"/>
        </p:xfrm>
        <a:graphic>
          <a:graphicData uri="http://schemas.openxmlformats.org/drawingml/2006/table">
            <a:tbl>
              <a:tblPr firstRow="1" bandRow="1">
                <a:tableStyleId>{5C22544A-7EE6-4342-B048-85BDC9FD1C3A}</a:tableStyleId>
              </a:tblPr>
              <a:tblGrid>
                <a:gridCol w="2011680"/>
                <a:gridCol w="2286000"/>
                <a:gridCol w="6430975"/>
              </a:tblGrid>
              <a:tr h="548640">
                <a:tc>
                  <a:txBody>
                    <a:bodyPr/>
                    <a:lstStyle/>
                    <a:p>
                      <a:pPr>
                        <a:defRPr sz="1100" b="1">
                          <a:solidFill>
                            <a:srgbClr val="0F172A"/>
                          </a:solidFill>
                        </a:defRPr>
                      </a:pPr>
                      <a:r>
                        <a:t>Phase</a:t>
                      </a:r>
                    </a:p>
                  </a:txBody>
                  <a:tcPr>
                    <a:solidFill>
                      <a:srgbClr val="EFF6FF"/>
                    </a:solidFill>
                  </a:tcPr>
                </a:tc>
                <a:tc>
                  <a:txBody>
                    <a:bodyPr/>
                    <a:lstStyle/>
                    <a:p>
                      <a:pPr>
                        <a:defRPr sz="1100" b="1">
                          <a:solidFill>
                            <a:srgbClr val="0F172A"/>
                          </a:solidFill>
                        </a:defRPr>
                      </a:pPr>
                      <a:r>
                        <a:t>Duration</a:t>
                      </a:r>
                    </a:p>
                  </a:txBody>
                  <a:tcPr>
                    <a:solidFill>
                      <a:srgbClr val="EFF6FF"/>
                    </a:solidFill>
                  </a:tcPr>
                </a:tc>
                <a:tc>
                  <a:txBody>
                    <a:bodyPr/>
                    <a:lstStyle/>
                    <a:p>
                      <a:pPr>
                        <a:defRPr sz="1100" b="1">
                          <a:solidFill>
                            <a:srgbClr val="0F172A"/>
                          </a:solidFill>
                        </a:defRPr>
                      </a:pPr>
                      <a:r>
                        <a:t>Planned Work &amp; Milestones</a:t>
                      </a:r>
                    </a:p>
                  </a:txBody>
                  <a:tcPr>
                    <a:solidFill>
                      <a:srgbClr val="EFF6FF"/>
                    </a:solidFill>
                  </a:tcPr>
                </a:tc>
              </a:tr>
              <a:tr h="548640">
                <a:tc>
                  <a:txBody>
                    <a:bodyPr/>
                    <a:lstStyle/>
                    <a:p>
                      <a:pPr>
                        <a:defRPr sz="1050" b="1">
                          <a:solidFill>
                            <a:srgbClr val="1A56DB"/>
                          </a:solidFill>
                        </a:defRPr>
                      </a:pPr>
                      <a:r>
                        <a:t>Phase 1</a:t>
                      </a:r>
                    </a:p>
                  </a:txBody>
                  <a:tcPr>
                    <a:solidFill>
                      <a:srgbClr val="FFFFFF"/>
                    </a:solidFill>
                  </a:tcPr>
                </a:tc>
                <a:tc>
                  <a:txBody>
                    <a:bodyPr/>
                    <a:lstStyle/>
                    <a:p>
                      <a:pPr>
                        <a:defRPr sz="1050">
                          <a:solidFill>
                            <a:srgbClr val="1E293B"/>
                          </a:solidFill>
                        </a:defRPr>
                      </a:pPr>
                      <a:r>
                        <a:t>Week 1</a:t>
                      </a:r>
                    </a:p>
                  </a:txBody>
                  <a:tcPr>
                    <a:solidFill>
                      <a:srgbClr val="FFFFFF"/>
                    </a:solidFill>
                  </a:tcPr>
                </a:tc>
                <a:tc>
                  <a:txBody>
                    <a:bodyPr/>
                    <a:lstStyle/>
                    <a:p>
                      <a:pPr>
                        <a:defRPr sz="1000">
                          <a:solidFill>
                            <a:srgbClr val="1E293B"/>
                          </a:solidFill>
                        </a:defRPr>
                      </a:pPr>
                      <a:r>
                        <a:t>Literature survey, problem identification, requirement analysis, and Review 1 preparation.</a:t>
                      </a:r>
                    </a:p>
                  </a:txBody>
                  <a:tcPr>
                    <a:solidFill>
                      <a:srgbClr val="FFFFFF"/>
                    </a:solidFill>
                  </a:tcPr>
                </a:tc>
              </a:tr>
              <a:tr h="548640">
                <a:tc>
                  <a:txBody>
                    <a:bodyPr/>
                    <a:lstStyle/>
                    <a:p>
                      <a:pPr>
                        <a:defRPr sz="1050" b="1">
                          <a:solidFill>
                            <a:srgbClr val="1A56DB"/>
                          </a:solidFill>
                        </a:defRPr>
                      </a:pPr>
                      <a:r>
                        <a:t>Phase 2</a:t>
                      </a:r>
                    </a:p>
                  </a:txBody>
                  <a:tcPr>
                    <a:solidFill>
                      <a:srgbClr val="FFFFFF"/>
                    </a:solidFill>
                  </a:tcPr>
                </a:tc>
                <a:tc>
                  <a:txBody>
                    <a:bodyPr/>
                    <a:lstStyle/>
                    <a:p>
                      <a:pPr>
                        <a:defRPr sz="1050">
                          <a:solidFill>
                            <a:srgbClr val="1E293B"/>
                          </a:solidFill>
                        </a:defRPr>
                      </a:pPr>
                      <a:r>
                        <a:t>Weeks 2–4</a:t>
                      </a:r>
                    </a:p>
                  </a:txBody>
                  <a:tcPr>
                    <a:solidFill>
                      <a:srgbClr val="FFFFFF"/>
                    </a:solidFill>
                  </a:tcPr>
                </a:tc>
                <a:tc>
                  <a:txBody>
                    <a:bodyPr/>
                    <a:lstStyle/>
                    <a:p>
                      <a:pPr>
                        <a:defRPr sz="1000">
                          <a:solidFill>
                            <a:srgbClr val="1E293B"/>
                          </a:solidFill>
                        </a:defRPr>
                      </a:pPr>
                      <a:r>
                        <a:t>Traffic dataset collection, CCTV video preprocessing, and YOLOv11 accident detection model training.</a:t>
                      </a:r>
                    </a:p>
                  </a:txBody>
                  <a:tcPr>
                    <a:solidFill>
                      <a:srgbClr val="FFFFFF"/>
                    </a:solidFill>
                  </a:tcPr>
                </a:tc>
              </a:tr>
              <a:tr h="548640">
                <a:tc>
                  <a:txBody>
                    <a:bodyPr/>
                    <a:lstStyle/>
                    <a:p>
                      <a:pPr>
                        <a:defRPr sz="1050" b="1">
                          <a:solidFill>
                            <a:srgbClr val="1A56DB"/>
                          </a:solidFill>
                        </a:defRPr>
                      </a:pPr>
                      <a:r>
                        <a:t>Phase 3</a:t>
                      </a:r>
                    </a:p>
                  </a:txBody>
                  <a:tcPr>
                    <a:solidFill>
                      <a:srgbClr val="FFFFFF"/>
                    </a:solidFill>
                  </a:tcPr>
                </a:tc>
                <a:tc>
                  <a:txBody>
                    <a:bodyPr/>
                    <a:lstStyle/>
                    <a:p>
                      <a:pPr>
                        <a:defRPr sz="1050">
                          <a:solidFill>
                            <a:srgbClr val="1E293B"/>
                          </a:solidFill>
                        </a:defRPr>
                      </a:pPr>
                      <a:r>
                        <a:t>Weeks 5–6</a:t>
                      </a:r>
                    </a:p>
                  </a:txBody>
                  <a:tcPr>
                    <a:solidFill>
                      <a:srgbClr val="FFFFFF"/>
                    </a:solidFill>
                  </a:tcPr>
                </a:tc>
                <a:tc>
                  <a:txBody>
                    <a:bodyPr/>
                    <a:lstStyle/>
                    <a:p>
                      <a:pPr>
                        <a:defRPr sz="1000">
                          <a:solidFill>
                            <a:srgbClr val="1E293B"/>
                          </a:solidFill>
                        </a:defRPr>
                      </a:pPr>
                      <a:r>
                        <a:t>FastAPI backend development, nearby-camera inference logic, and Dijkstra/A* routing algorithm implementation.</a:t>
                      </a:r>
                    </a:p>
                  </a:txBody>
                  <a:tcPr>
                    <a:solidFill>
                      <a:srgbClr val="FFFFFF"/>
                    </a:solidFill>
                  </a:tcPr>
                </a:tc>
              </a:tr>
              <a:tr h="548640">
                <a:tc>
                  <a:txBody>
                    <a:bodyPr/>
                    <a:lstStyle/>
                    <a:p>
                      <a:pPr>
                        <a:defRPr sz="1050" b="1">
                          <a:solidFill>
                            <a:srgbClr val="1A56DB"/>
                          </a:solidFill>
                        </a:defRPr>
                      </a:pPr>
                      <a:r>
                        <a:t>Phase 4</a:t>
                      </a:r>
                    </a:p>
                  </a:txBody>
                  <a:tcPr>
                    <a:solidFill>
                      <a:srgbClr val="FFFFFF"/>
                    </a:solidFill>
                  </a:tcPr>
                </a:tc>
                <a:tc>
                  <a:txBody>
                    <a:bodyPr/>
                    <a:lstStyle/>
                    <a:p>
                      <a:pPr>
                        <a:defRPr sz="1050">
                          <a:solidFill>
                            <a:srgbClr val="1E293B"/>
                          </a:solidFill>
                        </a:defRPr>
                      </a:pPr>
                      <a:r>
                        <a:t>Weeks 7–8</a:t>
                      </a:r>
                    </a:p>
                  </a:txBody>
                  <a:tcPr>
                    <a:solidFill>
                      <a:srgbClr val="FFFFFF"/>
                    </a:solidFill>
                  </a:tcPr>
                </a:tc>
                <a:tc>
                  <a:txBody>
                    <a:bodyPr/>
                    <a:lstStyle/>
                    <a:p>
                      <a:pPr>
                        <a:defRPr sz="1000">
                          <a:solidFill>
                            <a:srgbClr val="1E293B"/>
                          </a:solidFill>
                        </a:defRPr>
                      </a:pPr>
                      <a:r>
                        <a:t>Flutter mobile app UI, Firebase database setup, Google Maps API, and FCM alert notifications integration.</a:t>
                      </a:r>
                    </a:p>
                  </a:txBody>
                  <a:tcPr>
                    <a:solidFill>
                      <a:srgbClr val="FFFFFF"/>
                    </a:solidFill>
                  </a:tcPr>
                </a:tc>
              </a:tr>
              <a:tr h="548640">
                <a:tc>
                  <a:txBody>
                    <a:bodyPr/>
                    <a:lstStyle/>
                    <a:p>
                      <a:pPr>
                        <a:defRPr sz="1050" b="1">
                          <a:solidFill>
                            <a:srgbClr val="1A56DB"/>
                          </a:solidFill>
                        </a:defRPr>
                      </a:pPr>
                      <a:r>
                        <a:t>Phase 5</a:t>
                      </a:r>
                    </a:p>
                  </a:txBody>
                  <a:tcPr>
                    <a:solidFill>
                      <a:srgbClr val="FFFFFF"/>
                    </a:solidFill>
                  </a:tcPr>
                </a:tc>
                <a:tc>
                  <a:txBody>
                    <a:bodyPr/>
                    <a:lstStyle/>
                    <a:p>
                      <a:pPr>
                        <a:defRPr sz="1050">
                          <a:solidFill>
                            <a:srgbClr val="1E293B"/>
                          </a:solidFill>
                        </a:defRPr>
                      </a:pPr>
                      <a:r>
                        <a:t>Weeks 9–10</a:t>
                      </a:r>
                    </a:p>
                  </a:txBody>
                  <a:tcPr>
                    <a:solidFill>
                      <a:srgbClr val="FFFFFF"/>
                    </a:solidFill>
                  </a:tcPr>
                </a:tc>
                <a:tc>
                  <a:txBody>
                    <a:bodyPr/>
                    <a:lstStyle/>
                    <a:p>
                      <a:pPr>
                        <a:defRPr sz="1000">
                          <a:solidFill>
                            <a:srgbClr val="1E293B"/>
                          </a:solidFill>
                        </a:defRPr>
                      </a:pPr>
                      <a:r>
                        <a:t>End-to-end system testing, performance evaluation, thesis documentation, and Final Project Review.</a:t>
                      </a:r>
                    </a:p>
                  </a:txBody>
                  <a:tcPr>
                    <a:solidFill>
                      <a:srgbClr val="FFFFFF"/>
                    </a:solidFill>
                  </a:tcPr>
                </a:tc>
              </a:tr>
            </a:tbl>
          </a:graphicData>
        </a:graphic>
      </p:graphicFrame>
      <p:sp>
        <p:nvSpPr>
          <p:cNvPr id="8" name="Rounded Rectangle 7"/>
          <p:cNvSpPr/>
          <p:nvPr/>
        </p:nvSpPr>
        <p:spPr>
          <a:xfrm>
            <a:off x="731520" y="4937760"/>
            <a:ext cx="10728655" cy="128016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120640"/>
            <a:ext cx="10271455" cy="914400"/>
          </a:xfrm>
          <a:prstGeom prst="rect">
            <a:avLst/>
          </a:prstGeom>
          <a:noFill/>
        </p:spPr>
        <p:txBody>
          <a:bodyPr wrap="square">
            <a:spAutoFit/>
          </a:bodyPr>
          <a:lstStyle/>
          <a:p>
            <a:pPr>
              <a:spcAft>
                <a:spcPts val="800"/>
              </a:spcAft>
              <a:defRPr sz="1400" b="1">
                <a:solidFill>
                  <a:srgbClr val="0F172A"/>
                </a:solidFill>
              </a:defRPr>
            </a:pPr>
            <a:r>
              <a:t>🔭  Future Scope &amp; Long-Term Vision</a:t>
            </a:r>
          </a:p>
          <a:p>
            <a:pPr>
              <a:spcAft>
                <a:spcPts val="600"/>
              </a:spcAft>
              <a:defRPr sz="1150">
                <a:solidFill>
                  <a:srgbClr val="1E293B"/>
                </a:solidFill>
              </a:defRPr>
            </a:pPr>
            <a:r>
              <a:t>•  Future Scope: Integration with city-wide live traffic police CCTV feeds, advanced deep-learning congestion prediction, and automated integration with dynamic traffic signal controllers.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9456"/>
            <a:ext cx="566928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
            <a:ext cx="5486400" cy="320040"/>
          </a:xfrm>
          <a:prstGeom prst="rect">
            <a:avLst/>
          </a:prstGeom>
          <a:noFill/>
        </p:spPr>
        <p:txBody>
          <a:bodyPr wrap="square">
            <a:spAutoFit/>
          </a:bodyPr>
          <a:lstStyle/>
          <a:p>
            <a:pPr>
              <a:defRPr sz="1050" b="1">
                <a:solidFill>
                  <a:srgbClr val="1E40AF"/>
                </a:solidFill>
              </a:defRPr>
            </a:pPr>
            <a:r>
              <a:t>B.TECH ARTIFICIAL INTELLIGENCE &amp; DATA SCIENCE | FIRST REVIEW</a:t>
            </a:r>
          </a:p>
        </p:txBody>
      </p:sp>
      <p:sp>
        <p:nvSpPr>
          <p:cNvPr id="5" name="TextBox 4"/>
          <p:cNvSpPr txBox="1"/>
          <p:nvPr/>
        </p:nvSpPr>
        <p:spPr>
          <a:xfrm>
            <a:off x="9875520" y="219456"/>
            <a:ext cx="1645920" cy="320040"/>
          </a:xfrm>
          <a:prstGeom prst="rect">
            <a:avLst/>
          </a:prstGeom>
          <a:noFill/>
        </p:spPr>
        <p:txBody>
          <a:bodyPr wrap="none">
            <a:spAutoFit/>
          </a:bodyPr>
          <a:lstStyle/>
          <a:p>
            <a:pPr algn="r">
              <a:defRPr sz="1100" b="1">
                <a:solidFill>
                  <a:srgbClr val="64748B"/>
                </a:solidFill>
              </a:defRPr>
            </a:pPr>
            <a:r>
              <a:t>Slide 16 of 16</a:t>
            </a:r>
          </a:p>
        </p:txBody>
      </p:sp>
      <p:sp>
        <p:nvSpPr>
          <p:cNvPr id="6" name="TextBox 5"/>
          <p:cNvSpPr txBox="1"/>
          <p:nvPr/>
        </p:nvSpPr>
        <p:spPr>
          <a:xfrm>
            <a:off x="731520" y="640080"/>
            <a:ext cx="10728655" cy="731520"/>
          </a:xfrm>
          <a:prstGeom prst="rect">
            <a:avLst/>
          </a:prstGeom>
          <a:noFill/>
        </p:spPr>
        <p:txBody>
          <a:bodyPr wrap="square">
            <a:spAutoFit/>
          </a:bodyPr>
          <a:lstStyle/>
          <a:p>
            <a:pPr>
              <a:defRPr sz="2200" b="1">
                <a:solidFill>
                  <a:srgbClr val="0F172A"/>
                </a:solidFill>
              </a:defRPr>
            </a:pPr>
            <a:r>
              <a:t>14. References and Conclusion</a:t>
            </a:r>
          </a:p>
          <a:p>
            <a:pPr>
              <a:defRPr sz="1150">
                <a:solidFill>
                  <a:srgbClr val="64748B"/>
                </a:solidFill>
              </a:defRPr>
            </a:pPr>
            <a:r>
              <a:t>Academic sources, summary, and next milestones</a:t>
            </a:r>
          </a:p>
        </p:txBody>
      </p:sp>
      <p:sp>
        <p:nvSpPr>
          <p:cNvPr id="7" name="Rounded Rectangle 6"/>
          <p:cNvSpPr/>
          <p:nvPr/>
        </p:nvSpPr>
        <p:spPr>
          <a:xfrm>
            <a:off x="731520" y="1463040"/>
            <a:ext cx="512064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2926080"/>
          </a:xfrm>
          <a:prstGeom prst="rect">
            <a:avLst/>
          </a:prstGeom>
          <a:noFill/>
        </p:spPr>
        <p:txBody>
          <a:bodyPr wrap="square">
            <a:spAutoFit/>
          </a:bodyPr>
          <a:lstStyle/>
          <a:p>
            <a:pPr>
              <a:spcAft>
                <a:spcPts val="800"/>
              </a:spcAft>
              <a:defRPr sz="1400" b="1">
                <a:solidFill>
                  <a:srgbClr val="0F172A"/>
                </a:solidFill>
              </a:defRPr>
            </a:pPr>
            <a:r>
              <a:t>📚  References</a:t>
            </a:r>
          </a:p>
          <a:p>
            <a:pPr>
              <a:spcAft>
                <a:spcPts val="600"/>
              </a:spcAft>
              <a:defRPr sz="1150">
                <a:solidFill>
                  <a:srgbClr val="1E293B"/>
                </a:solidFill>
              </a:defRPr>
            </a:pPr>
            <a:r>
              <a:t>•  [1] M. Tahir, Y. Qiao, N. Kanwal, B. Lee, and M. N. Asghar, 'Real-Time Event-Driven Road Traffic Monitoring System Using CCTV Video Analytics,' IEEE Access, vol. 11, pp. 139097–139111, 2023, doi: 10.1109/ACCESS.2023.3340144.</a:t>
            </a:r>
          </a:p>
          <a:p>
            <a:pPr>
              <a:spcAft>
                <a:spcPts val="600"/>
              </a:spcAft>
              <a:defRPr sz="1150">
                <a:solidFill>
                  <a:srgbClr val="1E293B"/>
                </a:solidFill>
              </a:defRPr>
            </a:pPr>
            <a:r>
              <a:t>•  [2] O. Alzamzami, Z. Alsaggaf, R. AlMalki, R. Alghamdi, A. Babour, and L. Al Khuzayem, 'Passable: An Intelligent Traffic Light System with Integrated Incident Detection and Vehicle Alerting,' Sensors, vol. 25, no. 18, Art. no. 5760, 2025, doi: 10.3390/s25185760.</a:t>
            </a:r>
          </a:p>
          <a:p>
            <a:pPr>
              <a:spcAft>
                <a:spcPts val="600"/>
              </a:spcAft>
              <a:defRPr sz="1150">
                <a:solidFill>
                  <a:srgbClr val="1E293B"/>
                </a:solidFill>
              </a:defRPr>
            </a:pPr>
            <a:r>
              <a:t>•  [3] P. Perez-Murueta et al., 'Deep Learning System for Vehicular Re-Routing and Congestion Avoidance,' Applied Sciences, vol. 9, no. 13, Art. no. 2717, 2019, doi: 10.3390/app9132717.</a:t>
            </a:r>
          </a:p>
        </p:txBody>
      </p:sp>
      <p:sp>
        <p:nvSpPr>
          <p:cNvPr id="9" name="Rounded Rectangle 8"/>
          <p:cNvSpPr/>
          <p:nvPr/>
        </p:nvSpPr>
        <p:spPr>
          <a:xfrm>
            <a:off x="6217920" y="1463040"/>
            <a:ext cx="5242255" cy="329184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45920"/>
            <a:ext cx="4785055" cy="2926080"/>
          </a:xfrm>
          <a:prstGeom prst="rect">
            <a:avLst/>
          </a:prstGeom>
          <a:noFill/>
        </p:spPr>
        <p:txBody>
          <a:bodyPr wrap="square">
            <a:spAutoFit/>
          </a:bodyPr>
          <a:lstStyle/>
          <a:p>
            <a:pPr>
              <a:spcAft>
                <a:spcPts val="800"/>
              </a:spcAft>
              <a:defRPr sz="1400" b="1">
                <a:solidFill>
                  <a:srgbClr val="0F172A"/>
                </a:solidFill>
              </a:defRPr>
            </a:pPr>
            <a:r>
              <a:t>🏆  Conclusion</a:t>
            </a:r>
          </a:p>
          <a:p>
            <a:pPr>
              <a:spcAft>
                <a:spcPts val="600"/>
              </a:spcAft>
              <a:defRPr sz="1150">
                <a:solidFill>
                  <a:srgbClr val="1E293B"/>
                </a:solidFill>
              </a:defRPr>
            </a:pPr>
            <a:r>
              <a:t>•  CLEARPATH AI proposes an intelligent approach to accident detection and traffic diversion.</a:t>
            </a:r>
          </a:p>
          <a:p>
            <a:pPr>
              <a:spcAft>
                <a:spcPts val="600"/>
              </a:spcAft>
              <a:defRPr sz="1150">
                <a:solidFill>
                  <a:srgbClr val="1E293B"/>
                </a:solidFill>
              </a:defRPr>
            </a:pPr>
            <a:r>
              <a:t>•  Combines CCTV-based AI accident detection, nearby-camera traffic analysis, alternative-route recommendations, and early driver alerts.</a:t>
            </a:r>
          </a:p>
          <a:p>
            <a:pPr>
              <a:spcAft>
                <a:spcPts val="600"/>
              </a:spcAft>
              <a:defRPr sz="1150">
                <a:solidFill>
                  <a:srgbClr val="1E293B"/>
                </a:solidFill>
              </a:defRPr>
            </a:pPr>
            <a:r>
              <a:t>•  The proposed system aims to reduce traffic congestion, improve incident awareness, and support safer road travel.</a:t>
            </a:r>
          </a:p>
          <a:p>
            <a:pPr>
              <a:spcAft>
                <a:spcPts val="600"/>
              </a:spcAft>
              <a:defRPr sz="1150">
                <a:solidFill>
                  <a:srgbClr val="1E293B"/>
                </a:solidFill>
              </a:defRPr>
            </a:pPr>
            <a:r>
              <a:t>•  The next stage focuses on AI model development, route-planning integration, mobile application development, and system evaluation.</a:t>
            </a:r>
          </a:p>
        </p:txBody>
      </p:sp>
      <p:sp>
        <p:nvSpPr>
          <p:cNvPr id="11" name="Rounded Rectangle 10"/>
          <p:cNvSpPr/>
          <p:nvPr/>
        </p:nvSpPr>
        <p:spPr>
          <a:xfrm>
            <a:off x="731520" y="4937760"/>
            <a:ext cx="10728655" cy="128016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83480"/>
            <a:ext cx="10362895" cy="1188720"/>
          </a:xfrm>
          <a:prstGeom prst="rect">
            <a:avLst/>
          </a:prstGeom>
          <a:noFill/>
        </p:spPr>
        <p:txBody>
          <a:bodyPr wrap="square">
            <a:spAutoFit/>
          </a:bodyPr>
          <a:lstStyle/>
          <a:p>
            <a:pPr algn="ctr">
              <a:spcAft>
                <a:spcPts val="400"/>
              </a:spcAft>
              <a:defRPr sz="1800" b="1">
                <a:solidFill>
                  <a:srgbClr val="1A56DB"/>
                </a:solidFill>
              </a:defRPr>
            </a:pPr>
            <a:r>
              <a:t>🚩  THANK YOU!</a:t>
            </a:r>
          </a:p>
          <a:p>
            <a:pPr algn="ctr">
              <a:defRPr sz="1150">
                <a:solidFill>
                  <a:srgbClr val="0F172A"/>
                </a:solidFill>
              </a:defRPr>
            </a:pPr>
            <a:r>
              <a:t>We welcome your questions, feedback, and guidance. | Team: Afrin Reshma C, Akshay A, Devadharshini R (Dept. of AI &amp; 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