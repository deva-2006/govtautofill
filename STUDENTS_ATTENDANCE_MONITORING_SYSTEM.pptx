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'Good morning respected staff and panel members. We are Dhanush M N, Ashwathraj, and Athish R, from the Department of Artificial Intelligence and Data Science. Today, we are presenting our First Project Review on 'SMART ATTENDANCE MONITORING SYSTEM'. This project automates daily classroom and office attendance using AI face recognition, eliminating manual roll calls, saving classroom time, and completely preventing proxy attendance.'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'Here is the presentation structure: In Part 1, I explain why traditional attendance methods fail, the background of manual roll calls, and previous research work. In Part 2, I present my proposed AI face recognition architecture, the tech stack, the prototype results already achieved, and the next milestones.'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'Staff, in simple terms: Today, teachers spend 10 to 15 minutes in every period calling out roll numbers from an attendance register. This wastes valuable teaching time. My project replaces manual roll calls with an AI camera system. The camera detects students' faces automatically, marks their attendance with exact time-stamps in seconds, and updates the college database without anyone touching a device.'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'When we examine how attendance has evolved: Paper registers get damaged, RFID cards can be passed to friends, and fingerprint scanners form long queues and spread germs. Mobile check-ins are easily fooled by sharing OTPs. Computer vision face recognition is the best solution because a student cannot give their face to a friend—guaranteeing genuine presence.'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'Staff, there are 4 major problems today: 1. Huge time wasted calling roll numbers every hour. 2. Rampant proxy attendance where friends answer for absent students or swap RFID cards. 3. Long queues and unhygienic fingerprint sensors. 4. Teachers having to manually calculate attendance percentages in Excel at the end of every month. My smart system solves all four.'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'My aim is simple: Build a fast, contactless face recognition attendance system that recognizes students with over 95% accuracy in under 3 seconds. My four objectives are: 1. Detect faces in real-time camera video. 2. Match facial features against student profiles. 3. Add anti-spoofing so students cannot hold up mobile phone photos. 4. Automatically save attendance to a database with a clean teacher dashboard.'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'When reviewing previous research: Early methods like Haar Cascades struggled in low classroom lighting. RFID tags and Bluetooth beacons failed because students can pass cards or phones to friends. Modern deep learning using FaceNet 128-dimensional embeddings is the gold standard because it handles different lighting, tilts, and facial expressions while completely stopping proxy attendance.'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'In the existing system: Teachers spend the first 10 minutes calling roll numbers 1 by 1. If fingerprint devices are used, 60 students stand in a long queue, each taking 5 seconds to scan. At the end of the month, teachers spend hours calculating attendance percentages by hand. It is slow, boring, and error-prone.'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'To summarize the drawbacks: 1. Proxies and forged signatures. 2. Losing 1 hour of teaching time every day. 3. Unhygienic sensors that jam when fingers are dusty. 4. Calculation mistakes and parents not getting timely alerts. My smart attendance system fixes all four problems completely.'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'In my proposed system: A camera captures the students as they enter or sit. In less than 2 seconds, the deep learning model detects their faces, matches them with the student database, and marks them present with exact timestamps. It has anti-spoofing to stop photo cheating, provides an instant Excel report for teachers, and automatically messages parents if a student is absent.'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'Here is the 6-step architecture: Step 1: Camera captures live video. Step 2: OpenCV detects all faces in the frame. Step 3: Align and crop face landmarks. Step 4: Convert facial features into 128D mathematical vectors. Step 5: Compare vectors with student database. Step 6: Log attendance automatically and display it on the faculty portal.'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'For my tech stack: I used Python and OpenCV for video processing, deep learning FaceNet and dlib for face recognition, FastAPI and SQLite for saving attendance logs, and a clean web dashboard for teachers with Excel export. It runs on any standard laptop with a normal USB webcam—no expensive equipment needed.'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'For Review 1, I have already built and tested a functional working prototype! I completed 4 key milestones: 1. Real-time face detection from a webcam at 30 fps. 2. Student dataset creation and 128D facial vector generation. 3. Live recognition displaying student names on screen. 4. Automatic logging into an Excel database while preventing duplicate marks.'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'The expected benefits are: 1. 95% time saved—taking attendance in 30 seconds instead of 15 minutes. 2. Zero proxy attendance. 3. 100% contactless and hygienic. 4. Automatic Excel reporting and instant SMS messages to parents.'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'Here is my 3-phase plan: Phase 1 is completed—I built the face recognition and automated logging prototype. In Phase 2 for the Mid Review, I will add anti-spoofing to prevent photo cheating and build the teacher web portal. In Phase 3 for the Final Review, I will optimize it for 50+ students simultaneously and connect it to college ERP systems.'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'In conclusion: The Student Attendance Monitoring System saves time, stops proxy attendance, and automates daily reporting using deep learning face recognition. We have already built and verified the working prototype for Phase 1. Thank you respected staff and panel members, we are ready for your questions and guidance!'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1051560"/>
            <a:ext cx="10728655" cy="2103120"/>
          </a:xfrm>
          <a:prstGeom prst="rect">
            <a:avLst/>
          </a:prstGeom>
          <a:noFill/>
        </p:spPr>
        <p:txBody>
          <a:bodyPr wrap="square">
            <a:spAutoFit/>
          </a:bodyPr>
          <a:lstStyle/>
          <a:p>
            <a:pPr>
              <a:spcAft>
                <a:spcPts val="800"/>
              </a:spcAft>
              <a:defRPr sz="2800" b="1">
                <a:solidFill>
                  <a:srgbClr val="0F172A"/>
                </a:solidFill>
              </a:defRPr>
            </a:pPr>
            <a:r>
              <a:t>STUDENT ATTENDANCE MONITORING SYSTEM</a:t>
            </a:r>
          </a:p>
          <a:p>
            <a:pPr>
              <a:spcAft>
                <a:spcPts val="400"/>
              </a:spcAft>
              <a:defRPr sz="1350">
                <a:solidFill>
                  <a:srgbClr val="64748B"/>
                </a:solidFill>
              </a:defRPr>
            </a:pPr>
            <a:r>
              <a:t>An Automated Contactless Face Recognition Attendance Engine using Deep Learning, Real-Time Video Analytics, and Cloud Database Integration</a:t>
            </a:r>
          </a:p>
          <a:p>
            <a:pPr>
              <a:defRPr sz="1200" b="1">
                <a:solidFill>
                  <a:srgbClr val="1A56DB"/>
                </a:solidFill>
              </a:defRPr>
            </a:pPr>
            <a:r>
              <a:t>Presented by: DHANUSH MN (2117230070028)  •  ASHWATHRAJ (2117230070017)  •  ATHISH R (2117230070020)</a:t>
            </a:r>
          </a:p>
        </p:txBody>
      </p:sp>
      <p:sp>
        <p:nvSpPr>
          <p:cNvPr id="8" name="Rounded Rectangle 7"/>
          <p:cNvSpPr/>
          <p:nvPr/>
        </p:nvSpPr>
        <p:spPr>
          <a:xfrm>
            <a:off x="731520" y="3474720"/>
            <a:ext cx="5120640" cy="25603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657600"/>
            <a:ext cx="4663440" cy="2194560"/>
          </a:xfrm>
          <a:prstGeom prst="rect">
            <a:avLst/>
          </a:prstGeom>
          <a:noFill/>
        </p:spPr>
        <p:txBody>
          <a:bodyPr wrap="square">
            <a:spAutoFit/>
          </a:bodyPr>
          <a:lstStyle/>
          <a:p>
            <a:pPr>
              <a:spcAft>
                <a:spcPts val="800"/>
              </a:spcAft>
              <a:defRPr sz="1300" b="1">
                <a:solidFill>
                  <a:srgbClr val="1E40AF"/>
                </a:solidFill>
              </a:defRPr>
            </a:pPr>
            <a:r>
              <a:t>🎓  PROJECT DETAILS</a:t>
            </a:r>
          </a:p>
          <a:p>
            <a:pPr>
              <a:spcAft>
                <a:spcPts val="600"/>
              </a:spcAft>
              <a:defRPr sz="1800" b="1">
                <a:solidFill>
                  <a:srgbClr val="0F172A"/>
                </a:solidFill>
              </a:defRPr>
            </a:pPr>
            <a:r>
              <a:t>Smart Attendance Engine</a:t>
            </a:r>
          </a:p>
          <a:p>
            <a:pPr>
              <a:spcAft>
                <a:spcPts val="300"/>
              </a:spcAft>
              <a:defRPr sz="1100">
                <a:solidFill>
                  <a:srgbClr val="1E293B"/>
                </a:solidFill>
              </a:defRPr>
            </a:pPr>
            <a:r>
              <a:t>• Department of Artificial Intelligence &amp; Data Science</a:t>
            </a:r>
          </a:p>
          <a:p>
            <a:pPr>
              <a:spcAft>
                <a:spcPts val="300"/>
              </a:spcAft>
              <a:defRPr sz="1100">
                <a:solidFill>
                  <a:srgbClr val="1E293B"/>
                </a:solidFill>
              </a:defRPr>
            </a:pPr>
            <a:r>
              <a:t>• Institution: Rajalakshmi Institute of Technology</a:t>
            </a:r>
          </a:p>
          <a:p>
            <a:pPr>
              <a:spcAft>
                <a:spcPts val="300"/>
              </a:spcAft>
              <a:defRPr sz="1100">
                <a:solidFill>
                  <a:srgbClr val="1E293B"/>
                </a:solidFill>
              </a:defRPr>
            </a:pPr>
            <a:r>
              <a:t>• Academic Year: 2026–2027</a:t>
            </a:r>
          </a:p>
          <a:p>
            <a:pPr>
              <a:spcAft>
                <a:spcPts val="300"/>
              </a:spcAft>
              <a:defRPr sz="1100">
                <a:solidFill>
                  <a:srgbClr val="1E293B"/>
                </a:solidFill>
              </a:defRPr>
            </a:pPr>
            <a:r>
              <a:t>• Focus: Zero Proxy, Contactless, High-Speed Classroom Logging</a:t>
            </a:r>
          </a:p>
        </p:txBody>
      </p:sp>
      <p:sp>
        <p:nvSpPr>
          <p:cNvPr id="10" name="Rounded Rectangle 9"/>
          <p:cNvSpPr/>
          <p:nvPr/>
        </p:nvSpPr>
        <p:spPr>
          <a:xfrm>
            <a:off x="6217920" y="3474720"/>
            <a:ext cx="5242255" cy="25603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3657600"/>
            <a:ext cx="4754880" cy="2194560"/>
          </a:xfrm>
          <a:prstGeom prst="rect">
            <a:avLst/>
          </a:prstGeom>
          <a:noFill/>
        </p:spPr>
        <p:txBody>
          <a:bodyPr wrap="square">
            <a:spAutoFit/>
          </a:bodyPr>
          <a:lstStyle/>
          <a:p>
            <a:pPr>
              <a:spcAft>
                <a:spcPts val="800"/>
              </a:spcAft>
              <a:defRPr sz="1300" b="1">
                <a:solidFill>
                  <a:srgbClr val="1E40AF"/>
                </a:solidFill>
              </a:defRPr>
            </a:pPr>
            <a:r>
              <a:t>👥  PROJECT MEMBERS</a:t>
            </a:r>
          </a:p>
          <a:p>
            <a:pPr>
              <a:spcAft>
                <a:spcPts val="400"/>
              </a:spcAft>
              <a:defRPr sz="1300" b="1">
                <a:solidFill>
                  <a:srgbClr val="0F172A"/>
                </a:solidFill>
              </a:defRPr>
            </a:pPr>
            <a:r>
              <a:t>DHANUSH MN   (2117230070028)</a:t>
            </a:r>
          </a:p>
          <a:p>
            <a:pPr>
              <a:spcAft>
                <a:spcPts val="400"/>
              </a:spcAft>
              <a:defRPr sz="1300" b="1">
                <a:solidFill>
                  <a:srgbClr val="0F172A"/>
                </a:solidFill>
              </a:defRPr>
            </a:pPr>
            <a:r>
              <a:t>ASHWATHRAJ   (2117230070017)</a:t>
            </a:r>
          </a:p>
          <a:p>
            <a:pPr>
              <a:spcAft>
                <a:spcPts val="400"/>
              </a:spcAft>
              <a:defRPr sz="1300" b="1">
                <a:solidFill>
                  <a:srgbClr val="0F172A"/>
                </a:solidFill>
              </a:defRPr>
            </a:pPr>
            <a:r>
              <a:t>ATHISH R   (2117230070020)</a:t>
            </a:r>
          </a:p>
          <a:p>
            <a:pPr>
              <a:defRPr sz="1050">
                <a:solidFill>
                  <a:srgbClr val="64748B"/>
                </a:solidFill>
              </a:defRPr>
            </a:pPr>
            <a:r>
              <a:t>B.Tech Artificial Intelligence &amp; Data Science | First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2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Table of Contents</a:t>
            </a:r>
          </a:p>
          <a:p>
            <a:pPr>
              <a:defRPr sz="1150">
                <a:solidFill>
                  <a:srgbClr val="64748B"/>
                </a:solidFill>
              </a:defRPr>
            </a:pPr>
            <a:r>
              <a:t>Overview of today's review presentation</a:t>
            </a:r>
          </a:p>
        </p:txBody>
      </p:sp>
      <p:sp>
        <p:nvSpPr>
          <p:cNvPr id="8" name="Rounded Rectangle 7"/>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Part 1: The Problem &amp; Background</a:t>
            </a:r>
          </a:p>
          <a:p>
            <a:pPr>
              <a:spcAft>
                <a:spcPts val="600"/>
              </a:spcAft>
              <a:defRPr sz="1150">
                <a:solidFill>
                  <a:srgbClr val="1E293B"/>
                </a:solidFill>
              </a:defRPr>
            </a:pPr>
            <a:r>
              <a:t>•  1. Introduction</a:t>
            </a:r>
          </a:p>
          <a:p>
            <a:pPr>
              <a:spcAft>
                <a:spcPts val="600"/>
              </a:spcAft>
              <a:defRPr sz="1150">
                <a:solidFill>
                  <a:srgbClr val="1E293B"/>
                </a:solidFill>
              </a:defRPr>
            </a:pPr>
            <a:r>
              <a:t>•  2. Background of the Project</a:t>
            </a:r>
          </a:p>
          <a:p>
            <a:pPr>
              <a:spcAft>
                <a:spcPts val="600"/>
              </a:spcAft>
              <a:defRPr sz="1150">
                <a:solidFill>
                  <a:srgbClr val="1E293B"/>
                </a:solidFill>
              </a:defRPr>
            </a:pPr>
            <a:r>
              <a:t>•  3. Problem Statement</a:t>
            </a:r>
          </a:p>
          <a:p>
            <a:pPr>
              <a:spcAft>
                <a:spcPts val="600"/>
              </a:spcAft>
              <a:defRPr sz="1150">
                <a:solidFill>
                  <a:srgbClr val="1E293B"/>
                </a:solidFill>
              </a:defRPr>
            </a:pPr>
            <a:r>
              <a:t>•  4. Aim and Objectives</a:t>
            </a:r>
          </a:p>
          <a:p>
            <a:pPr>
              <a:spcAft>
                <a:spcPts val="600"/>
              </a:spcAft>
              <a:defRPr sz="1150">
                <a:solidFill>
                  <a:srgbClr val="1E293B"/>
                </a:solidFill>
              </a:defRPr>
            </a:pPr>
            <a:r>
              <a:t>•  5. Literature Review</a:t>
            </a:r>
          </a:p>
          <a:p>
            <a:pPr>
              <a:spcAft>
                <a:spcPts val="600"/>
              </a:spcAft>
              <a:defRPr sz="1150">
                <a:solidFill>
                  <a:srgbClr val="1E293B"/>
                </a:solidFill>
              </a:defRPr>
            </a:pPr>
            <a:r>
              <a:t>•  6. Existing System</a:t>
            </a:r>
          </a:p>
          <a:p>
            <a:pPr>
              <a:spcAft>
                <a:spcPts val="600"/>
              </a:spcAft>
              <a:defRPr sz="1150">
                <a:solidFill>
                  <a:srgbClr val="1E293B"/>
                </a:solidFill>
              </a:defRPr>
            </a:pPr>
            <a:r>
              <a:t>•  7. Limitations of the Existing System</a:t>
            </a:r>
          </a:p>
        </p:txBody>
      </p:sp>
      <p:sp>
        <p:nvSpPr>
          <p:cNvPr id="10" name="Rounded Rectangle 9"/>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Part 2: Proposed AI Solution &amp; Results</a:t>
            </a:r>
          </a:p>
          <a:p>
            <a:pPr>
              <a:spcAft>
                <a:spcPts val="600"/>
              </a:spcAft>
              <a:defRPr sz="1150">
                <a:solidFill>
                  <a:srgbClr val="1E293B"/>
                </a:solidFill>
              </a:defRPr>
            </a:pPr>
            <a:r>
              <a:t>•  8. Proposed System</a:t>
            </a:r>
          </a:p>
          <a:p>
            <a:pPr>
              <a:spcAft>
                <a:spcPts val="600"/>
              </a:spcAft>
              <a:defRPr sz="1150">
                <a:solidFill>
                  <a:srgbClr val="1E293B"/>
                </a:solidFill>
              </a:defRPr>
            </a:pPr>
            <a:r>
              <a:t>•  9. Proposed Methodology &amp; Architecture</a:t>
            </a:r>
          </a:p>
          <a:p>
            <a:pPr>
              <a:spcAft>
                <a:spcPts val="600"/>
              </a:spcAft>
              <a:defRPr sz="1150">
                <a:solidFill>
                  <a:srgbClr val="1E293B"/>
                </a:solidFill>
              </a:defRPr>
            </a:pPr>
            <a:r>
              <a:t>•  10. Tools &amp; Technologies Used</a:t>
            </a:r>
          </a:p>
          <a:p>
            <a:pPr>
              <a:spcAft>
                <a:spcPts val="600"/>
              </a:spcAft>
              <a:defRPr sz="1150">
                <a:solidFill>
                  <a:srgbClr val="1E293B"/>
                </a:solidFill>
              </a:defRPr>
            </a:pPr>
            <a:r>
              <a:t>•  11. Work Completed So Far (Our Results)</a:t>
            </a:r>
          </a:p>
          <a:p>
            <a:pPr>
              <a:spcAft>
                <a:spcPts val="600"/>
              </a:spcAft>
              <a:defRPr sz="1150">
                <a:solidFill>
                  <a:srgbClr val="1E293B"/>
                </a:solidFill>
              </a:defRPr>
            </a:pPr>
            <a:r>
              <a:t>•  12. Technical Highlights &amp; Features</a:t>
            </a:r>
          </a:p>
          <a:p>
            <a:pPr>
              <a:spcAft>
                <a:spcPts val="600"/>
              </a:spcAft>
              <a:defRPr sz="1150">
                <a:solidFill>
                  <a:srgbClr val="1E293B"/>
                </a:solidFill>
              </a:defRPr>
            </a:pPr>
            <a:r>
              <a:t>•  13. Expected Outcomes &amp; Impact</a:t>
            </a:r>
          </a:p>
          <a:p>
            <a:pPr>
              <a:spcAft>
                <a:spcPts val="600"/>
              </a:spcAft>
              <a:defRPr sz="1150">
                <a:solidFill>
                  <a:srgbClr val="1E293B"/>
                </a:solidFill>
              </a:defRPr>
            </a:pPr>
            <a:r>
              <a:t>•  14. Project Timeline &amp; Work Plan</a:t>
            </a:r>
          </a:p>
          <a:p>
            <a:pPr>
              <a:spcAft>
                <a:spcPts val="600"/>
              </a:spcAft>
              <a:defRPr sz="1150">
                <a:solidFill>
                  <a:srgbClr val="1E293B"/>
                </a:solidFill>
              </a:defRPr>
            </a:pPr>
            <a:r>
              <a:t>•  15. Conclusion &amp;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3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Introduction: Why Smart Attendance Matters</a:t>
            </a:r>
          </a:p>
          <a:p>
            <a:pPr>
              <a:defRPr sz="1150">
                <a:solidFill>
                  <a:srgbClr val="64748B"/>
                </a:solidFill>
              </a:defRPr>
            </a:pPr>
            <a:r>
              <a:t>Context and motivation behind the project</a:t>
            </a:r>
          </a:p>
        </p:txBody>
      </p:sp>
      <p:sp>
        <p:nvSpPr>
          <p:cNvPr id="8" name="Rounded Rectangle 7"/>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The Current Situation in Colleges</a:t>
            </a:r>
          </a:p>
          <a:p>
            <a:pPr>
              <a:spcAft>
                <a:spcPts val="600"/>
              </a:spcAft>
              <a:defRPr sz="1150">
                <a:solidFill>
                  <a:srgbClr val="1E293B"/>
                </a:solidFill>
              </a:defRPr>
            </a:pPr>
            <a:r>
              <a:t>•  Attendance tracking is mandatory in colleges, universities, schools, and corporate workplaces.</a:t>
            </a:r>
          </a:p>
          <a:p>
            <a:pPr>
              <a:spcAft>
                <a:spcPts val="600"/>
              </a:spcAft>
              <a:defRPr sz="1150">
                <a:solidFill>
                  <a:srgbClr val="1E293B"/>
                </a:solidFill>
              </a:defRPr>
            </a:pPr>
            <a:r>
              <a:t>•  Traditional attendance still depends on manual paper roll calls or queuing up before biometric fingerprint scanners.</a:t>
            </a:r>
          </a:p>
          <a:p>
            <a:pPr>
              <a:spcAft>
                <a:spcPts val="600"/>
              </a:spcAft>
              <a:defRPr sz="1150">
                <a:solidFill>
                  <a:srgbClr val="1E293B"/>
                </a:solidFill>
              </a:defRPr>
            </a:pPr>
            <a:r>
              <a:t>•  In a classroom of 60 students, manual roll call takes 10 to 15 minutes of lecture time every single hour.</a:t>
            </a:r>
          </a:p>
          <a:p>
            <a:pPr>
              <a:spcAft>
                <a:spcPts val="600"/>
              </a:spcAft>
              <a:defRPr sz="1150">
                <a:solidFill>
                  <a:srgbClr val="1E293B"/>
                </a:solidFill>
              </a:defRPr>
            </a:pPr>
            <a:r>
              <a:t>•  Over a semester, hundreds of teaching hours are lost merely marking presence and absence.</a:t>
            </a:r>
          </a:p>
        </p:txBody>
      </p:sp>
      <p:sp>
        <p:nvSpPr>
          <p:cNvPr id="10" name="Rounded Rectangle 9"/>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Our AI-Powered Vision</a:t>
            </a:r>
          </a:p>
          <a:p>
            <a:pPr>
              <a:spcAft>
                <a:spcPts val="600"/>
              </a:spcAft>
              <a:defRPr sz="1150">
                <a:solidFill>
                  <a:srgbClr val="1E293B"/>
                </a:solidFill>
              </a:defRPr>
            </a:pPr>
            <a:r>
              <a:t>•  Our Solution: A Smart AI Attendance system powered by Computer Vision &amp; Deep Learning.</a:t>
            </a:r>
          </a:p>
          <a:p>
            <a:pPr>
              <a:spcAft>
                <a:spcPts val="600"/>
              </a:spcAft>
              <a:defRPr sz="1150">
                <a:solidFill>
                  <a:srgbClr val="1E293B"/>
                </a:solidFill>
              </a:defRPr>
            </a:pPr>
            <a:r>
              <a:t>•  A classroom camera scans students as they enter or sit in class.</a:t>
            </a:r>
          </a:p>
          <a:p>
            <a:pPr>
              <a:spcAft>
                <a:spcPts val="600"/>
              </a:spcAft>
              <a:defRPr sz="1150">
                <a:solidFill>
                  <a:srgbClr val="1E293B"/>
                </a:solidFill>
              </a:defRPr>
            </a:pPr>
            <a:r>
              <a:t>•  The system detects human faces, recognizes enrolled students, and logs attendance automatically into a secure database.</a:t>
            </a:r>
          </a:p>
          <a:p>
            <a:pPr>
              <a:spcAft>
                <a:spcPts val="600"/>
              </a:spcAft>
              <a:defRPr sz="1150">
                <a:solidFill>
                  <a:srgbClr val="1E293B"/>
                </a:solidFill>
              </a:defRPr>
            </a:pPr>
            <a:r>
              <a:t>•  Key Benefits: 100% Contactless, works in seconds, eliminates proxy, and sends instant absent notifications.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4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Background: Classroom &amp; Workplace Attendance Realities</a:t>
            </a:r>
          </a:p>
          <a:p>
            <a:pPr>
              <a:defRPr sz="1150">
                <a:solidFill>
                  <a:srgbClr val="64748B"/>
                </a:solidFill>
              </a:defRPr>
            </a:pPr>
            <a:r>
              <a:t>Evolution of attendance tracking mechanisms</a:t>
            </a:r>
          </a:p>
        </p:txBody>
      </p:sp>
      <p:sp>
        <p:nvSpPr>
          <p:cNvPr id="8" name="Rounded Rectangle 7"/>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Legacy Attendance Methods</a:t>
            </a:r>
          </a:p>
          <a:p>
            <a:pPr>
              <a:spcAft>
                <a:spcPts val="600"/>
              </a:spcAft>
              <a:defRPr sz="1150">
                <a:solidFill>
                  <a:srgbClr val="1E293B"/>
                </a:solidFill>
              </a:defRPr>
            </a:pPr>
            <a:r>
              <a:t>•  Paper Registers: The oldest method; highly prone to physical damage, lost register books, and fake signatures.</a:t>
            </a:r>
          </a:p>
          <a:p>
            <a:pPr>
              <a:spcAft>
                <a:spcPts val="600"/>
              </a:spcAft>
              <a:defRPr sz="1150">
                <a:solidFill>
                  <a:srgbClr val="1E293B"/>
                </a:solidFill>
              </a:defRPr>
            </a:pPr>
            <a:r>
              <a:t>•  RFID Smart Cards: Faster than paper, but students easily swap cards with friends, leading to proxy attendance.</a:t>
            </a:r>
          </a:p>
          <a:p>
            <a:pPr>
              <a:spcAft>
                <a:spcPts val="600"/>
              </a:spcAft>
              <a:defRPr sz="1150">
                <a:solidFill>
                  <a:srgbClr val="1E293B"/>
                </a:solidFill>
              </a:defRPr>
            </a:pPr>
            <a:r>
              <a:t>•  Fingerprint Biometrics: Requires physical contact, creates long bottlenecks outside classrooms, and fails on wet/dusty fingers.</a:t>
            </a:r>
          </a:p>
          <a:p>
            <a:pPr>
              <a:spcAft>
                <a:spcPts val="600"/>
              </a:spcAft>
              <a:defRPr sz="1150">
                <a:solidFill>
                  <a:srgbClr val="1E293B"/>
                </a:solidFill>
              </a:defRPr>
            </a:pPr>
            <a:r>
              <a:t>•  Mobile App Check-Ins: Easily bypassed using GPS spoofing apps or sharing OTP codes across WhatsApp.</a:t>
            </a:r>
          </a:p>
        </p:txBody>
      </p:sp>
      <p:sp>
        <p:nvSpPr>
          <p:cNvPr id="10" name="Rounded Rectangle 9"/>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The Shift to Vision Biometrics</a:t>
            </a:r>
          </a:p>
          <a:p>
            <a:pPr>
              <a:spcAft>
                <a:spcPts val="600"/>
              </a:spcAft>
              <a:defRPr sz="1150">
                <a:solidFill>
                  <a:srgbClr val="1E293B"/>
                </a:solidFill>
              </a:defRPr>
            </a:pPr>
            <a:r>
              <a:t>•  The Need for Contactless Biometrics: Post-pandemic hygiene mandates touchless systems.</a:t>
            </a:r>
          </a:p>
          <a:p>
            <a:pPr>
              <a:spcAft>
                <a:spcPts val="600"/>
              </a:spcAft>
              <a:defRPr sz="1150">
                <a:solidFill>
                  <a:srgbClr val="1E293B"/>
                </a:solidFill>
              </a:defRPr>
            </a:pPr>
            <a:r>
              <a:t>•  Multi-Student Recognition: Modern deep learning models can detect and recognize multiple faces simultaneously in a single camera frame.</a:t>
            </a:r>
          </a:p>
          <a:p>
            <a:pPr>
              <a:spcAft>
                <a:spcPts val="600"/>
              </a:spcAft>
              <a:defRPr sz="1150">
                <a:solidFill>
                  <a:srgbClr val="1E293B"/>
                </a:solidFill>
              </a:defRPr>
            </a:pPr>
            <a:r>
              <a:t>•  Automated Administrative Reporting: Faculty need automated weekly and monthly percentage calculation without manual Excel entry.</a:t>
            </a:r>
          </a:p>
          <a:p>
            <a:pPr>
              <a:spcAft>
                <a:spcPts val="600"/>
              </a:spcAft>
              <a:defRPr sz="1150">
                <a:solidFill>
                  <a:srgbClr val="1E293B"/>
                </a:solidFill>
              </a:defRPr>
            </a:pPr>
            <a:r>
              <a:t>•  Conclusion: Face recognition is the only method that verifies the actual physical presence of the student without physical touch.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5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Problem Statement: 4 Major Challenges</a:t>
            </a:r>
          </a:p>
          <a:p>
            <a:pPr>
              <a:defRPr sz="1150">
                <a:solidFill>
                  <a:srgbClr val="64748B"/>
                </a:solidFill>
              </a:defRPr>
            </a:pPr>
            <a:r>
              <a:t>Core problems in traditional attendance systems</a:t>
            </a:r>
          </a:p>
        </p:txBody>
      </p:sp>
      <p:sp>
        <p:nvSpPr>
          <p:cNvPr id="8" name="Rounded Rectangle 7"/>
          <p:cNvSpPr/>
          <p:nvPr/>
        </p:nvSpPr>
        <p:spPr>
          <a:xfrm>
            <a:off x="731520" y="1463040"/>
            <a:ext cx="5120640"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Huge Instructional Time Loss</a:t>
            </a:r>
          </a:p>
          <a:p>
            <a:pPr>
              <a:spcAft>
                <a:spcPts val="600"/>
              </a:spcAft>
              <a:defRPr sz="1150">
                <a:solidFill>
                  <a:srgbClr val="1E293B"/>
                </a:solidFill>
              </a:defRPr>
            </a:pPr>
            <a:r>
              <a:t>•  Teachers spend 10 to 15 minutes of every 50-minute lecture calling roll numbers.</a:t>
            </a:r>
          </a:p>
          <a:p>
            <a:pPr>
              <a:spcAft>
                <a:spcPts val="600"/>
              </a:spcAft>
              <a:defRPr sz="1150">
                <a:solidFill>
                  <a:srgbClr val="1E293B"/>
                </a:solidFill>
              </a:defRPr>
            </a:pPr>
            <a:r>
              <a:t>•  Accumulates to over 60 wasted instructional hours per semester per class.</a:t>
            </a:r>
          </a:p>
          <a:p>
            <a:pPr>
              <a:spcAft>
                <a:spcPts val="600"/>
              </a:spcAft>
              <a:defRPr sz="1150">
                <a:solidFill>
                  <a:srgbClr val="1E293B"/>
                </a:solidFill>
              </a:defRPr>
            </a:pPr>
            <a:r>
              <a:t>•  Disrupts student attention and lecture flow.</a:t>
            </a:r>
          </a:p>
        </p:txBody>
      </p:sp>
      <p:sp>
        <p:nvSpPr>
          <p:cNvPr id="10" name="Rounded Rectangle 9"/>
          <p:cNvSpPr/>
          <p:nvPr/>
        </p:nvSpPr>
        <p:spPr>
          <a:xfrm>
            <a:off x="6217920" y="146304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Rampant Proxy Attendance</a:t>
            </a:r>
          </a:p>
          <a:p>
            <a:pPr>
              <a:spcAft>
                <a:spcPts val="600"/>
              </a:spcAft>
              <a:defRPr sz="1150">
                <a:solidFill>
                  <a:srgbClr val="1E293B"/>
                </a:solidFill>
              </a:defRPr>
            </a:pPr>
            <a:r>
              <a:t>•  Friends answer roll calls or scan RFID cards for absent classmates.</a:t>
            </a:r>
          </a:p>
          <a:p>
            <a:pPr>
              <a:spcAft>
                <a:spcPts val="600"/>
              </a:spcAft>
              <a:defRPr sz="1150">
                <a:solidFill>
                  <a:srgbClr val="1E293B"/>
                </a:solidFill>
              </a:defRPr>
            </a:pPr>
            <a:r>
              <a:t>•  Signatures on physical attendance sheets are routinely forged.</a:t>
            </a:r>
          </a:p>
          <a:p>
            <a:pPr>
              <a:spcAft>
                <a:spcPts val="600"/>
              </a:spcAft>
              <a:defRPr sz="1150">
                <a:solidFill>
                  <a:srgbClr val="1E293B"/>
                </a:solidFill>
              </a:defRPr>
            </a:pPr>
            <a:r>
              <a:t>•  Distorts actual attendance percentages required for exam eligibility.</a:t>
            </a:r>
          </a:p>
        </p:txBody>
      </p:sp>
      <p:sp>
        <p:nvSpPr>
          <p:cNvPr id="12" name="Rounded Rectangle 11"/>
          <p:cNvSpPr/>
          <p:nvPr/>
        </p:nvSpPr>
        <p:spPr>
          <a:xfrm>
            <a:off x="731520" y="393192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Queue Delays &amp; Hardware Friction</a:t>
            </a:r>
          </a:p>
          <a:p>
            <a:pPr>
              <a:spcAft>
                <a:spcPts val="600"/>
              </a:spcAft>
              <a:defRPr sz="1150">
                <a:solidFill>
                  <a:srgbClr val="1E293B"/>
                </a:solidFill>
              </a:defRPr>
            </a:pPr>
            <a:r>
              <a:t>•  Fingerprint scanners require one student at a time, causing long entry queues.</a:t>
            </a:r>
          </a:p>
          <a:p>
            <a:pPr>
              <a:spcAft>
                <a:spcPts val="600"/>
              </a:spcAft>
              <a:defRPr sz="1150">
                <a:solidFill>
                  <a:srgbClr val="1E293B"/>
                </a:solidFill>
              </a:defRPr>
            </a:pPr>
            <a:r>
              <a:t>•  High maintenance costs when optical sensors accumulate dust or grease.</a:t>
            </a:r>
          </a:p>
          <a:p>
            <a:pPr>
              <a:spcAft>
                <a:spcPts val="600"/>
              </a:spcAft>
              <a:defRPr sz="1150">
                <a:solidFill>
                  <a:srgbClr val="1E293B"/>
                </a:solidFill>
              </a:defRPr>
            </a:pPr>
            <a:r>
              <a:t>•  Unhygienic during flu and viral outbreak seasons.</a:t>
            </a:r>
          </a:p>
        </p:txBody>
      </p:sp>
      <p:sp>
        <p:nvSpPr>
          <p:cNvPr id="14" name="Rounded Rectangle 13"/>
          <p:cNvSpPr/>
          <p:nvPr/>
        </p:nvSpPr>
        <p:spPr>
          <a:xfrm>
            <a:off x="6217920" y="3931920"/>
            <a:ext cx="52422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Manual Calculation &amp; Late Alerts</a:t>
            </a:r>
          </a:p>
          <a:p>
            <a:pPr>
              <a:spcAft>
                <a:spcPts val="600"/>
              </a:spcAft>
              <a:defRPr sz="1150">
                <a:solidFill>
                  <a:srgbClr val="1E293B"/>
                </a:solidFill>
              </a:defRPr>
            </a:pPr>
            <a:r>
              <a:t>•  Staff spend hours manually entering attendance from paper registers into Excel/ERP portals.</a:t>
            </a:r>
          </a:p>
          <a:p>
            <a:pPr>
              <a:spcAft>
                <a:spcPts val="600"/>
              </a:spcAft>
              <a:defRPr sz="1150">
                <a:solidFill>
                  <a:srgbClr val="1E293B"/>
                </a:solidFill>
              </a:defRPr>
            </a:pPr>
            <a:r>
              <a:t>•  Parents receive absence notifications days later instead of in real time.</a:t>
            </a:r>
          </a:p>
          <a:p>
            <a:pPr>
              <a:spcAft>
                <a:spcPts val="600"/>
              </a:spcAft>
              <a:defRPr sz="1150">
                <a:solidFill>
                  <a:srgbClr val="1E293B"/>
                </a:solidFill>
              </a:defRPr>
            </a:pPr>
            <a:r>
              <a:t>•  High risk of human data-entry errors when calculating 75% eligibility.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6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Aim &amp; Specific Objectives</a:t>
            </a:r>
          </a:p>
          <a:p>
            <a:pPr>
              <a:defRPr sz="1150">
                <a:solidFill>
                  <a:srgbClr val="64748B"/>
                </a:solidFill>
              </a:defRPr>
            </a:pPr>
            <a:r>
              <a:t>What the project aims to accomplish</a:t>
            </a:r>
          </a:p>
        </p:txBody>
      </p:sp>
      <p:sp>
        <p:nvSpPr>
          <p:cNvPr id="8" name="Rounded Rectangle 7"/>
          <p:cNvSpPr/>
          <p:nvPr/>
        </p:nvSpPr>
        <p:spPr>
          <a:xfrm>
            <a:off x="731520" y="1463040"/>
            <a:ext cx="10728655" cy="123444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868680"/>
          </a:xfrm>
          <a:prstGeom prst="rect">
            <a:avLst/>
          </a:prstGeom>
          <a:noFill/>
        </p:spPr>
        <p:txBody>
          <a:bodyPr wrap="square">
            <a:spAutoFit/>
          </a:bodyPr>
          <a:lstStyle/>
          <a:p>
            <a:pPr>
              <a:spcAft>
                <a:spcPts val="800"/>
              </a:spcAft>
              <a:defRPr sz="1400" b="1">
                <a:solidFill>
                  <a:srgbClr val="0F172A"/>
                </a:solidFill>
              </a:defRPr>
            </a:pPr>
            <a:r>
              <a:t>🎯  PROJECT AIM</a:t>
            </a:r>
          </a:p>
          <a:p>
            <a:pPr>
              <a:spcAft>
                <a:spcPts val="600"/>
              </a:spcAft>
              <a:defRPr sz="1150">
                <a:solidFill>
                  <a:srgbClr val="1E293B"/>
                </a:solidFill>
              </a:defRPr>
            </a:pPr>
            <a:r>
              <a:t>•  To design and develop an automated, contactless, real-time Smart Attendance Monitoring System using deep-learning face recognition that detects multiple students, verifies identity with &gt;= 95% accuracy in under 3 seconds, and automatically logs attendance to a centralized database without human intervention.</a:t>
            </a:r>
          </a:p>
        </p:txBody>
      </p:sp>
      <p:sp>
        <p:nvSpPr>
          <p:cNvPr id="10" name="Rounded Rectangle 9"/>
          <p:cNvSpPr/>
          <p:nvPr/>
        </p:nvSpPr>
        <p:spPr>
          <a:xfrm>
            <a:off x="731520" y="2834640"/>
            <a:ext cx="5120640" cy="3383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017520"/>
            <a:ext cx="4663440" cy="3017520"/>
          </a:xfrm>
          <a:prstGeom prst="rect">
            <a:avLst/>
          </a:prstGeom>
          <a:noFill/>
        </p:spPr>
        <p:txBody>
          <a:bodyPr wrap="square">
            <a:spAutoFit/>
          </a:bodyPr>
          <a:lstStyle/>
          <a:p>
            <a:pPr>
              <a:spcAft>
                <a:spcPts val="800"/>
              </a:spcAft>
              <a:defRPr sz="1400" b="1">
                <a:solidFill>
                  <a:srgbClr val="0F172A"/>
                </a:solidFill>
              </a:defRPr>
            </a:pPr>
            <a:r>
              <a:t>👁️  Objectives (1 &amp; 2): Vision &amp; AI Recognition</a:t>
            </a:r>
          </a:p>
          <a:p>
            <a:pPr>
              <a:spcAft>
                <a:spcPts val="600"/>
              </a:spcAft>
              <a:defRPr sz="1150">
                <a:solidFill>
                  <a:srgbClr val="1E293B"/>
                </a:solidFill>
              </a:defRPr>
            </a:pPr>
            <a:r>
              <a:t>•  Objective 1: Multi-Face Detection &amp; Preprocessing</a:t>
            </a:r>
          </a:p>
          <a:p>
            <a:pPr>
              <a:spcAft>
                <a:spcPts val="600"/>
              </a:spcAft>
              <a:defRPr sz="1150">
                <a:solidFill>
                  <a:srgbClr val="1E293B"/>
                </a:solidFill>
              </a:defRPr>
            </a:pPr>
            <a:r>
              <a:t>•    • Detect multiple human faces in live camera streams using OpenCV &amp; deep learning.</a:t>
            </a:r>
          </a:p>
          <a:p>
            <a:pPr>
              <a:spcAft>
                <a:spcPts val="600"/>
              </a:spcAft>
              <a:defRPr sz="1150">
                <a:solidFill>
                  <a:srgbClr val="1E293B"/>
                </a:solidFill>
              </a:defRPr>
            </a:pPr>
            <a:r>
              <a:t>•    • Handle variations in lighting, head pose, and facial expressions.</a:t>
            </a:r>
          </a:p>
          <a:p>
            <a:pPr>
              <a:spcAft>
                <a:spcPts val="600"/>
              </a:spcAft>
              <a:defRPr sz="1150">
                <a:solidFill>
                  <a:srgbClr val="1E293B"/>
                </a:solidFill>
              </a:defRPr>
            </a:pPr>
            <a:r>
              <a:t>•  Objective 2: Facial Feature Encoding &amp; Recognition</a:t>
            </a:r>
          </a:p>
          <a:p>
            <a:pPr>
              <a:spcAft>
                <a:spcPts val="600"/>
              </a:spcAft>
              <a:defRPr sz="1150">
                <a:solidFill>
                  <a:srgbClr val="1E293B"/>
                </a:solidFill>
              </a:defRPr>
            </a:pPr>
            <a:r>
              <a:t>•    • Generate 128-dimensional facial embedding vectors using deep neural models (FaceNet / dlib).</a:t>
            </a:r>
          </a:p>
          <a:p>
            <a:pPr>
              <a:spcAft>
                <a:spcPts val="600"/>
              </a:spcAft>
              <a:defRPr sz="1150">
                <a:solidFill>
                  <a:srgbClr val="1E293B"/>
                </a:solidFill>
              </a:defRPr>
            </a:pPr>
            <a:r>
              <a:t>•    • Match embeddings against enrolled student database in real time.</a:t>
            </a:r>
          </a:p>
        </p:txBody>
      </p:sp>
      <p:sp>
        <p:nvSpPr>
          <p:cNvPr id="12" name="Rounded Rectangle 11"/>
          <p:cNvSpPr/>
          <p:nvPr/>
        </p:nvSpPr>
        <p:spPr>
          <a:xfrm>
            <a:off x="6217920" y="2834640"/>
            <a:ext cx="5242255" cy="33832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017520"/>
            <a:ext cx="4785055" cy="3017520"/>
          </a:xfrm>
          <a:prstGeom prst="rect">
            <a:avLst/>
          </a:prstGeom>
          <a:noFill/>
        </p:spPr>
        <p:txBody>
          <a:bodyPr wrap="square">
            <a:spAutoFit/>
          </a:bodyPr>
          <a:lstStyle/>
          <a:p>
            <a:pPr>
              <a:spcAft>
                <a:spcPts val="800"/>
              </a:spcAft>
              <a:defRPr sz="1400" b="1">
                <a:solidFill>
                  <a:srgbClr val="0F172A"/>
                </a:solidFill>
              </a:defRPr>
            </a:pPr>
            <a:r>
              <a:t>💻  Objectives (3 &amp; 4): Security &amp; Dashboard</a:t>
            </a:r>
          </a:p>
          <a:p>
            <a:pPr>
              <a:spcAft>
                <a:spcPts val="600"/>
              </a:spcAft>
              <a:defRPr sz="1150">
                <a:solidFill>
                  <a:srgbClr val="1E293B"/>
                </a:solidFill>
              </a:defRPr>
            </a:pPr>
            <a:r>
              <a:t>•  Objective 3: Anti-Spoofing &amp; Liveness Detection</a:t>
            </a:r>
          </a:p>
          <a:p>
            <a:pPr>
              <a:spcAft>
                <a:spcPts val="600"/>
              </a:spcAft>
              <a:defRPr sz="1150">
                <a:solidFill>
                  <a:srgbClr val="1E293B"/>
                </a:solidFill>
              </a:defRPr>
            </a:pPr>
            <a:r>
              <a:t>•    • Detect and reject photo prints, phone screens, and video replays to prevent spoofing.</a:t>
            </a:r>
          </a:p>
          <a:p>
            <a:pPr>
              <a:spcAft>
                <a:spcPts val="600"/>
              </a:spcAft>
              <a:defRPr sz="1150">
                <a:solidFill>
                  <a:srgbClr val="1E293B"/>
                </a:solidFill>
              </a:defRPr>
            </a:pPr>
            <a:r>
              <a:t>•  Objective 4: Automated Logging &amp; Faculty Dashboard</a:t>
            </a:r>
          </a:p>
          <a:p>
            <a:pPr>
              <a:spcAft>
                <a:spcPts val="600"/>
              </a:spcAft>
              <a:defRPr sz="1150">
                <a:solidFill>
                  <a:srgbClr val="1E293B"/>
                </a:solidFill>
              </a:defRPr>
            </a:pPr>
            <a:r>
              <a:t>•    • Automatically record Roll No, Name, Date, and Timestamp into database.</a:t>
            </a:r>
          </a:p>
          <a:p>
            <a:pPr>
              <a:spcAft>
                <a:spcPts val="600"/>
              </a:spcAft>
              <a:defRPr sz="1150">
                <a:solidFill>
                  <a:srgbClr val="1E293B"/>
                </a:solidFill>
              </a:defRPr>
            </a:pPr>
            <a:r>
              <a:t>•    • Provide a clean web dashboard for teachers with 1-click Excel export and automated SMS/email absent alerts.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7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Literature Review: Comparative Study</a:t>
            </a:r>
          </a:p>
          <a:p>
            <a:pPr>
              <a:defRPr sz="1150">
                <a:solidFill>
                  <a:srgbClr val="64748B"/>
                </a:solidFill>
              </a:defRPr>
            </a:pPr>
            <a:r>
              <a:t>Analysis of existing research and technological approaches</a:t>
            </a:r>
          </a:p>
        </p:txBody>
      </p:sp>
      <p:sp>
        <p:nvSpPr>
          <p:cNvPr id="8" name="Rounded Rectangle 7"/>
          <p:cNvSpPr/>
          <p:nvPr/>
        </p:nvSpPr>
        <p:spPr>
          <a:xfrm>
            <a:off x="731520" y="146304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Traditional Haar Cascades</a:t>
            </a:r>
          </a:p>
          <a:p>
            <a:pPr>
              <a:spcAft>
                <a:spcPts val="600"/>
              </a:spcAft>
              <a:defRPr sz="1150">
                <a:solidFill>
                  <a:srgbClr val="1E293B"/>
                </a:solidFill>
              </a:defRPr>
            </a:pPr>
            <a:r>
              <a:t>•  Method: Viola-Jones Haar Cascade + Eigenfaces.</a:t>
            </a:r>
          </a:p>
          <a:p>
            <a:pPr>
              <a:spcAft>
                <a:spcPts val="600"/>
              </a:spcAft>
              <a:defRPr sz="1150">
                <a:solidFill>
                  <a:srgbClr val="1E293B"/>
                </a:solidFill>
              </a:defRPr>
            </a:pPr>
            <a:r>
              <a:t>•  Findings: Fast and lightweight on basic hardware.</a:t>
            </a:r>
          </a:p>
          <a:p>
            <a:pPr>
              <a:spcAft>
                <a:spcPts val="600"/>
              </a:spcAft>
              <a:defRPr sz="1150">
                <a:solidFill>
                  <a:srgbClr val="1E293B"/>
                </a:solidFill>
              </a:defRPr>
            </a:pPr>
            <a:r>
              <a:t>•  Drawback: High error rates under poor classroom lighting, tilted head poses, and glasses/masks.</a:t>
            </a:r>
          </a:p>
        </p:txBody>
      </p:sp>
      <p:sp>
        <p:nvSpPr>
          <p:cNvPr id="10" name="Rounded Rectangle 9"/>
          <p:cNvSpPr/>
          <p:nvPr/>
        </p:nvSpPr>
        <p:spPr>
          <a:xfrm>
            <a:off x="6217920" y="146304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RFID Hardware Tag Systems</a:t>
            </a:r>
          </a:p>
          <a:p>
            <a:pPr>
              <a:spcAft>
                <a:spcPts val="600"/>
              </a:spcAft>
              <a:defRPr sz="1150">
                <a:solidFill>
                  <a:srgbClr val="1E293B"/>
                </a:solidFill>
              </a:defRPr>
            </a:pPr>
            <a:r>
              <a:t>•  Method: Radio Frequency Identification (RFID) card readers.</a:t>
            </a:r>
          </a:p>
          <a:p>
            <a:pPr>
              <a:spcAft>
                <a:spcPts val="600"/>
              </a:spcAft>
              <a:defRPr sz="1150">
                <a:solidFill>
                  <a:srgbClr val="1E293B"/>
                </a:solidFill>
              </a:defRPr>
            </a:pPr>
            <a:r>
              <a:t>•  Findings: Instant card reading with minimal computational cost.</a:t>
            </a:r>
          </a:p>
          <a:p>
            <a:pPr>
              <a:spcAft>
                <a:spcPts val="600"/>
              </a:spcAft>
              <a:defRPr sz="1150">
                <a:solidFill>
                  <a:srgbClr val="1E293B"/>
                </a:solidFill>
              </a:defRPr>
            </a:pPr>
            <a:r>
              <a:t>•  Drawback: Severe proxy issue—students easily carry multiple cards for absent friends.</a:t>
            </a:r>
          </a:p>
        </p:txBody>
      </p:sp>
      <p:sp>
        <p:nvSpPr>
          <p:cNvPr id="12" name="Rounded Rectangle 11"/>
          <p:cNvSpPr/>
          <p:nvPr/>
        </p:nvSpPr>
        <p:spPr>
          <a:xfrm>
            <a:off x="731520" y="393192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Bluetooth / WiFi Mobile Check-Ins</a:t>
            </a:r>
          </a:p>
          <a:p>
            <a:pPr>
              <a:spcAft>
                <a:spcPts val="600"/>
              </a:spcAft>
              <a:defRPr sz="1150">
                <a:solidFill>
                  <a:srgbClr val="1E293B"/>
                </a:solidFill>
              </a:defRPr>
            </a:pPr>
            <a:r>
              <a:t>•  Method: BLE Bluetooth Beacons &amp; WiFi Proximity.</a:t>
            </a:r>
          </a:p>
          <a:p>
            <a:pPr>
              <a:spcAft>
                <a:spcPts val="600"/>
              </a:spcAft>
              <a:defRPr sz="1150">
                <a:solidFill>
                  <a:srgbClr val="1E293B"/>
                </a:solidFill>
              </a:defRPr>
            </a:pPr>
            <a:r>
              <a:t>•  Findings: Connects to students' smartphones automatically.</a:t>
            </a:r>
          </a:p>
          <a:p>
            <a:pPr>
              <a:spcAft>
                <a:spcPts val="600"/>
              </a:spcAft>
              <a:defRPr sz="1150">
                <a:solidFill>
                  <a:srgbClr val="1E293B"/>
                </a:solidFill>
              </a:defRPr>
            </a:pPr>
            <a:r>
              <a:t>•  Drawback: Students leave phones in class while leaving campus; high battery drain on phones.</a:t>
            </a:r>
          </a:p>
        </p:txBody>
      </p:sp>
      <p:sp>
        <p:nvSpPr>
          <p:cNvPr id="14" name="Rounded Rectangle 13"/>
          <p:cNvSpPr/>
          <p:nvPr/>
        </p:nvSpPr>
        <p:spPr>
          <a:xfrm>
            <a:off x="6217920" y="3931920"/>
            <a:ext cx="5242255"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Deep Learning Face Biometrics (Our Choice)</a:t>
            </a:r>
          </a:p>
          <a:p>
            <a:pPr>
              <a:spcAft>
                <a:spcPts val="600"/>
              </a:spcAft>
              <a:defRPr sz="1150">
                <a:solidFill>
                  <a:srgbClr val="1E293B"/>
                </a:solidFill>
              </a:defRPr>
            </a:pPr>
            <a:r>
              <a:t>•  Method: Deep Convolutional Neural Networks (CNN) &amp; FaceNet 128D Embeddings.</a:t>
            </a:r>
          </a:p>
          <a:p>
            <a:pPr>
              <a:spcAft>
                <a:spcPts val="600"/>
              </a:spcAft>
              <a:defRPr sz="1150">
                <a:solidFill>
                  <a:srgbClr val="1E293B"/>
                </a:solidFill>
              </a:defRPr>
            </a:pPr>
            <a:r>
              <a:t>•  Findings: Robust to lighting changes, accessories, and camera angles with &gt;95% accuracy.</a:t>
            </a:r>
          </a:p>
          <a:p>
            <a:pPr>
              <a:spcAft>
                <a:spcPts val="600"/>
              </a:spcAft>
              <a:defRPr sz="1150">
                <a:solidFill>
                  <a:srgbClr val="1E293B"/>
                </a:solidFill>
              </a:defRPr>
            </a:pPr>
            <a:r>
              <a:t>•  Advantage: Contactless, zero proxy, supports multi-person recognition simultaneously.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8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Existing System: How Attendance is Taken Today</a:t>
            </a:r>
          </a:p>
          <a:p>
            <a:pPr>
              <a:defRPr sz="1150">
                <a:solidFill>
                  <a:srgbClr val="64748B"/>
                </a:solidFill>
              </a:defRPr>
            </a:pPr>
            <a:r>
              <a:t>Current classroom and institutional workflows</a:t>
            </a:r>
          </a:p>
        </p:txBody>
      </p:sp>
      <p:sp>
        <p:nvSpPr>
          <p:cNvPr id="8" name="Rounded Rectangle 7"/>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Manual Paper Roll Call (Steps 1 to 4)</a:t>
            </a:r>
          </a:p>
          <a:p>
            <a:pPr>
              <a:spcAft>
                <a:spcPts val="600"/>
              </a:spcAft>
              <a:defRPr sz="1150">
                <a:solidFill>
                  <a:srgbClr val="1E293B"/>
                </a:solidFill>
              </a:defRPr>
            </a:pPr>
            <a:r>
              <a:t>•  Step 1: Faculty enters classroom carrying a physical paper register book.</a:t>
            </a:r>
          </a:p>
          <a:p>
            <a:pPr>
              <a:spcAft>
                <a:spcPts val="600"/>
              </a:spcAft>
              <a:defRPr sz="1150">
                <a:solidFill>
                  <a:srgbClr val="1E293B"/>
                </a:solidFill>
              </a:defRPr>
            </a:pPr>
            <a:r>
              <a:t>•  Step 2: Faculty pauses the lecture and calls out roll numbers 1 through 60 individually.</a:t>
            </a:r>
          </a:p>
          <a:p>
            <a:pPr>
              <a:spcAft>
                <a:spcPts val="600"/>
              </a:spcAft>
              <a:defRPr sz="1150">
                <a:solidFill>
                  <a:srgbClr val="1E293B"/>
                </a:solidFill>
              </a:defRPr>
            </a:pPr>
            <a:r>
              <a:t>•  Step 3: Students respond with 'Present' or 'Here'; faculty marks 'P' or 'A' in the grid.</a:t>
            </a:r>
          </a:p>
          <a:p>
            <a:pPr>
              <a:spcAft>
                <a:spcPts val="600"/>
              </a:spcAft>
              <a:defRPr sz="1150">
                <a:solidFill>
                  <a:srgbClr val="1E293B"/>
                </a:solidFill>
              </a:defRPr>
            </a:pPr>
            <a:r>
              <a:t>•  Step 4: Process takes 10 to 12 minutes every period; repeated 6 to 7 times daily.</a:t>
            </a:r>
          </a:p>
        </p:txBody>
      </p:sp>
      <p:sp>
        <p:nvSpPr>
          <p:cNvPr id="10" name="Rounded Rectangle 9"/>
          <p:cNvSpPr/>
          <p:nvPr/>
        </p:nvSpPr>
        <p:spPr>
          <a:xfrm>
            <a:off x="6217920" y="1463040"/>
            <a:ext cx="5242255"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Biometric Scanner Bottleneck (Steps 5 to 8)</a:t>
            </a:r>
          </a:p>
          <a:p>
            <a:pPr>
              <a:spcAft>
                <a:spcPts val="600"/>
              </a:spcAft>
              <a:defRPr sz="1150">
                <a:solidFill>
                  <a:srgbClr val="1E293B"/>
                </a:solidFill>
              </a:defRPr>
            </a:pPr>
            <a:r>
              <a:t>•  Step 5: Alternatively, students queue outside class at a single biometric wall scanner.</a:t>
            </a:r>
          </a:p>
          <a:p>
            <a:pPr>
              <a:spcAft>
                <a:spcPts val="600"/>
              </a:spcAft>
              <a:defRPr sz="1150">
                <a:solidFill>
                  <a:srgbClr val="1E293B"/>
                </a:solidFill>
              </a:defRPr>
            </a:pPr>
            <a:r>
              <a:t>•  Step 6: Each student presses their thumb onto the glass scanner (takes 4–6 seconds per student).</a:t>
            </a:r>
          </a:p>
          <a:p>
            <a:pPr>
              <a:spcAft>
                <a:spcPts val="600"/>
              </a:spcAft>
              <a:defRPr sz="1150">
                <a:solidFill>
                  <a:srgbClr val="1E293B"/>
                </a:solidFill>
              </a:defRPr>
            </a:pPr>
            <a:r>
              <a:t>•  Step 7: If a fingerprint fails due to sweat or dust, the student retries 3 to 4 times.</a:t>
            </a:r>
          </a:p>
          <a:p>
            <a:pPr>
              <a:spcAft>
                <a:spcPts val="600"/>
              </a:spcAft>
              <a:defRPr sz="1150">
                <a:solidFill>
                  <a:srgbClr val="1E293B"/>
                </a:solidFill>
              </a:defRPr>
            </a:pPr>
            <a:r>
              <a:t>•  Step 8: End of Month: Faculty manually counts marks and types percentages into college ERP portals.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9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Limitations of the Existing System</a:t>
            </a:r>
          </a:p>
          <a:p>
            <a:pPr>
              <a:defRPr sz="1150">
                <a:solidFill>
                  <a:srgbClr val="64748B"/>
                </a:solidFill>
              </a:defRPr>
            </a:pPr>
            <a:r>
              <a:t>Why the current methods are inefficient and flawed</a:t>
            </a:r>
          </a:p>
        </p:txBody>
      </p:sp>
      <p:sp>
        <p:nvSpPr>
          <p:cNvPr id="8" name="Rounded Rectangle 7"/>
          <p:cNvSpPr/>
          <p:nvPr/>
        </p:nvSpPr>
        <p:spPr>
          <a:xfrm>
            <a:off x="731520" y="1463040"/>
            <a:ext cx="5120640"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Rampant Proxy &amp; Forgery</a:t>
            </a:r>
          </a:p>
          <a:p>
            <a:pPr>
              <a:spcAft>
                <a:spcPts val="600"/>
              </a:spcAft>
              <a:defRPr sz="1150">
                <a:solidFill>
                  <a:srgbClr val="1E293B"/>
                </a:solidFill>
              </a:defRPr>
            </a:pPr>
            <a:r>
              <a:t>•  Easy for students to shout 'Present' for absent friends.</a:t>
            </a:r>
          </a:p>
          <a:p>
            <a:pPr>
              <a:spcAft>
                <a:spcPts val="600"/>
              </a:spcAft>
              <a:defRPr sz="1150">
                <a:solidFill>
                  <a:srgbClr val="1E293B"/>
                </a:solidFill>
              </a:defRPr>
            </a:pPr>
            <a:r>
              <a:t>•  Forged signatures on physical attendance sheets.</a:t>
            </a:r>
          </a:p>
          <a:p>
            <a:pPr>
              <a:spcAft>
                <a:spcPts val="600"/>
              </a:spcAft>
              <a:defRPr sz="1150">
                <a:solidFill>
                  <a:srgbClr val="1E293B"/>
                </a:solidFill>
              </a:defRPr>
            </a:pPr>
            <a:r>
              <a:t>•  Defeats the purpose of attendance monitoring for college accreditation.</a:t>
            </a:r>
          </a:p>
        </p:txBody>
      </p:sp>
      <p:sp>
        <p:nvSpPr>
          <p:cNvPr id="10" name="Rounded Rectangle 9"/>
          <p:cNvSpPr/>
          <p:nvPr/>
        </p:nvSpPr>
        <p:spPr>
          <a:xfrm>
            <a:off x="6217920" y="146304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Severe Instructional Time Loss</a:t>
            </a:r>
          </a:p>
          <a:p>
            <a:pPr>
              <a:spcAft>
                <a:spcPts val="600"/>
              </a:spcAft>
              <a:defRPr sz="1150">
                <a:solidFill>
                  <a:srgbClr val="1E293B"/>
                </a:solidFill>
              </a:defRPr>
            </a:pPr>
            <a:r>
              <a:t>•  10 to 15 minutes lost per period = 1 hour lost every single day.</a:t>
            </a:r>
          </a:p>
          <a:p>
            <a:pPr>
              <a:spcAft>
                <a:spcPts val="600"/>
              </a:spcAft>
              <a:defRPr sz="1150">
                <a:solidFill>
                  <a:srgbClr val="1E293B"/>
                </a:solidFill>
              </a:defRPr>
            </a:pPr>
            <a:r>
              <a:t>•  Reduces teaching coverage for syllabus completion.</a:t>
            </a:r>
          </a:p>
          <a:p>
            <a:pPr>
              <a:spcAft>
                <a:spcPts val="600"/>
              </a:spcAft>
              <a:defRPr sz="1150">
                <a:solidFill>
                  <a:srgbClr val="1E293B"/>
                </a:solidFill>
              </a:defRPr>
            </a:pPr>
            <a:r>
              <a:t>•  Disrupts classroom focus and discussion momentum.</a:t>
            </a:r>
          </a:p>
        </p:txBody>
      </p:sp>
      <p:sp>
        <p:nvSpPr>
          <p:cNvPr id="12" name="Rounded Rectangle 11"/>
          <p:cNvSpPr/>
          <p:nvPr/>
        </p:nvSpPr>
        <p:spPr>
          <a:xfrm>
            <a:off x="731520" y="3931920"/>
            <a:ext cx="5120640"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Hardware Jams &amp; Hygiene Risks</a:t>
            </a:r>
          </a:p>
          <a:p>
            <a:pPr>
              <a:spcAft>
                <a:spcPts val="600"/>
              </a:spcAft>
              <a:defRPr sz="1150">
                <a:solidFill>
                  <a:srgbClr val="1E293B"/>
                </a:solidFill>
              </a:defRPr>
            </a:pPr>
            <a:r>
              <a:t>•  Dozens of students touching the exact same fingerprint sensor surface.</a:t>
            </a:r>
          </a:p>
          <a:p>
            <a:pPr>
              <a:spcAft>
                <a:spcPts val="600"/>
              </a:spcAft>
              <a:defRPr sz="1150">
                <a:solidFill>
                  <a:srgbClr val="1E293B"/>
                </a:solidFill>
              </a:defRPr>
            </a:pPr>
            <a:r>
              <a:t>•  Sensors fail on sweaty, dusty, or cold fingers, causing repeated retries.</a:t>
            </a:r>
          </a:p>
          <a:p>
            <a:pPr>
              <a:spcAft>
                <a:spcPts val="600"/>
              </a:spcAft>
              <a:defRPr sz="1150">
                <a:solidFill>
                  <a:srgbClr val="1E293B"/>
                </a:solidFill>
              </a:defRPr>
            </a:pPr>
            <a:r>
              <a:t>•  Hardware repair costs when physical scanners break down.</a:t>
            </a:r>
          </a:p>
        </p:txBody>
      </p:sp>
      <p:sp>
        <p:nvSpPr>
          <p:cNvPr id="14" name="Rounded Rectangle 13"/>
          <p:cNvSpPr/>
          <p:nvPr/>
        </p:nvSpPr>
        <p:spPr>
          <a:xfrm>
            <a:off x="6217920" y="393192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Human Errors &amp; Delayed Alerts</a:t>
            </a:r>
          </a:p>
          <a:p>
            <a:pPr>
              <a:spcAft>
                <a:spcPts val="600"/>
              </a:spcAft>
              <a:defRPr sz="1150">
                <a:solidFill>
                  <a:srgbClr val="1E293B"/>
                </a:solidFill>
              </a:defRPr>
            </a:pPr>
            <a:r>
              <a:t>•  Manual counting leads to calculation errors in 75% eligibility reports.</a:t>
            </a:r>
          </a:p>
          <a:p>
            <a:pPr>
              <a:spcAft>
                <a:spcPts val="600"/>
              </a:spcAft>
              <a:defRPr sz="1150">
                <a:solidFill>
                  <a:srgbClr val="1E293B"/>
                </a:solidFill>
              </a:defRPr>
            </a:pPr>
            <a:r>
              <a:t>•  Parents are not informed when students bunk lectures in real time.</a:t>
            </a:r>
          </a:p>
          <a:p>
            <a:pPr>
              <a:spcAft>
                <a:spcPts val="600"/>
              </a:spcAft>
              <a:defRPr sz="1150">
                <a:solidFill>
                  <a:srgbClr val="1E293B"/>
                </a:solidFill>
              </a:defRPr>
            </a:pPr>
            <a:r>
              <a:t>•  Paper registers are vulnerable to water damage, tears, and misplacement.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10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Proposed System: Automated AI Face Attendance</a:t>
            </a:r>
          </a:p>
          <a:p>
            <a:pPr>
              <a:defRPr sz="1150">
                <a:solidFill>
                  <a:srgbClr val="64748B"/>
                </a:solidFill>
              </a:defRPr>
            </a:pPr>
            <a:r>
              <a:t>Our smart, modern solution</a:t>
            </a:r>
          </a:p>
        </p:txBody>
      </p:sp>
      <p:sp>
        <p:nvSpPr>
          <p:cNvPr id="8" name="Rounded Rectangle 7"/>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Key Features of Proposed System</a:t>
            </a:r>
          </a:p>
          <a:p>
            <a:pPr>
              <a:spcAft>
                <a:spcPts val="600"/>
              </a:spcAft>
              <a:defRPr sz="1150">
                <a:solidFill>
                  <a:srgbClr val="1E293B"/>
                </a:solidFill>
              </a:defRPr>
            </a:pPr>
            <a:r>
              <a:t>•  1. Contactless Video Scanning: High-definition camera placed at classroom entrance or front podium scans faces seamlessly.</a:t>
            </a:r>
          </a:p>
          <a:p>
            <a:pPr>
              <a:spcAft>
                <a:spcPts val="600"/>
              </a:spcAft>
              <a:defRPr sz="1150">
                <a:solidFill>
                  <a:srgbClr val="1E293B"/>
                </a:solidFill>
              </a:defRPr>
            </a:pPr>
            <a:r>
              <a:t>•  2. Multi-Face Detection: Detects multiple student faces in a single video frame simultaneously.</a:t>
            </a:r>
          </a:p>
          <a:p>
            <a:pPr>
              <a:spcAft>
                <a:spcPts val="600"/>
              </a:spcAft>
              <a:defRPr sz="1150">
                <a:solidFill>
                  <a:srgbClr val="1E293B"/>
                </a:solidFill>
              </a:defRPr>
            </a:pPr>
            <a:r>
              <a:t>•  3. Deep Face Recognition: Generates unique 128-dimensional facial embedding vectors and matches against registered database.</a:t>
            </a:r>
          </a:p>
          <a:p>
            <a:pPr>
              <a:spcAft>
                <a:spcPts val="600"/>
              </a:spcAft>
              <a:defRPr sz="1150">
                <a:solidFill>
                  <a:srgbClr val="1E293B"/>
                </a:solidFill>
              </a:defRPr>
            </a:pPr>
            <a:r>
              <a:t>•  4. High Precision: Achieves over 95% recognition accuracy even with glasses, different hairstyles, and slight head tilts.</a:t>
            </a:r>
          </a:p>
        </p:txBody>
      </p:sp>
      <p:sp>
        <p:nvSpPr>
          <p:cNvPr id="10" name="Rounded Rectangle 9"/>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Speed, Security &amp; Automation</a:t>
            </a:r>
          </a:p>
          <a:p>
            <a:pPr>
              <a:spcAft>
                <a:spcPts val="600"/>
              </a:spcAft>
              <a:defRPr sz="1150">
                <a:solidFill>
                  <a:srgbClr val="1E293B"/>
                </a:solidFill>
              </a:defRPr>
            </a:pPr>
            <a:r>
              <a:t>•  5. Instant Attendance Logging: Marks student present with exact date and timestamp in less than 2 seconds.</a:t>
            </a:r>
          </a:p>
          <a:p>
            <a:pPr>
              <a:spcAft>
                <a:spcPts val="600"/>
              </a:spcAft>
              <a:defRPr sz="1150">
                <a:solidFill>
                  <a:srgbClr val="1E293B"/>
                </a:solidFill>
              </a:defRPr>
            </a:pPr>
            <a:r>
              <a:t>•  6. Anti-Spoofing Security: Distinguishes live human faces from printed photos or mobile screen replays.</a:t>
            </a:r>
          </a:p>
          <a:p>
            <a:pPr>
              <a:spcAft>
                <a:spcPts val="600"/>
              </a:spcAft>
              <a:defRPr sz="1150">
                <a:solidFill>
                  <a:srgbClr val="1E293B"/>
                </a:solidFill>
              </a:defRPr>
            </a:pPr>
            <a:r>
              <a:t>•  7. Faculty Web Portal: Teachers view real-time live attendance grids with 1-click Excel export.</a:t>
            </a:r>
          </a:p>
          <a:p>
            <a:pPr>
              <a:spcAft>
                <a:spcPts val="600"/>
              </a:spcAft>
              <a:defRPr sz="1150">
                <a:solidFill>
                  <a:srgbClr val="1E293B"/>
                </a:solidFill>
              </a:defRPr>
            </a:pPr>
            <a:r>
              <a:t>•  8. Automated Absentee Alerts: Automatically sends SMS/WhatsApp notifications to parents of absent students.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11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Proposed Methodology &amp; System Architecture</a:t>
            </a:r>
          </a:p>
          <a:p>
            <a:pPr>
              <a:defRPr sz="1150">
                <a:solidFill>
                  <a:srgbClr val="64748B"/>
                </a:solidFill>
              </a:defRPr>
            </a:pPr>
            <a:r>
              <a:t>Step-by-step pipeline of the Smart Attendance System</a:t>
            </a:r>
          </a:p>
        </p:txBody>
      </p:sp>
      <p:sp>
        <p:nvSpPr>
          <p:cNvPr id="8" name="Rounded Rectangle 7"/>
          <p:cNvSpPr/>
          <p:nvPr/>
        </p:nvSpPr>
        <p:spPr>
          <a:xfrm>
            <a:off x="731520" y="1463040"/>
            <a:ext cx="3328416" cy="22402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00200"/>
            <a:ext cx="3054096" cy="1920240"/>
          </a:xfrm>
          <a:prstGeom prst="rect">
            <a:avLst/>
          </a:prstGeom>
          <a:noFill/>
        </p:spPr>
        <p:txBody>
          <a:bodyPr wrap="square">
            <a:spAutoFit/>
          </a:bodyPr>
          <a:lstStyle/>
          <a:p>
            <a:pPr>
              <a:spcAft>
                <a:spcPts val="400"/>
              </a:spcAft>
              <a:defRPr sz="1100" b="1">
                <a:solidFill>
                  <a:srgbClr val="1A56DB"/>
                </a:solidFill>
              </a:defRPr>
            </a:pPr>
            <a:r>
              <a:t>STEP 01</a:t>
            </a:r>
          </a:p>
          <a:p>
            <a:pPr>
              <a:spcAft>
                <a:spcPts val="600"/>
              </a:spcAft>
              <a:defRPr sz="1400" b="1">
                <a:solidFill>
                  <a:srgbClr val="0F172A"/>
                </a:solidFill>
              </a:defRPr>
            </a:pPr>
            <a:r>
              <a:t>Video Capture</a:t>
            </a:r>
          </a:p>
          <a:p>
            <a:pPr>
              <a:defRPr sz="1100">
                <a:solidFill>
                  <a:srgbClr val="1E293B"/>
                </a:solidFill>
              </a:defRPr>
            </a:pPr>
            <a:r>
              <a:t>Classroom HD webcam captures live video frames as students enter.</a:t>
            </a:r>
          </a:p>
        </p:txBody>
      </p:sp>
      <p:sp>
        <p:nvSpPr>
          <p:cNvPr id="10" name="Rounded Rectangle 9"/>
          <p:cNvSpPr/>
          <p:nvPr/>
        </p:nvSpPr>
        <p:spPr>
          <a:xfrm>
            <a:off x="4425696" y="1463040"/>
            <a:ext cx="3328416" cy="22402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600200"/>
            <a:ext cx="3054096" cy="1920240"/>
          </a:xfrm>
          <a:prstGeom prst="rect">
            <a:avLst/>
          </a:prstGeom>
          <a:noFill/>
        </p:spPr>
        <p:txBody>
          <a:bodyPr wrap="square">
            <a:spAutoFit/>
          </a:bodyPr>
          <a:lstStyle/>
          <a:p>
            <a:pPr>
              <a:spcAft>
                <a:spcPts val="400"/>
              </a:spcAft>
              <a:defRPr sz="1100" b="1">
                <a:solidFill>
                  <a:srgbClr val="1A56DB"/>
                </a:solidFill>
              </a:defRPr>
            </a:pPr>
            <a:r>
              <a:t>STEP 02</a:t>
            </a:r>
          </a:p>
          <a:p>
            <a:pPr>
              <a:spcAft>
                <a:spcPts val="600"/>
              </a:spcAft>
              <a:defRPr sz="1400" b="1">
                <a:solidFill>
                  <a:srgbClr val="0F172A"/>
                </a:solidFill>
              </a:defRPr>
            </a:pPr>
            <a:r>
              <a:t>Face Detection</a:t>
            </a:r>
          </a:p>
          <a:p>
            <a:pPr>
              <a:defRPr sz="1100">
                <a:solidFill>
                  <a:srgbClr val="1E293B"/>
                </a:solidFill>
              </a:defRPr>
            </a:pPr>
            <a:r>
              <a:t>OpenCV / YuNet model locates all human face bounding boxes in frame.</a:t>
            </a:r>
          </a:p>
        </p:txBody>
      </p:sp>
      <p:sp>
        <p:nvSpPr>
          <p:cNvPr id="12" name="Rounded Rectangle 11"/>
          <p:cNvSpPr/>
          <p:nvPr/>
        </p:nvSpPr>
        <p:spPr>
          <a:xfrm>
            <a:off x="8119872" y="1463040"/>
            <a:ext cx="3328416" cy="22402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1600200"/>
            <a:ext cx="3054096" cy="1920240"/>
          </a:xfrm>
          <a:prstGeom prst="rect">
            <a:avLst/>
          </a:prstGeom>
          <a:noFill/>
        </p:spPr>
        <p:txBody>
          <a:bodyPr wrap="square">
            <a:spAutoFit/>
          </a:bodyPr>
          <a:lstStyle/>
          <a:p>
            <a:pPr>
              <a:spcAft>
                <a:spcPts val="400"/>
              </a:spcAft>
              <a:defRPr sz="1100" b="1">
                <a:solidFill>
                  <a:srgbClr val="1A56DB"/>
                </a:solidFill>
              </a:defRPr>
            </a:pPr>
            <a:r>
              <a:t>STEP 03</a:t>
            </a:r>
          </a:p>
          <a:p>
            <a:pPr>
              <a:spcAft>
                <a:spcPts val="600"/>
              </a:spcAft>
              <a:defRPr sz="1400" b="1">
                <a:solidFill>
                  <a:srgbClr val="0F172A"/>
                </a:solidFill>
              </a:defRPr>
            </a:pPr>
            <a:r>
              <a:t>Face Alignment</a:t>
            </a:r>
          </a:p>
          <a:p>
            <a:pPr>
              <a:defRPr sz="1100">
                <a:solidFill>
                  <a:srgbClr val="1E293B"/>
                </a:solidFill>
              </a:defRPr>
            </a:pPr>
            <a:r>
              <a:t>Normalizes eye/nose landmarks, adjusts brightness and rotation.</a:t>
            </a:r>
          </a:p>
        </p:txBody>
      </p:sp>
      <p:sp>
        <p:nvSpPr>
          <p:cNvPr id="14" name="Rounded Rectangle 13"/>
          <p:cNvSpPr/>
          <p:nvPr/>
        </p:nvSpPr>
        <p:spPr>
          <a:xfrm>
            <a:off x="731520" y="3977639"/>
            <a:ext cx="3328416" cy="22402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114800"/>
            <a:ext cx="3054096" cy="1920240"/>
          </a:xfrm>
          <a:prstGeom prst="rect">
            <a:avLst/>
          </a:prstGeom>
          <a:noFill/>
        </p:spPr>
        <p:txBody>
          <a:bodyPr wrap="square">
            <a:spAutoFit/>
          </a:bodyPr>
          <a:lstStyle/>
          <a:p>
            <a:pPr>
              <a:spcAft>
                <a:spcPts val="400"/>
              </a:spcAft>
              <a:defRPr sz="1100" b="1">
                <a:solidFill>
                  <a:srgbClr val="10B981"/>
                </a:solidFill>
              </a:defRPr>
            </a:pPr>
            <a:r>
              <a:t>STEP 04</a:t>
            </a:r>
          </a:p>
          <a:p>
            <a:pPr>
              <a:spcAft>
                <a:spcPts val="600"/>
              </a:spcAft>
              <a:defRPr sz="1400" b="1">
                <a:solidFill>
                  <a:srgbClr val="0F172A"/>
                </a:solidFill>
              </a:defRPr>
            </a:pPr>
            <a:r>
              <a:t>Feature Extraction</a:t>
            </a:r>
          </a:p>
          <a:p>
            <a:pPr>
              <a:defRPr sz="1100">
                <a:solidFill>
                  <a:srgbClr val="1E293B"/>
                </a:solidFill>
              </a:defRPr>
            </a:pPr>
            <a:r>
              <a:t>Deep CNN model converts facial geometry into 128D embedding vectors.</a:t>
            </a:r>
          </a:p>
        </p:txBody>
      </p:sp>
      <p:sp>
        <p:nvSpPr>
          <p:cNvPr id="16" name="Rounded Rectangle 15"/>
          <p:cNvSpPr/>
          <p:nvPr/>
        </p:nvSpPr>
        <p:spPr>
          <a:xfrm>
            <a:off x="4425696" y="3977639"/>
            <a:ext cx="3328416" cy="22402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2856" y="4114800"/>
            <a:ext cx="3054096" cy="1920240"/>
          </a:xfrm>
          <a:prstGeom prst="rect">
            <a:avLst/>
          </a:prstGeom>
          <a:noFill/>
        </p:spPr>
        <p:txBody>
          <a:bodyPr wrap="square">
            <a:spAutoFit/>
          </a:bodyPr>
          <a:lstStyle/>
          <a:p>
            <a:pPr>
              <a:spcAft>
                <a:spcPts val="400"/>
              </a:spcAft>
              <a:defRPr sz="1100" b="1">
                <a:solidFill>
                  <a:srgbClr val="10B981"/>
                </a:solidFill>
              </a:defRPr>
            </a:pPr>
            <a:r>
              <a:t>STEP 05</a:t>
            </a:r>
          </a:p>
          <a:p>
            <a:pPr>
              <a:spcAft>
                <a:spcPts val="600"/>
              </a:spcAft>
              <a:defRPr sz="1400" b="1">
                <a:solidFill>
                  <a:srgbClr val="0F172A"/>
                </a:solidFill>
              </a:defRPr>
            </a:pPr>
            <a:r>
              <a:t>Database Matching</a:t>
            </a:r>
          </a:p>
          <a:p>
            <a:pPr>
              <a:defRPr sz="1100">
                <a:solidFill>
                  <a:srgbClr val="1E293B"/>
                </a:solidFill>
              </a:defRPr>
            </a:pPr>
            <a:r>
              <a:t>Compares embeddings with enrolled student vectors using Euclidean distance.</a:t>
            </a:r>
          </a:p>
        </p:txBody>
      </p:sp>
      <p:sp>
        <p:nvSpPr>
          <p:cNvPr id="18" name="Rounded Rectangle 17"/>
          <p:cNvSpPr/>
          <p:nvPr/>
        </p:nvSpPr>
        <p:spPr>
          <a:xfrm>
            <a:off x="8119872" y="3977639"/>
            <a:ext cx="3328416" cy="22402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1" y="4114800"/>
            <a:ext cx="3054096" cy="1920240"/>
          </a:xfrm>
          <a:prstGeom prst="rect">
            <a:avLst/>
          </a:prstGeom>
          <a:noFill/>
        </p:spPr>
        <p:txBody>
          <a:bodyPr wrap="square">
            <a:spAutoFit/>
          </a:bodyPr>
          <a:lstStyle/>
          <a:p>
            <a:pPr>
              <a:spcAft>
                <a:spcPts val="400"/>
              </a:spcAft>
              <a:defRPr sz="1100" b="1">
                <a:solidFill>
                  <a:srgbClr val="10B981"/>
                </a:solidFill>
              </a:defRPr>
            </a:pPr>
            <a:r>
              <a:t>STEP 06</a:t>
            </a:r>
          </a:p>
          <a:p>
            <a:pPr>
              <a:spcAft>
                <a:spcPts val="600"/>
              </a:spcAft>
              <a:defRPr sz="1400" b="1">
                <a:solidFill>
                  <a:srgbClr val="0F172A"/>
                </a:solidFill>
              </a:defRPr>
            </a:pPr>
            <a:r>
              <a:t>Logging &amp; Dashboard</a:t>
            </a:r>
          </a:p>
          <a:p>
            <a:pPr>
              <a:defRPr sz="1100">
                <a:solidFill>
                  <a:srgbClr val="1E293B"/>
                </a:solidFill>
              </a:defRPr>
            </a:pPr>
            <a:r>
              <a:t>Updates attendance database instantly and triggers SMS/Excel reports!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12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Tools &amp; Technologies Used</a:t>
            </a:r>
          </a:p>
          <a:p>
            <a:pPr>
              <a:defRPr sz="1150">
                <a:solidFill>
                  <a:srgbClr val="64748B"/>
                </a:solidFill>
              </a:defRPr>
            </a:pPr>
            <a:r>
              <a:t>Hardware, software, and AI libraries chosen</a:t>
            </a:r>
          </a:p>
        </p:txBody>
      </p:sp>
      <p:sp>
        <p:nvSpPr>
          <p:cNvPr id="8" name="Rounded Rectangle 7"/>
          <p:cNvSpPr/>
          <p:nvPr/>
        </p:nvSpPr>
        <p:spPr>
          <a:xfrm>
            <a:off x="731520" y="1463040"/>
            <a:ext cx="5120640"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Core Programming &amp; Vision</a:t>
            </a:r>
          </a:p>
          <a:p>
            <a:pPr>
              <a:spcAft>
                <a:spcPts val="600"/>
              </a:spcAft>
              <a:defRPr sz="1150">
                <a:solidFill>
                  <a:srgbClr val="1E293B"/>
                </a:solidFill>
              </a:defRPr>
            </a:pPr>
            <a:r>
              <a:t>•  Python 3.10+: Core programming language.</a:t>
            </a:r>
          </a:p>
          <a:p>
            <a:pPr>
              <a:spcAft>
                <a:spcPts val="600"/>
              </a:spcAft>
              <a:defRPr sz="1150">
                <a:solidFill>
                  <a:srgbClr val="1E293B"/>
                </a:solidFill>
              </a:defRPr>
            </a:pPr>
            <a:r>
              <a:t>•  OpenCV (cv2): Real-time computer vision &amp; video stream handling.</a:t>
            </a:r>
          </a:p>
          <a:p>
            <a:pPr>
              <a:spcAft>
                <a:spcPts val="600"/>
              </a:spcAft>
              <a:defRPr sz="1150">
                <a:solidFill>
                  <a:srgbClr val="1E293B"/>
                </a:solidFill>
              </a:defRPr>
            </a:pPr>
            <a:r>
              <a:t>•  NumPy: High-speed matrix operations and vector math.</a:t>
            </a:r>
          </a:p>
          <a:p>
            <a:pPr>
              <a:spcAft>
                <a:spcPts val="600"/>
              </a:spcAft>
              <a:defRPr sz="1150">
                <a:solidFill>
                  <a:srgbClr val="1E293B"/>
                </a:solidFill>
              </a:defRPr>
            </a:pPr>
            <a:r>
              <a:t>•  Why chosen: Standard industry stack for computer vision applications.</a:t>
            </a:r>
          </a:p>
        </p:txBody>
      </p:sp>
      <p:sp>
        <p:nvSpPr>
          <p:cNvPr id="10" name="Rounded Rectangle 9"/>
          <p:cNvSpPr/>
          <p:nvPr/>
        </p:nvSpPr>
        <p:spPr>
          <a:xfrm>
            <a:off x="6217920" y="1463040"/>
            <a:ext cx="52422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Deep Learning Face AI</a:t>
            </a:r>
          </a:p>
          <a:p>
            <a:pPr>
              <a:spcAft>
                <a:spcPts val="600"/>
              </a:spcAft>
              <a:defRPr sz="1150">
                <a:solidFill>
                  <a:srgbClr val="1E293B"/>
                </a:solidFill>
              </a:defRPr>
            </a:pPr>
            <a:r>
              <a:t>•  dlib / FaceNet: Deep metric learning for 128D facial embeddings.</a:t>
            </a:r>
          </a:p>
          <a:p>
            <a:pPr>
              <a:spcAft>
                <a:spcPts val="600"/>
              </a:spcAft>
              <a:defRPr sz="1150">
                <a:solidFill>
                  <a:srgbClr val="1E293B"/>
                </a:solidFill>
              </a:defRPr>
            </a:pPr>
            <a:r>
              <a:t>•  YuNet / Haar Cascade: Fast, lightweight face landmark detection.</a:t>
            </a:r>
          </a:p>
          <a:p>
            <a:pPr>
              <a:spcAft>
                <a:spcPts val="600"/>
              </a:spcAft>
              <a:defRPr sz="1150">
                <a:solidFill>
                  <a:srgbClr val="1E293B"/>
                </a:solidFill>
              </a:defRPr>
            </a:pPr>
            <a:r>
              <a:t>•  Liveness Detection: Anti-spoofing blink and texture verification.</a:t>
            </a:r>
          </a:p>
          <a:p>
            <a:pPr>
              <a:spcAft>
                <a:spcPts val="600"/>
              </a:spcAft>
              <a:defRPr sz="1150">
                <a:solidFill>
                  <a:srgbClr val="1E293B"/>
                </a:solidFill>
              </a:defRPr>
            </a:pPr>
            <a:r>
              <a:t>•  Why chosen: &gt;95% accuracy while running smoothly on standard laptops.</a:t>
            </a:r>
          </a:p>
        </p:txBody>
      </p:sp>
      <p:sp>
        <p:nvSpPr>
          <p:cNvPr id="12" name="Rounded Rectangle 11"/>
          <p:cNvSpPr/>
          <p:nvPr/>
        </p:nvSpPr>
        <p:spPr>
          <a:xfrm>
            <a:off x="731520" y="393192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Backend API &amp; Database</a:t>
            </a:r>
          </a:p>
          <a:p>
            <a:pPr>
              <a:spcAft>
                <a:spcPts val="600"/>
              </a:spcAft>
              <a:defRPr sz="1150">
                <a:solidFill>
                  <a:srgbClr val="1E293B"/>
                </a:solidFill>
              </a:defRPr>
            </a:pPr>
            <a:r>
              <a:t>•  FastAPI / Flask: High-speed asynchronous Python REST API.</a:t>
            </a:r>
          </a:p>
          <a:p>
            <a:pPr>
              <a:spcAft>
                <a:spcPts val="600"/>
              </a:spcAft>
              <a:defRPr sz="1150">
                <a:solidFill>
                  <a:srgbClr val="1E293B"/>
                </a:solidFill>
              </a:defRPr>
            </a:pPr>
            <a:r>
              <a:t>•  SQLite / PostgreSQL: Structured student records and timestamp logs.</a:t>
            </a:r>
          </a:p>
          <a:p>
            <a:pPr>
              <a:spcAft>
                <a:spcPts val="600"/>
              </a:spcAft>
              <a:defRPr sz="1150">
                <a:solidFill>
                  <a:srgbClr val="1E293B"/>
                </a:solidFill>
              </a:defRPr>
            </a:pPr>
            <a:r>
              <a:t>•  Pandas: Automated Excel report generator (.xlsx / .csv).</a:t>
            </a:r>
          </a:p>
          <a:p>
            <a:pPr>
              <a:spcAft>
                <a:spcPts val="600"/>
              </a:spcAft>
              <a:defRPr sz="1150">
                <a:solidFill>
                  <a:srgbClr val="1E293B"/>
                </a:solidFill>
              </a:defRPr>
            </a:pPr>
            <a:r>
              <a:t>•  Why chosen: Reliable, lightweight, and supports instant data export.</a:t>
            </a:r>
          </a:p>
        </p:txBody>
      </p:sp>
      <p:sp>
        <p:nvSpPr>
          <p:cNvPr id="14" name="Rounded Rectangle 13"/>
          <p:cNvSpPr/>
          <p:nvPr/>
        </p:nvSpPr>
        <p:spPr>
          <a:xfrm>
            <a:off x="6217920" y="3931920"/>
            <a:ext cx="52422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Web Dashboard &amp; Hardware</a:t>
            </a:r>
          </a:p>
          <a:p>
            <a:pPr>
              <a:spcAft>
                <a:spcPts val="600"/>
              </a:spcAft>
              <a:defRPr sz="1150">
                <a:solidFill>
                  <a:srgbClr val="1E293B"/>
                </a:solidFill>
              </a:defRPr>
            </a:pPr>
            <a:r>
              <a:t>•  HTML5, CSS3, JavaScript / React: Responsive faculty web dashboard.</a:t>
            </a:r>
          </a:p>
          <a:p>
            <a:pPr>
              <a:spcAft>
                <a:spcPts val="600"/>
              </a:spcAft>
              <a:defRPr sz="1150">
                <a:solidFill>
                  <a:srgbClr val="1E293B"/>
                </a:solidFill>
              </a:defRPr>
            </a:pPr>
            <a:r>
              <a:t>•  Hardware: Standard 1080p USB Webcam or CCTV IP camera.</a:t>
            </a:r>
          </a:p>
          <a:p>
            <a:pPr>
              <a:spcAft>
                <a:spcPts val="600"/>
              </a:spcAft>
              <a:defRPr sz="1150">
                <a:solidFill>
                  <a:srgbClr val="1E293B"/>
                </a:solidFill>
              </a:defRPr>
            </a:pPr>
            <a:r>
              <a:t>•  Twilio / SMTP: Automated SMS &amp; email notifications for absent alerts.</a:t>
            </a:r>
          </a:p>
          <a:p>
            <a:pPr>
              <a:spcAft>
                <a:spcPts val="600"/>
              </a:spcAft>
              <a:defRPr sz="1150">
                <a:solidFill>
                  <a:srgbClr val="1E293B"/>
                </a:solidFill>
              </a:defRPr>
            </a:pPr>
            <a:r>
              <a:t>•  Why chosen: Low cost, works with existing college computer infrastructure.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13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Work Completed So Far (Our Results)</a:t>
            </a:r>
          </a:p>
          <a:p>
            <a:pPr>
              <a:defRPr sz="1150">
                <a:solidFill>
                  <a:srgbClr val="64748B"/>
                </a:solidFill>
              </a:defRPr>
            </a:pPr>
            <a:r>
              <a:t>Phase 1 deliverables and practical prototype achievements</a:t>
            </a:r>
          </a:p>
        </p:txBody>
      </p:sp>
      <p:sp>
        <p:nvSpPr>
          <p:cNvPr id="8" name="Rounded Rectangle 7"/>
          <p:cNvSpPr/>
          <p:nvPr/>
        </p:nvSpPr>
        <p:spPr>
          <a:xfrm>
            <a:off x="731520" y="146304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Live Camera Stream &amp; Detection</a:t>
            </a:r>
          </a:p>
          <a:p>
            <a:pPr>
              <a:spcAft>
                <a:spcPts val="600"/>
              </a:spcAft>
              <a:defRPr sz="1150">
                <a:solidFill>
                  <a:srgbClr val="1E293B"/>
                </a:solidFill>
              </a:defRPr>
            </a:pPr>
            <a:r>
              <a:t>•  Connected live webcam video stream with OpenCV.</a:t>
            </a:r>
          </a:p>
          <a:p>
            <a:pPr>
              <a:spcAft>
                <a:spcPts val="600"/>
              </a:spcAft>
              <a:defRPr sz="1150">
                <a:solidFill>
                  <a:srgbClr val="1E293B"/>
                </a:solidFill>
              </a:defRPr>
            </a:pPr>
            <a:r>
              <a:t>•  Detects multiple faces in real-time at 30 frames per second.</a:t>
            </a:r>
          </a:p>
          <a:p>
            <a:pPr>
              <a:spcAft>
                <a:spcPts val="600"/>
              </a:spcAft>
              <a:defRPr sz="1150">
                <a:solidFill>
                  <a:srgbClr val="1E293B"/>
                </a:solidFill>
              </a:defRPr>
            </a:pPr>
            <a:r>
              <a:t>•  Draws bounding boxes and labels around detected faces.</a:t>
            </a:r>
          </a:p>
          <a:p>
            <a:pPr>
              <a:spcAft>
                <a:spcPts val="600"/>
              </a:spcAft>
              <a:defRPr sz="1150">
                <a:solidFill>
                  <a:srgbClr val="1E293B"/>
                </a:solidFill>
              </a:defRPr>
            </a:pPr>
            <a:r>
              <a:t>•  Status: 100% Completed &amp; Verified.</a:t>
            </a:r>
          </a:p>
        </p:txBody>
      </p:sp>
      <p:sp>
        <p:nvSpPr>
          <p:cNvPr id="10" name="Rounded Rectangle 9"/>
          <p:cNvSpPr/>
          <p:nvPr/>
        </p:nvSpPr>
        <p:spPr>
          <a:xfrm>
            <a:off x="6217920" y="1463040"/>
            <a:ext cx="5242255"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Student Dataset &amp; Embedding Generation</a:t>
            </a:r>
          </a:p>
          <a:p>
            <a:pPr>
              <a:spcAft>
                <a:spcPts val="600"/>
              </a:spcAft>
              <a:defRPr sz="1150">
                <a:solidFill>
                  <a:srgbClr val="1E293B"/>
                </a:solidFill>
              </a:defRPr>
            </a:pPr>
            <a:r>
              <a:t>•  Built enrollment module: captures 20 image samples per student.</a:t>
            </a:r>
          </a:p>
          <a:p>
            <a:pPr>
              <a:spcAft>
                <a:spcPts val="600"/>
              </a:spcAft>
              <a:defRPr sz="1150">
                <a:solidFill>
                  <a:srgbClr val="1E293B"/>
                </a:solidFill>
              </a:defRPr>
            </a:pPr>
            <a:r>
              <a:t>•  Generated and stored 128D facial feature vectors.</a:t>
            </a:r>
          </a:p>
          <a:p>
            <a:pPr>
              <a:spcAft>
                <a:spcPts val="600"/>
              </a:spcAft>
              <a:defRPr sz="1150">
                <a:solidFill>
                  <a:srgbClr val="1E293B"/>
                </a:solidFill>
              </a:defRPr>
            </a:pPr>
            <a:r>
              <a:t>•  Tested on test student profiles with high similarity confidence.</a:t>
            </a:r>
          </a:p>
          <a:p>
            <a:pPr>
              <a:spcAft>
                <a:spcPts val="600"/>
              </a:spcAft>
              <a:defRPr sz="1150">
                <a:solidFill>
                  <a:srgbClr val="1E293B"/>
                </a:solidFill>
              </a:defRPr>
            </a:pPr>
            <a:r>
              <a:t>•  Status: 100% Completed &amp; Verified.</a:t>
            </a:r>
          </a:p>
        </p:txBody>
      </p:sp>
      <p:sp>
        <p:nvSpPr>
          <p:cNvPr id="12" name="Rounded Rectangle 11"/>
          <p:cNvSpPr/>
          <p:nvPr/>
        </p:nvSpPr>
        <p:spPr>
          <a:xfrm>
            <a:off x="731520" y="3931920"/>
            <a:ext cx="5120640"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Real-Time Recognition &amp; Matching</a:t>
            </a:r>
          </a:p>
          <a:p>
            <a:pPr>
              <a:spcAft>
                <a:spcPts val="600"/>
              </a:spcAft>
              <a:defRPr sz="1150">
                <a:solidFill>
                  <a:srgbClr val="1E293B"/>
                </a:solidFill>
              </a:defRPr>
            </a:pPr>
            <a:r>
              <a:t>•  System matches live camera faces against database vectors.</a:t>
            </a:r>
          </a:p>
          <a:p>
            <a:pPr>
              <a:spcAft>
                <a:spcPts val="600"/>
              </a:spcAft>
              <a:defRPr sz="1150">
                <a:solidFill>
                  <a:srgbClr val="1E293B"/>
                </a:solidFill>
              </a:defRPr>
            </a:pPr>
            <a:r>
              <a:t>•  Displays student Name and Register Number on screen in real time.</a:t>
            </a:r>
          </a:p>
          <a:p>
            <a:pPr>
              <a:spcAft>
                <a:spcPts val="600"/>
              </a:spcAft>
              <a:defRPr sz="1150">
                <a:solidFill>
                  <a:srgbClr val="1E293B"/>
                </a:solidFill>
              </a:defRPr>
            </a:pPr>
            <a:r>
              <a:t>•  Overcomes minor head rotations and glasses.</a:t>
            </a:r>
          </a:p>
          <a:p>
            <a:pPr>
              <a:spcAft>
                <a:spcPts val="600"/>
              </a:spcAft>
              <a:defRPr sz="1150">
                <a:solidFill>
                  <a:srgbClr val="1E293B"/>
                </a:solidFill>
              </a:defRPr>
            </a:pPr>
            <a:r>
              <a:t>•  Status: 100% Completed &amp; Verified.</a:t>
            </a:r>
          </a:p>
        </p:txBody>
      </p:sp>
      <p:sp>
        <p:nvSpPr>
          <p:cNvPr id="14" name="Rounded Rectangle 13"/>
          <p:cNvSpPr/>
          <p:nvPr/>
        </p:nvSpPr>
        <p:spPr>
          <a:xfrm>
            <a:off x="6217920" y="3931920"/>
            <a:ext cx="5242255"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Automated Attendance Logging</a:t>
            </a:r>
          </a:p>
          <a:p>
            <a:pPr>
              <a:spcAft>
                <a:spcPts val="600"/>
              </a:spcAft>
              <a:defRPr sz="1150">
                <a:solidFill>
                  <a:srgbClr val="1E293B"/>
                </a:solidFill>
              </a:defRPr>
            </a:pPr>
            <a:r>
              <a:t>•  System logs Register No, Name, Date, and Time into SQLite.</a:t>
            </a:r>
          </a:p>
          <a:p>
            <a:pPr>
              <a:spcAft>
                <a:spcPts val="600"/>
              </a:spcAft>
              <a:defRPr sz="1150">
                <a:solidFill>
                  <a:srgbClr val="1E293B"/>
                </a:solidFill>
              </a:defRPr>
            </a:pPr>
            <a:r>
              <a:t>•  Prevents duplicate entries within the same period (debouncing).</a:t>
            </a:r>
          </a:p>
          <a:p>
            <a:pPr>
              <a:spcAft>
                <a:spcPts val="600"/>
              </a:spcAft>
              <a:defRPr sz="1150">
                <a:solidFill>
                  <a:srgbClr val="1E293B"/>
                </a:solidFill>
              </a:defRPr>
            </a:pPr>
            <a:r>
              <a:t>•  Generates clean Excel spreadsheet (.csv) automatically.</a:t>
            </a:r>
          </a:p>
          <a:p>
            <a:pPr>
              <a:spcAft>
                <a:spcPts val="600"/>
              </a:spcAft>
              <a:defRPr sz="1150">
                <a:solidFill>
                  <a:srgbClr val="1E293B"/>
                </a:solidFill>
              </a:defRPr>
            </a:pPr>
            <a:r>
              <a:t>•  Status: 100% Completed &amp; Verified.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14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Expected Outcomes: Big Benefits for Institutions</a:t>
            </a:r>
          </a:p>
          <a:p>
            <a:pPr>
              <a:defRPr sz="1150">
                <a:solidFill>
                  <a:srgbClr val="64748B"/>
                </a:solidFill>
              </a:defRPr>
            </a:pPr>
            <a:r>
              <a:t>Measurable quantitative and qualitative impact</a:t>
            </a:r>
          </a:p>
        </p:txBody>
      </p:sp>
      <p:sp>
        <p:nvSpPr>
          <p:cNvPr id="8" name="Rounded Rectangle 7"/>
          <p:cNvSpPr/>
          <p:nvPr/>
        </p:nvSpPr>
        <p:spPr>
          <a:xfrm>
            <a:off x="731520" y="146304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95% Time Savings for Teachers</a:t>
            </a:r>
          </a:p>
          <a:p>
            <a:pPr>
              <a:spcAft>
                <a:spcPts val="600"/>
              </a:spcAft>
              <a:defRPr sz="1150">
                <a:solidFill>
                  <a:srgbClr val="1E293B"/>
                </a:solidFill>
              </a:defRPr>
            </a:pPr>
            <a:r>
              <a:t>•  Manual roll call: 10 to 15 minutes per lecture.</a:t>
            </a:r>
          </a:p>
          <a:p>
            <a:pPr>
              <a:spcAft>
                <a:spcPts val="600"/>
              </a:spcAft>
              <a:defRPr sz="1150">
                <a:solidFill>
                  <a:srgbClr val="1E293B"/>
                </a:solidFill>
              </a:defRPr>
            </a:pPr>
            <a:r>
              <a:t>•  Smart Attendance: Complete class marked in under 30 seconds.</a:t>
            </a:r>
          </a:p>
          <a:p>
            <a:pPr>
              <a:spcAft>
                <a:spcPts val="600"/>
              </a:spcAft>
              <a:defRPr sz="1150">
                <a:solidFill>
                  <a:srgbClr val="1E293B"/>
                </a:solidFill>
              </a:defRPr>
            </a:pPr>
            <a:r>
              <a:t>•  Saves over 60 teaching hours per classroom every semester.</a:t>
            </a:r>
          </a:p>
        </p:txBody>
      </p:sp>
      <p:sp>
        <p:nvSpPr>
          <p:cNvPr id="10" name="Rounded Rectangle 9"/>
          <p:cNvSpPr/>
          <p:nvPr/>
        </p:nvSpPr>
        <p:spPr>
          <a:xfrm>
            <a:off x="6217920" y="1463040"/>
            <a:ext cx="5242255"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Zero Proxy &amp; Fake Attendance</a:t>
            </a:r>
          </a:p>
          <a:p>
            <a:pPr>
              <a:spcAft>
                <a:spcPts val="600"/>
              </a:spcAft>
              <a:defRPr sz="1150">
                <a:solidFill>
                  <a:srgbClr val="1E293B"/>
                </a:solidFill>
              </a:defRPr>
            </a:pPr>
            <a:r>
              <a:t>•  100% elimination of proxy attendance and roll call shouting.</a:t>
            </a:r>
          </a:p>
          <a:p>
            <a:pPr>
              <a:spcAft>
                <a:spcPts val="600"/>
              </a:spcAft>
              <a:defRPr sz="1150">
                <a:solidFill>
                  <a:srgbClr val="1E293B"/>
                </a:solidFill>
              </a:defRPr>
            </a:pPr>
            <a:r>
              <a:t>•  Biometric verification guarantees physical presence.</a:t>
            </a:r>
          </a:p>
          <a:p>
            <a:pPr>
              <a:spcAft>
                <a:spcPts val="600"/>
              </a:spcAft>
              <a:defRPr sz="1150">
                <a:solidFill>
                  <a:srgbClr val="1E293B"/>
                </a:solidFill>
              </a:defRPr>
            </a:pPr>
            <a:r>
              <a:t>•  Accurate attendance records for Anna University / AICTE compliance.</a:t>
            </a:r>
          </a:p>
        </p:txBody>
      </p:sp>
      <p:sp>
        <p:nvSpPr>
          <p:cNvPr id="12" name="Rounded Rectangle 11"/>
          <p:cNvSpPr/>
          <p:nvPr/>
        </p:nvSpPr>
        <p:spPr>
          <a:xfrm>
            <a:off x="731520" y="3931920"/>
            <a:ext cx="5120640"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100% Contactless &amp; Clean</a:t>
            </a:r>
          </a:p>
          <a:p>
            <a:pPr>
              <a:spcAft>
                <a:spcPts val="600"/>
              </a:spcAft>
              <a:defRPr sz="1150">
                <a:solidFill>
                  <a:srgbClr val="1E293B"/>
                </a:solidFill>
              </a:defRPr>
            </a:pPr>
            <a:r>
              <a:t>•  100% contactless operation—zero touch of physical biometric hardware.</a:t>
            </a:r>
          </a:p>
          <a:p>
            <a:pPr>
              <a:spcAft>
                <a:spcPts val="600"/>
              </a:spcAft>
              <a:defRPr sz="1150">
                <a:solidFill>
                  <a:srgbClr val="1E293B"/>
                </a:solidFill>
              </a:defRPr>
            </a:pPr>
            <a:r>
              <a:t>•  Zero queue buildup outside class doors.</a:t>
            </a:r>
          </a:p>
          <a:p>
            <a:pPr>
              <a:spcAft>
                <a:spcPts val="600"/>
              </a:spcAft>
              <a:defRPr sz="1150">
                <a:solidFill>
                  <a:srgbClr val="1E293B"/>
                </a:solidFill>
              </a:defRPr>
            </a:pPr>
            <a:r>
              <a:t>•  Maintains high hygiene standards during viral seasons.</a:t>
            </a:r>
          </a:p>
        </p:txBody>
      </p:sp>
      <p:sp>
        <p:nvSpPr>
          <p:cNvPr id="14" name="Rounded Rectangle 13"/>
          <p:cNvSpPr/>
          <p:nvPr/>
        </p:nvSpPr>
        <p:spPr>
          <a:xfrm>
            <a:off x="6217920" y="3931920"/>
            <a:ext cx="52422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Automated Parent SMS &amp; ERP Sync</a:t>
            </a:r>
          </a:p>
          <a:p>
            <a:pPr>
              <a:spcAft>
                <a:spcPts val="600"/>
              </a:spcAft>
              <a:defRPr sz="1150">
                <a:solidFill>
                  <a:srgbClr val="1E293B"/>
                </a:solidFill>
              </a:defRPr>
            </a:pPr>
            <a:r>
              <a:t>•  Faculty views live attendance percentages with 1-click reports.</a:t>
            </a:r>
          </a:p>
          <a:p>
            <a:pPr>
              <a:spcAft>
                <a:spcPts val="600"/>
              </a:spcAft>
              <a:defRPr sz="1150">
                <a:solidFill>
                  <a:srgbClr val="1E293B"/>
                </a:solidFill>
              </a:defRPr>
            </a:pPr>
            <a:r>
              <a:t>•  Automated alerts sent to parents of absent students.</a:t>
            </a:r>
          </a:p>
          <a:p>
            <a:pPr>
              <a:spcAft>
                <a:spcPts val="600"/>
              </a:spcAft>
              <a:defRPr sz="1150">
                <a:solidFill>
                  <a:srgbClr val="1E293B"/>
                </a:solidFill>
              </a:defRPr>
            </a:pPr>
            <a:r>
              <a:t>•  Directly integrates with college management ERP software.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15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Project Timeline &amp; Work Plan</a:t>
            </a:r>
          </a:p>
          <a:p>
            <a:pPr>
              <a:defRPr sz="1150">
                <a:solidFill>
                  <a:srgbClr val="64748B"/>
                </a:solidFill>
              </a:defRPr>
            </a:pPr>
            <a:r>
              <a:t>Roadmap across the three review stages</a:t>
            </a:r>
          </a:p>
        </p:txBody>
      </p:sp>
      <p:sp>
        <p:nvSpPr>
          <p:cNvPr id="8" name="Rounded Rectangle 7"/>
          <p:cNvSpPr/>
          <p:nvPr/>
        </p:nvSpPr>
        <p:spPr>
          <a:xfrm>
            <a:off x="731520" y="146304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Phase 1: Working Prototype [DONE]</a:t>
            </a:r>
          </a:p>
          <a:p>
            <a:pPr>
              <a:spcAft>
                <a:spcPts val="600"/>
              </a:spcAft>
              <a:defRPr sz="1150">
                <a:solidFill>
                  <a:srgbClr val="1E293B"/>
                </a:solidFill>
              </a:defRPr>
            </a:pPr>
            <a:r>
              <a:t>•  Literature review on face recognition algorithms.</a:t>
            </a:r>
          </a:p>
          <a:p>
            <a:pPr>
              <a:spcAft>
                <a:spcPts val="600"/>
              </a:spcAft>
              <a:defRPr sz="1150">
                <a:solidFill>
                  <a:srgbClr val="1E293B"/>
                </a:solidFill>
              </a:defRPr>
            </a:pPr>
            <a:r>
              <a:t>•  Real-time webcam integration with OpenCV.</a:t>
            </a:r>
          </a:p>
          <a:p>
            <a:pPr>
              <a:spcAft>
                <a:spcPts val="600"/>
              </a:spcAft>
              <a:defRPr sz="1150">
                <a:solidFill>
                  <a:srgbClr val="1E293B"/>
                </a:solidFill>
              </a:defRPr>
            </a:pPr>
            <a:r>
              <a:t>•  Dataset creation &amp; 128D facial vector generation.</a:t>
            </a:r>
          </a:p>
          <a:p>
            <a:pPr>
              <a:spcAft>
                <a:spcPts val="600"/>
              </a:spcAft>
              <a:defRPr sz="1150">
                <a:solidFill>
                  <a:srgbClr val="1E293B"/>
                </a:solidFill>
              </a:defRPr>
            </a:pPr>
            <a:r>
              <a:t>•  Core recognition &amp; SQLite logging prototype.</a:t>
            </a:r>
          </a:p>
          <a:p>
            <a:pPr>
              <a:spcAft>
                <a:spcPts val="600"/>
              </a:spcAft>
              <a:defRPr sz="1150">
                <a:solidFill>
                  <a:srgbClr val="1E293B"/>
                </a:solidFill>
              </a:defRPr>
            </a:pPr>
            <a:r>
              <a:t>•  Current Status: Working prototype demonstrated in Review 1.</a:t>
            </a:r>
          </a:p>
        </p:txBody>
      </p:sp>
      <p:sp>
        <p:nvSpPr>
          <p:cNvPr id="10" name="Rounded Rectangle 9"/>
          <p:cNvSpPr/>
          <p:nvPr/>
        </p:nvSpPr>
        <p:spPr>
          <a:xfrm>
            <a:off x="6217920" y="1463040"/>
            <a:ext cx="5242255"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Phase 2: Anti-Spoofing &amp; Web Dashboard [MID REVIEW]</a:t>
            </a:r>
          </a:p>
          <a:p>
            <a:pPr>
              <a:spcAft>
                <a:spcPts val="600"/>
              </a:spcAft>
              <a:defRPr sz="1150">
                <a:solidFill>
                  <a:srgbClr val="1E293B"/>
                </a:solidFill>
              </a:defRPr>
            </a:pPr>
            <a:r>
              <a:t>•  Implement anti-spoofing (eye-blink and liveness detection).</a:t>
            </a:r>
          </a:p>
          <a:p>
            <a:pPr>
              <a:spcAft>
                <a:spcPts val="600"/>
              </a:spcAft>
              <a:defRPr sz="1150">
                <a:solidFill>
                  <a:srgbClr val="1E293B"/>
                </a:solidFill>
              </a:defRPr>
            </a:pPr>
            <a:r>
              <a:t>•  Build Faculty Web Dashboard with attendance analytics.</a:t>
            </a:r>
          </a:p>
          <a:p>
            <a:pPr>
              <a:spcAft>
                <a:spcPts val="600"/>
              </a:spcAft>
              <a:defRPr sz="1150">
                <a:solidFill>
                  <a:srgbClr val="1E293B"/>
                </a:solidFill>
              </a:defRPr>
            </a:pPr>
            <a:r>
              <a:t>•  Add automated absentee SMS / Email notification module.</a:t>
            </a:r>
          </a:p>
          <a:p>
            <a:pPr>
              <a:spcAft>
                <a:spcPts val="600"/>
              </a:spcAft>
              <a:defRPr sz="1150">
                <a:solidFill>
                  <a:srgbClr val="1E293B"/>
                </a:solidFill>
              </a:defRPr>
            </a:pPr>
            <a:r>
              <a:t>•  Test with 50+ students under varied lighting conditions.</a:t>
            </a:r>
          </a:p>
        </p:txBody>
      </p:sp>
      <p:sp>
        <p:nvSpPr>
          <p:cNvPr id="12" name="Rounded Rectangle 11"/>
          <p:cNvSpPr/>
          <p:nvPr/>
        </p:nvSpPr>
        <p:spPr>
          <a:xfrm>
            <a:off x="731520" y="3931920"/>
            <a:ext cx="107286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14800"/>
            <a:ext cx="10271455" cy="1965960"/>
          </a:xfrm>
          <a:prstGeom prst="rect">
            <a:avLst/>
          </a:prstGeom>
          <a:noFill/>
        </p:spPr>
        <p:txBody>
          <a:bodyPr wrap="square">
            <a:spAutoFit/>
          </a:bodyPr>
          <a:lstStyle/>
          <a:p>
            <a:pPr>
              <a:spcAft>
                <a:spcPts val="800"/>
              </a:spcAft>
              <a:defRPr sz="1400" b="1">
                <a:solidFill>
                  <a:srgbClr val="0F172A"/>
                </a:solidFill>
              </a:defRPr>
            </a:pPr>
            <a:r>
              <a:t>🌐  Phase 3: ERP Integration &amp; Final Benchmarking [FINAL REVIEW]</a:t>
            </a:r>
          </a:p>
          <a:p>
            <a:pPr>
              <a:spcAft>
                <a:spcPts val="600"/>
              </a:spcAft>
              <a:defRPr sz="1150">
                <a:solidFill>
                  <a:srgbClr val="1E293B"/>
                </a:solidFill>
              </a:defRPr>
            </a:pPr>
            <a:r>
              <a:t>•  Optimize multi-face detection speed using GPU acceleration.</a:t>
            </a:r>
          </a:p>
          <a:p>
            <a:pPr>
              <a:spcAft>
                <a:spcPts val="600"/>
              </a:spcAft>
              <a:defRPr sz="1150">
                <a:solidFill>
                  <a:srgbClr val="1E293B"/>
                </a:solidFill>
              </a:defRPr>
            </a:pPr>
            <a:r>
              <a:t>•  Integrate with college ERP / database management systems.</a:t>
            </a:r>
          </a:p>
          <a:p>
            <a:pPr>
              <a:spcAft>
                <a:spcPts val="600"/>
              </a:spcAft>
              <a:defRPr sz="1150">
                <a:solidFill>
                  <a:srgbClr val="1E293B"/>
                </a:solidFill>
              </a:defRPr>
            </a:pPr>
            <a:r>
              <a:t>•  Benchmark accuracy metrics (Precision, Recall, F1-Score).</a:t>
            </a:r>
          </a:p>
          <a:p>
            <a:pPr>
              <a:spcAft>
                <a:spcPts val="600"/>
              </a:spcAft>
              <a:defRPr sz="1150">
                <a:solidFill>
                  <a:srgbClr val="1E293B"/>
                </a:solidFill>
              </a:defRPr>
            </a:pPr>
            <a:r>
              <a:t>•  Final thesis preparation and project demonstration.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16 of 16</a:t>
            </a:r>
          </a:p>
        </p:txBody>
      </p:sp>
      <p:sp>
        <p:nvSpPr>
          <p:cNvPr id="6" name="TextBox 5"/>
          <p:cNvSpPr txBox="1"/>
          <p:nvPr/>
        </p:nvSpPr>
        <p:spPr>
          <a:xfrm>
            <a:off x="731520" y="6492240"/>
            <a:ext cx="10728655" cy="320040"/>
          </a:xfrm>
          <a:prstGeom prst="rect">
            <a:avLst/>
          </a:prstGeom>
          <a:noFill/>
        </p:spPr>
        <p:txBody>
          <a:bodyPr wrap="none">
            <a:spAutoFit/>
          </a:bodyPr>
          <a:lstStyle/>
          <a:p>
            <a:pPr>
              <a:defRPr sz="950">
                <a:solidFill>
                  <a:srgbClr val="64748B"/>
                </a:solidFill>
              </a:defRPr>
            </a:pPr>
            <a:r>
              <a:t>Dept of AI &amp; DS | RIT | Project Review - 1 | Team: DHANUSH MN (2117230070028), ASHWATHRAJ (2117230070017), ATHISH R (2117230070020)</a:t>
            </a:r>
          </a:p>
        </p:txBody>
      </p:sp>
      <p:sp>
        <p:nvSpPr>
          <p:cNvPr id="7" name="TextBox 6"/>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Conclusion &amp; References</a:t>
            </a:r>
          </a:p>
          <a:p>
            <a:pPr>
              <a:defRPr sz="1150">
                <a:solidFill>
                  <a:srgbClr val="64748B"/>
                </a:solidFill>
              </a:defRPr>
            </a:pPr>
            <a:r>
              <a:t>Summary of our work</a:t>
            </a:r>
          </a:p>
        </p:txBody>
      </p:sp>
      <p:sp>
        <p:nvSpPr>
          <p:cNvPr id="8" name="Rounded Rectangle 7"/>
          <p:cNvSpPr/>
          <p:nvPr/>
        </p:nvSpPr>
        <p:spPr>
          <a:xfrm>
            <a:off x="731520" y="1463040"/>
            <a:ext cx="512064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Key Academic References</a:t>
            </a:r>
          </a:p>
          <a:p>
            <a:pPr>
              <a:spcAft>
                <a:spcPts val="600"/>
              </a:spcAft>
              <a:defRPr sz="1150">
                <a:solidFill>
                  <a:srgbClr val="1E293B"/>
                </a:solidFill>
              </a:defRPr>
            </a:pPr>
            <a:r>
              <a:t>•  1. F. Schroff, D. Kalenichenko, and J. Philbin, 'FaceNet: A Unified Embedding for Face Recognition and Clustering,' CVPR, 2015.</a:t>
            </a:r>
          </a:p>
          <a:p>
            <a:pPr>
              <a:spcAft>
                <a:spcPts val="600"/>
              </a:spcAft>
              <a:defRPr sz="1150">
                <a:solidFill>
                  <a:srgbClr val="1E293B"/>
                </a:solidFill>
              </a:defRPr>
            </a:pPr>
            <a:r>
              <a:t>•  2. OpenCV Computer Vision Library, 'Real-Time Face Detection and Feature Extraction,' 2023.</a:t>
            </a:r>
          </a:p>
          <a:p>
            <a:pPr>
              <a:spcAft>
                <a:spcPts val="600"/>
              </a:spcAft>
              <a:defRPr sz="1150">
                <a:solidFill>
                  <a:srgbClr val="1E293B"/>
                </a:solidFill>
              </a:defRPr>
            </a:pPr>
            <a:r>
              <a:t>•  3. D. E. King, 'Dlib-ml: A Machine Learning Toolkit,' Journal of Machine Learning Research, 2009.</a:t>
            </a:r>
          </a:p>
          <a:p>
            <a:pPr>
              <a:spcAft>
                <a:spcPts val="600"/>
              </a:spcAft>
              <a:defRPr sz="1150">
                <a:solidFill>
                  <a:srgbClr val="1E293B"/>
                </a:solidFill>
              </a:defRPr>
            </a:pPr>
            <a:r>
              <a:t>•  4. IEEE Access, 'Automated Attendance System using Computer Vision and Deep Learning,' 2023.</a:t>
            </a:r>
          </a:p>
          <a:p>
            <a:pPr>
              <a:spcAft>
                <a:spcPts val="600"/>
              </a:spcAft>
              <a:defRPr sz="1150">
                <a:solidFill>
                  <a:srgbClr val="1E293B"/>
                </a:solidFill>
              </a:defRPr>
            </a:pPr>
            <a:r>
              <a:t>•  5. Project GitHub Repository: https://github.com/dhanush-2006/smart-attendance</a:t>
            </a:r>
          </a:p>
        </p:txBody>
      </p:sp>
      <p:sp>
        <p:nvSpPr>
          <p:cNvPr id="10" name="Rounded Rectangle 9"/>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Concluding Summary</a:t>
            </a:r>
          </a:p>
          <a:p>
            <a:pPr>
              <a:spcAft>
                <a:spcPts val="600"/>
              </a:spcAft>
              <a:defRPr sz="1150">
                <a:solidFill>
                  <a:srgbClr val="1E293B"/>
                </a:solidFill>
              </a:defRPr>
            </a:pPr>
            <a:r>
              <a:t>•  Eliminates Manual Inefficiency: Replaces 15-minute roll calls with automated 2-second face recognition.</a:t>
            </a:r>
          </a:p>
          <a:p>
            <a:pPr>
              <a:spcAft>
                <a:spcPts val="600"/>
              </a:spcAft>
              <a:defRPr sz="1150">
                <a:solidFill>
                  <a:srgbClr val="1E293B"/>
                </a:solidFill>
              </a:defRPr>
            </a:pPr>
            <a:r>
              <a:t>•  Stops Proxy Attendance: Contactless biometric verification ensures 100% genuine presence.</a:t>
            </a:r>
          </a:p>
          <a:p>
            <a:pPr>
              <a:spcAft>
                <a:spcPts val="600"/>
              </a:spcAft>
              <a:defRPr sz="1150">
                <a:solidFill>
                  <a:srgbClr val="1E293B"/>
                </a:solidFill>
              </a:defRPr>
            </a:pPr>
            <a:r>
              <a:t>•  Affordable &amp; Scalable: Works with standard webcams and laptops without costly proprietary hardware.</a:t>
            </a:r>
          </a:p>
          <a:p>
            <a:pPr>
              <a:spcAft>
                <a:spcPts val="600"/>
              </a:spcAft>
              <a:defRPr sz="1150">
                <a:solidFill>
                  <a:srgbClr val="1E293B"/>
                </a:solidFill>
              </a:defRPr>
            </a:pPr>
            <a:r>
              <a:t>•  Ready for Phase 2: Core AI engine is verified and working; ready for dashboard and anti-spoofing expansion.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