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a:t>
            </a:r>
          </a:p>
          <a:p>
            <a:r>
              <a:t>Good morning respected panel members and evaluators. We are team Deva S, Athithi A, and Arthi S. Today, we are presenting our Phase-I First Review on the project: 'AI-Powered Autonomous Document Extraction and Verification Engine for Indian E-Governance Portals'. Our work addresses manual transcription bottlenecks in citizen registration, specifically ECI Form 6, through localized edge AI and computer vision.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2):</a:t>
            </a:r>
          </a:p>
          <a:p>
            <a:r>
              <a:t>Our presentation is structured into two coherent halves. First, we establish the domain context, background, formal problem statement, and literature review. Second, we introduce our proposed local-AI architecture, present the functional prototype and partial results we have already implemented and verified, followed by the work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3):</a:t>
            </a:r>
          </a:p>
          <a:p>
            <a:r>
              <a:t>India's digital public infrastructure is the largest in the world. However, when a 18-year-old citizen applies for a voter ID using Form 6, they are still forced to manually type in their 12-digit Aadhaar number, split their house number and street name, calculate dropdown relations, and crop a passport photograph using external graphic software. Our project introduces a zero-data-leakage autonomous pipeline running locally on the user's machine to completely bridge this gap.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4):</a:t>
            </a:r>
          </a:p>
          <a:p>
            <a:r>
              <a:t>During our initial study, we observed that roughly 1 in 5 voter registration applications encounter administrative bottlenecks. The primary culprit is not fraudulent intent, but simple clerical typos—like transcribing '6120 9678 1604' incorrectly, or placing street names inside the door number field. Furthermore, rural citizens often share unencrypted identity cards with third-party operators at browsing centers, exposing critical Personally Identifiable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5):</a:t>
            </a:r>
          </a:p>
          <a:p>
            <a:r>
              <a:t>We have formulated four core challenges in our problem statement: First, clerical cognitive overhead. Second, severe PII privacy vulnerabilities when documents leave the client machine. Third, high structural noise in Indian identity documents where legal disclaimers and 14-digit enrolment numbers confuse generic AI parsers. And fourth, the complete lack of automated face isolation on existing portals.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6):</a:t>
            </a:r>
          </a:p>
          <a:p>
            <a:r>
              <a:t>Our primary aim is crystal clear: Zero cloud dependency, sub-30 second form completion, and 100% privacy compliance. To achieve this, we have broken our project into four concrete technical objectives: multi-file ingestion, bilingual OCR, local semantic reasoning via Llama 3.2 Small Language Model, and deep neural face extraction via YuNet ONNX.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7):</a:t>
            </a:r>
          </a:p>
          <a:p>
            <a:r>
              <a:t>Our literature survey covers four relevant paradigms. We studied traditional Tesseract OCR, commercial cloud document AI systems, transformer-based LayoutLM models, and edge biometric detectors. This survey confirmed that while cloud models exist, a lightweight hybrid system combining EasyOCR, Llama 3.2 3B SLM, and YuNet ONNX offers the optimum balance of accuracy, cost, and absolute privacy.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8):</a:t>
            </a:r>
          </a:p>
          <a:p>
            <a:r>
              <a:t>The current existing system is entirely manual. A citizen must switch back and forth between their PDF reader and browser, manually re-typing complex numbers and addresses. When they reach Section 2A for the passport photo, the portal offers no cropping tool: applicants have to manually crop, save, and resize an image before uploading. This takes 10 to 15 minutes per form on average.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9):</a:t>
            </a:r>
          </a:p>
          <a:p>
            <a:r>
              <a:t>To summarize the limitations of the existing approach: high error rates, serious data privacy risks in public kiosks, excessive time consumption, and an utter lack of document-to-form consistency checking. This established the exact technical requirements for our proposed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10):</a:t>
            </a:r>
          </a:p>
          <a:p>
            <a:r>
              <a:t>Our proposed system introduces a complete end-to-end transformation. The citizen simply drops their Aadhaar front and back cards or PDF into the browser. Within 25 seconds, our FastAPI backend processes the document through EasyOCR, extracts the applicant's photograph using the YuNet neural network, extracts structured data using local Llama 3.2, runs our regex sanity filters, and automatically populates the complete Form 6 interface ready for one-click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11):</a:t>
            </a:r>
          </a:p>
          <a:p>
            <a:r>
              <a:t>This slide presents our 4-stage pipeline architecture. Phase 1 handles multi-document rendering at 300 DPI. Phase 2 runs concurrent EasyOCR and YuNet neural face detection. Phase 3 passes the concatenated OCR text into our local Llama 3.2 model for semantic JSON structuring. Finally, Phase 4 executes our deterministic normalization rules to isolate the 12-digit Aadhaar UID and cleanly map every field directly into the live DOM.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12):</a:t>
            </a:r>
          </a:p>
          <a:p>
            <a:r>
              <a:t>Here is our complete technical stack. Notice that every single tool was chosen with zero-cloud dependency in mind. Python 3.12 and FastAPI power the backend, EasyOCR and OpenCV YuNet handle visual perception, Meta Llama 3.2 running on Ollama handles linguistic reasoning, and pure Vanilla ES6 JavaScript manages the responsive frontend without heavy frameworks.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13):</a:t>
            </a:r>
          </a:p>
          <a:p>
            <a:r>
              <a:t>We are proud to report that for Phase-I, we have already built and thoroughly validated a fully working end-to-end prototype. We successfully solved four challenging real-world problems: multi-file upload management, deep learning face cropping without grabbing text headers, clean 12-digit Aadhaar UID extraction despite 14-digit enrolment numbers, and clean address separation without capturing UIDAI legal disclaimer text.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14):</a:t>
            </a:r>
          </a:p>
          <a:p>
            <a:r>
              <a:t>Here are the expected outcomes. By replacing manual typing with AI perception and semantic parsing, form filling duration drops from over 12 minutes to under 30 seconds—a 90% speedup. Error rates drop below 2%, while ensuring 100% adherence to India's DPDPA 2023 data sovereignty mandate.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15):</a:t>
            </a:r>
          </a:p>
          <a:p>
            <a:r>
              <a:t>Our project roadmap spans three structured phases. Having successfully completed Phase I, Phase II will focus on expanding support to PAN cards and Driving Licenses, alongside field-level confidence badges. Phase III will package this engine into a seamless Chrome/Firefox browser extension that directly autofills live government web portals, culminating in empirical benchmarking.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16):</a:t>
            </a:r>
          </a:p>
          <a:p>
            <a:r>
              <a:t>In conclusion, our project demonstrates that cutting-edge Small Language Models and Deep Learning computer vision can be deployed directly on citizen hardware to protect privacy while eliminating clerical friction in Indian e-governance. We have a working prototype, a verified repository, and a clear roadmap for Phase II. Thank you, and we welcome your questions and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2011680"/>
          </a:xfrm>
          <a:prstGeom prst="rect">
            <a:avLst/>
          </a:prstGeom>
          <a:noFill/>
        </p:spPr>
        <p:txBody>
          <a:bodyPr wrap="square">
            <a:spAutoFit/>
          </a:bodyPr>
          <a:lstStyle/>
          <a:p>
            <a:pPr>
              <a:spcAft>
                <a:spcPts val="1200"/>
              </a:spcAft>
              <a:defRPr sz="1300" b="1">
                <a:solidFill>
                  <a:srgbClr val="38BDF8"/>
                </a:solidFill>
              </a:defRPr>
            </a:pPr>
            <a:r>
              <a:t>FIRST REVIEW - UNDERGRADUATE PROJECT</a:t>
            </a:r>
          </a:p>
          <a:p>
            <a:pPr>
              <a:spcAft>
                <a:spcPts val="1000"/>
              </a:spcAft>
              <a:defRPr sz="2700" b="1">
                <a:solidFill>
                  <a:srgbClr val="FFFFFF"/>
                </a:solidFill>
              </a:defRPr>
            </a:pPr>
            <a:r>
              <a:t>AI-Powered Autonomous Document Extraction &amp; Verification Engine for Indian E-Governance Portals</a:t>
            </a:r>
          </a:p>
          <a:p>
            <a:pPr>
              <a:defRPr sz="1400">
                <a:solidFill>
                  <a:srgbClr val="CBD5E1"/>
                </a:solidFill>
              </a:defRPr>
            </a:pPr>
            <a:r>
              <a:t>A Privacy-Preserving Framework for ECI NVSP Voter Registration (Form 6) via Local Small Language Models, Deep Vision Biometrics &amp; Heuristic OCR</a:t>
            </a:r>
          </a:p>
        </p:txBody>
      </p:sp>
      <p:sp>
        <p:nvSpPr>
          <p:cNvPr id="4" name="Rectangle 3"/>
          <p:cNvSpPr/>
          <p:nvPr/>
        </p:nvSpPr>
        <p:spPr>
          <a:xfrm>
            <a:off x="914400" y="3474720"/>
            <a:ext cx="103628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794760"/>
            <a:ext cx="6217920" cy="2286000"/>
          </a:xfrm>
          <a:prstGeom prst="roundRect">
            <a:avLst/>
          </a:prstGeom>
          <a:solidFill>
            <a:srgbClr val="163556"/>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886200"/>
            <a:ext cx="5852160" cy="2103120"/>
          </a:xfrm>
          <a:prstGeom prst="rect">
            <a:avLst/>
          </a:prstGeom>
          <a:noFill/>
        </p:spPr>
        <p:txBody>
          <a:bodyPr wrap="square">
            <a:spAutoFit/>
          </a:bodyPr>
          <a:lstStyle/>
          <a:p>
            <a:pPr>
              <a:spcAft>
                <a:spcPts val="800"/>
              </a:spcAft>
              <a:defRPr sz="1200" b="1">
                <a:solidFill>
                  <a:srgbClr val="38BDF8"/>
                </a:solidFill>
              </a:defRPr>
            </a:pPr>
            <a:r>
              <a:t>PROJECT TEAM MEMBERS:</a:t>
            </a:r>
          </a:p>
          <a:p>
            <a:pPr>
              <a:spcAft>
                <a:spcPts val="400"/>
              </a:spcAft>
              <a:defRPr sz="1300" b="1">
                <a:solidFill>
                  <a:srgbClr val="FFFFFF"/>
                </a:solidFill>
              </a:defRPr>
            </a:pPr>
            <a:r>
              <a:t>•  DEVA S  —  Reg No: 2117230070025</a:t>
            </a:r>
          </a:p>
          <a:p>
            <a:pPr>
              <a:spcAft>
                <a:spcPts val="400"/>
              </a:spcAft>
              <a:defRPr sz="1300" b="1">
                <a:solidFill>
                  <a:srgbClr val="FFFFFF"/>
                </a:solidFill>
              </a:defRPr>
            </a:pPr>
            <a:r>
              <a:t>•  ATHITHI A  —  Reg No: 2117230070004</a:t>
            </a:r>
          </a:p>
          <a:p>
            <a:pPr>
              <a:spcAft>
                <a:spcPts val="400"/>
              </a:spcAft>
              <a:defRPr sz="1300" b="1">
                <a:solidFill>
                  <a:srgbClr val="FFFFFF"/>
                </a:solidFill>
              </a:defRPr>
            </a:pPr>
            <a:r>
              <a:t>•  ARTHI S  —  Reg No: 2117230070016</a:t>
            </a:r>
          </a:p>
        </p:txBody>
      </p:sp>
      <p:sp>
        <p:nvSpPr>
          <p:cNvPr id="7" name="Rounded Rectangle 6"/>
          <p:cNvSpPr/>
          <p:nvPr/>
        </p:nvSpPr>
        <p:spPr>
          <a:xfrm>
            <a:off x="7406640" y="3794760"/>
            <a:ext cx="3870655" cy="2286000"/>
          </a:xfrm>
          <a:prstGeom prst="roundRect">
            <a:avLst/>
          </a:prstGeom>
          <a:solidFill>
            <a:srgbClr val="163556"/>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3886200"/>
            <a:ext cx="3474720" cy="2103120"/>
          </a:xfrm>
          <a:prstGeom prst="rect">
            <a:avLst/>
          </a:prstGeom>
          <a:noFill/>
        </p:spPr>
        <p:txBody>
          <a:bodyPr wrap="square">
            <a:spAutoFit/>
          </a:bodyPr>
          <a:lstStyle/>
          <a:p>
            <a:pPr>
              <a:spcAft>
                <a:spcPts val="800"/>
              </a:spcAft>
              <a:defRPr sz="1200" b="1">
                <a:solidFill>
                  <a:srgbClr val="38BDF8"/>
                </a:solidFill>
              </a:defRPr>
            </a:pPr>
            <a:r>
              <a:t>PROJECT DETAILS &amp; INSTITUTION</a:t>
            </a:r>
          </a:p>
          <a:p>
            <a:pPr>
              <a:spcAft>
                <a:spcPts val="300"/>
              </a:spcAft>
              <a:defRPr sz="1100">
                <a:solidFill>
                  <a:srgbClr val="E2E8F0"/>
                </a:solidFill>
              </a:defRPr>
            </a:pPr>
            <a:r>
              <a:t>Degree: Bachelor of Engineering (B.E.)</a:t>
            </a:r>
          </a:p>
          <a:p>
            <a:pPr>
              <a:spcAft>
                <a:spcPts val="300"/>
              </a:spcAft>
              <a:defRPr sz="1100">
                <a:solidFill>
                  <a:srgbClr val="E2E8F0"/>
                </a:solidFill>
              </a:defRPr>
            </a:pPr>
            <a:r>
              <a:t>Department: Computer Science &amp; Engineering</a:t>
            </a:r>
          </a:p>
          <a:p>
            <a:pPr>
              <a:spcAft>
                <a:spcPts val="300"/>
              </a:spcAft>
              <a:defRPr sz="1100">
                <a:solidFill>
                  <a:srgbClr val="E2E8F0"/>
                </a:solidFill>
              </a:defRPr>
            </a:pPr>
            <a:r>
              <a:t>Academic Year: 2026</a:t>
            </a:r>
          </a:p>
          <a:p>
            <a:pPr>
              <a:spcAft>
                <a:spcPts val="300"/>
              </a:spcAft>
              <a:defRPr sz="1100">
                <a:solidFill>
                  <a:srgbClr val="E2E8F0"/>
                </a:solidFill>
              </a:defRPr>
            </a:pPr>
            <a:r>
              <a:t>Review Stage: Phase - I (First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AGENDA &amp; PRESENTATION OUTLINE</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Table of Contents</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4480560"/>
          </a:xfrm>
          <a:prstGeom prst="rect">
            <a:avLst/>
          </a:prstGeom>
          <a:noFill/>
        </p:spPr>
        <p:txBody>
          <a:bodyPr wrap="square">
            <a:spAutoFit/>
          </a:bodyPr>
          <a:lstStyle/>
          <a:p>
            <a:pPr>
              <a:spcAft>
                <a:spcPts val="1000"/>
              </a:spcAft>
              <a:defRPr sz="1500" b="1">
                <a:solidFill>
                  <a:srgbClr val="2563EB"/>
                </a:solidFill>
              </a:defRPr>
            </a:pPr>
            <a:r>
              <a:t>Part I: Problem Formulation &amp; Study  [Slides 3-9]</a:t>
            </a:r>
          </a:p>
          <a:p>
            <a:pPr>
              <a:spcAft>
                <a:spcPts val="600"/>
              </a:spcAft>
              <a:defRPr sz="1150">
                <a:solidFill>
                  <a:srgbClr val="1E293B"/>
                </a:solidFill>
              </a:defRPr>
            </a:pPr>
            <a:r>
              <a:t>• 1. Introduction to Digital E-Governance</a:t>
            </a:r>
          </a:p>
          <a:p>
            <a:pPr>
              <a:spcAft>
                <a:spcPts val="600"/>
              </a:spcAft>
              <a:defRPr sz="1150">
                <a:solidFill>
                  <a:srgbClr val="1E293B"/>
                </a:solidFill>
              </a:defRPr>
            </a:pPr>
            <a:r>
              <a:t>• 2. Background of Indian Civic Form Systems</a:t>
            </a:r>
          </a:p>
          <a:p>
            <a:pPr>
              <a:spcAft>
                <a:spcPts val="600"/>
              </a:spcAft>
              <a:defRPr sz="1150">
                <a:solidFill>
                  <a:srgbClr val="1E293B"/>
                </a:solidFill>
              </a:defRPr>
            </a:pPr>
            <a:r>
              <a:t>• 3. Problem Statement &amp; Research Gap</a:t>
            </a:r>
          </a:p>
          <a:p>
            <a:pPr>
              <a:spcAft>
                <a:spcPts val="600"/>
              </a:spcAft>
              <a:defRPr sz="1150">
                <a:solidFill>
                  <a:srgbClr val="1E293B"/>
                </a:solidFill>
              </a:defRPr>
            </a:pPr>
            <a:r>
              <a:t>• 4. Aim &amp; Specific Objectives</a:t>
            </a:r>
          </a:p>
          <a:p>
            <a:pPr>
              <a:spcAft>
                <a:spcPts val="600"/>
              </a:spcAft>
              <a:defRPr sz="1150">
                <a:solidFill>
                  <a:srgbClr val="1E293B"/>
                </a:solidFill>
              </a:defRPr>
            </a:pPr>
            <a:r>
              <a:t>• 5. Literature Review &amp; Comparative Analysis</a:t>
            </a:r>
          </a:p>
          <a:p>
            <a:pPr>
              <a:spcAft>
                <a:spcPts val="600"/>
              </a:spcAft>
              <a:defRPr sz="1150">
                <a:solidFill>
                  <a:srgbClr val="1E293B"/>
                </a:solidFill>
              </a:defRPr>
            </a:pPr>
            <a:r>
              <a:t>• 6. Existing System Workflow</a:t>
            </a:r>
          </a:p>
          <a:p>
            <a:pPr>
              <a:spcAft>
                <a:spcPts val="600"/>
              </a:spcAft>
              <a:defRPr sz="1150">
                <a:solidFill>
                  <a:srgbClr val="1E293B"/>
                </a:solidFill>
              </a:defRPr>
            </a:pPr>
            <a:r>
              <a:t>• 7. Limitations of Existing Form Filling</a:t>
            </a:r>
          </a:p>
        </p:txBody>
      </p:sp>
      <p:sp>
        <p:nvSpPr>
          <p:cNvPr id="9" name="Rounded Rectangle 8"/>
          <p:cNvSpPr/>
          <p:nvPr/>
        </p:nvSpPr>
        <p:spPr>
          <a:xfrm>
            <a:off x="6217920" y="1371600"/>
            <a:ext cx="521208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4480560"/>
          </a:xfrm>
          <a:prstGeom prst="rect">
            <a:avLst/>
          </a:prstGeom>
          <a:noFill/>
        </p:spPr>
        <p:txBody>
          <a:bodyPr wrap="square">
            <a:spAutoFit/>
          </a:bodyPr>
          <a:lstStyle/>
          <a:p>
            <a:pPr>
              <a:spcAft>
                <a:spcPts val="1000"/>
              </a:spcAft>
              <a:defRPr sz="1500" b="1">
                <a:solidFill>
                  <a:srgbClr val="10B981"/>
                </a:solidFill>
              </a:defRPr>
            </a:pPr>
            <a:r>
              <a:t>Part II: Methodology, Prototype &amp; Roadmap  [Slides 10-16]</a:t>
            </a:r>
          </a:p>
          <a:p>
            <a:pPr>
              <a:spcAft>
                <a:spcPts val="600"/>
              </a:spcAft>
              <a:defRPr sz="1150">
                <a:solidFill>
                  <a:srgbClr val="1E293B"/>
                </a:solidFill>
              </a:defRPr>
            </a:pPr>
            <a:r>
              <a:t>• 8. Proposed System Overview</a:t>
            </a:r>
          </a:p>
          <a:p>
            <a:pPr>
              <a:spcAft>
                <a:spcPts val="600"/>
              </a:spcAft>
              <a:defRPr sz="1150">
                <a:solidFill>
                  <a:srgbClr val="1E293B"/>
                </a:solidFill>
              </a:defRPr>
            </a:pPr>
            <a:r>
              <a:t>• 9. Proposed Methodology &amp; Architecture</a:t>
            </a:r>
          </a:p>
          <a:p>
            <a:pPr>
              <a:spcAft>
                <a:spcPts val="600"/>
              </a:spcAft>
              <a:defRPr sz="1150">
                <a:solidFill>
                  <a:srgbClr val="1E293B"/>
                </a:solidFill>
              </a:defRPr>
            </a:pPr>
            <a:r>
              <a:t>• 10. Technology Stack &amp; Tools Used</a:t>
            </a:r>
          </a:p>
          <a:p>
            <a:pPr>
              <a:spcAft>
                <a:spcPts val="600"/>
              </a:spcAft>
              <a:defRPr sz="1150">
                <a:solidFill>
                  <a:srgbClr val="1E293B"/>
                </a:solidFill>
              </a:defRPr>
            </a:pPr>
            <a:r>
              <a:t>• 11. Work Completed So Far &amp; Prototype Demo</a:t>
            </a:r>
          </a:p>
          <a:p>
            <a:pPr>
              <a:spcAft>
                <a:spcPts val="600"/>
              </a:spcAft>
              <a:defRPr sz="1150">
                <a:solidFill>
                  <a:srgbClr val="1E293B"/>
                </a:solidFill>
              </a:defRPr>
            </a:pPr>
            <a:r>
              <a:t>• 12. Technical Breakthroughs &amp; Partial Results</a:t>
            </a:r>
          </a:p>
          <a:p>
            <a:pPr>
              <a:spcAft>
                <a:spcPts val="600"/>
              </a:spcAft>
              <a:defRPr sz="1150">
                <a:solidFill>
                  <a:srgbClr val="1E293B"/>
                </a:solidFill>
              </a:defRPr>
            </a:pPr>
            <a:r>
              <a:t>• 13. Expected Outcomes &amp; Impact Metrics</a:t>
            </a:r>
          </a:p>
          <a:p>
            <a:pPr>
              <a:spcAft>
                <a:spcPts val="600"/>
              </a:spcAft>
              <a:defRPr sz="1150">
                <a:solidFill>
                  <a:srgbClr val="1E293B"/>
                </a:solidFill>
              </a:defRPr>
            </a:pPr>
            <a:r>
              <a:t>• 14. Project Timeline, Milestones &amp; Work Plan</a:t>
            </a:r>
          </a:p>
          <a:p>
            <a:pPr>
              <a:spcAft>
                <a:spcPts val="600"/>
              </a:spcAft>
              <a:defRPr sz="1150">
                <a:solidFill>
                  <a:srgbClr val="1E293B"/>
                </a:solidFill>
              </a:defRPr>
            </a:pPr>
            <a:r>
              <a:t>• 15. Conclusion &amp;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CONTEXT &amp; DOMAIN OVERVIEW</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Introduction: Digital Public Infrastructure &amp; Forms</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4480560"/>
          </a:xfrm>
          <a:prstGeom prst="rect">
            <a:avLst/>
          </a:prstGeom>
          <a:noFill/>
        </p:spPr>
        <p:txBody>
          <a:bodyPr wrap="square">
            <a:spAutoFit/>
          </a:bodyPr>
          <a:lstStyle/>
          <a:p>
            <a:pPr>
              <a:spcAft>
                <a:spcPts val="1000"/>
              </a:spcAft>
              <a:defRPr sz="1500" b="1">
                <a:solidFill>
                  <a:srgbClr val="2563EB"/>
                </a:solidFill>
              </a:defRPr>
            </a:pPr>
            <a:r>
              <a:t>The E-Governance Landscape in India  [DPI Context]</a:t>
            </a:r>
          </a:p>
          <a:p>
            <a:pPr>
              <a:spcAft>
                <a:spcPts val="600"/>
              </a:spcAft>
              <a:defRPr sz="1150">
                <a:solidFill>
                  <a:srgbClr val="1E293B"/>
                </a:solidFill>
              </a:defRPr>
            </a:pPr>
            <a:r>
              <a:t>• India leads global digital governance with massive DPI: DigiLocker, Aadhaar (UIDAI), and ECI Voter Service Portals.</a:t>
            </a:r>
          </a:p>
          <a:p>
            <a:pPr>
              <a:spcAft>
                <a:spcPts val="600"/>
              </a:spcAft>
              <a:defRPr sz="1150">
                <a:solidFill>
                  <a:srgbClr val="1E293B"/>
                </a:solidFill>
              </a:defRPr>
            </a:pPr>
            <a:r>
              <a:t>• Crucial civic entitlements (Voting Rights, Welfare Subsidies, Healthcare Cards) rely on statutory web forms like NVSP Form 6.</a:t>
            </a:r>
          </a:p>
          <a:p>
            <a:pPr>
              <a:spcAft>
                <a:spcPts val="600"/>
              </a:spcAft>
              <a:defRPr sz="1150">
                <a:solidFill>
                  <a:srgbClr val="1E293B"/>
                </a:solidFill>
              </a:defRPr>
            </a:pPr>
            <a:r>
              <a:t>• Statutory forms require citizens to transcribe over 25 individual fields from physical identity documents.</a:t>
            </a:r>
          </a:p>
          <a:p>
            <a:pPr>
              <a:spcAft>
                <a:spcPts val="600"/>
              </a:spcAft>
              <a:defRPr sz="1150">
                <a:solidFill>
                  <a:srgbClr val="1E293B"/>
                </a:solidFill>
              </a:defRPr>
            </a:pPr>
            <a:r>
              <a:t>• Citizens must partition nested addresses, convert date formats, and format strict 1:1 passport photos manually.</a:t>
            </a:r>
          </a:p>
        </p:txBody>
      </p:sp>
      <p:sp>
        <p:nvSpPr>
          <p:cNvPr id="9" name="Rounded Rectangle 8"/>
          <p:cNvSpPr/>
          <p:nvPr/>
        </p:nvSpPr>
        <p:spPr>
          <a:xfrm>
            <a:off x="6217920" y="1371600"/>
            <a:ext cx="521208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4480560"/>
          </a:xfrm>
          <a:prstGeom prst="rect">
            <a:avLst/>
          </a:prstGeom>
          <a:noFill/>
        </p:spPr>
        <p:txBody>
          <a:bodyPr wrap="square">
            <a:spAutoFit/>
          </a:bodyPr>
          <a:lstStyle/>
          <a:p>
            <a:pPr>
              <a:spcAft>
                <a:spcPts val="1000"/>
              </a:spcAft>
              <a:defRPr sz="1500" b="1">
                <a:solidFill>
                  <a:srgbClr val="1E293B"/>
                </a:solidFill>
              </a:defRPr>
            </a:pPr>
            <a:r>
              <a:t>The Automation &amp; Privacy Opportunity  [Local Edge AI]</a:t>
            </a:r>
          </a:p>
          <a:p>
            <a:pPr>
              <a:spcAft>
                <a:spcPts val="600"/>
              </a:spcAft>
              <a:defRPr sz="1150">
                <a:solidFill>
                  <a:srgbClr val="1E293B"/>
                </a:solidFill>
              </a:defRPr>
            </a:pPr>
            <a:r>
              <a:t>• Manual data entry creates a heavy friction point: high cognitive burden, typos, and format non-compliance.</a:t>
            </a:r>
          </a:p>
          <a:p>
            <a:pPr>
              <a:spcAft>
                <a:spcPts val="600"/>
              </a:spcAft>
              <a:defRPr sz="1150">
                <a:solidFill>
                  <a:srgbClr val="1E293B"/>
                </a:solidFill>
              </a:defRPr>
            </a:pPr>
            <a:r>
              <a:t>• Commercial solutions rely on public cloud vision APIs (Google Vision, AWS Textract), causing recurring costs and PII exposure.</a:t>
            </a:r>
          </a:p>
          <a:p>
            <a:pPr>
              <a:spcAft>
                <a:spcPts val="600"/>
              </a:spcAft>
              <a:defRPr sz="1150">
                <a:solidFill>
                  <a:srgbClr val="1E293B"/>
                </a:solidFill>
              </a:defRPr>
            </a:pPr>
            <a:r>
              <a:t>• Proposed Paradigm: Autonomous edge document intelligence that extracts, verifies, and maps identity cards locally with zero data leakage.</a:t>
            </a:r>
          </a:p>
          <a:p>
            <a:pPr>
              <a:spcAft>
                <a:spcPts val="600"/>
              </a:spcAft>
              <a:defRPr sz="1150">
                <a:solidFill>
                  <a:srgbClr val="1E293B"/>
                </a:solidFill>
              </a:defRPr>
            </a:pPr>
            <a:r>
              <a:t>• Combines bilingual OCR with on-device Small Language Models (Llama 3.2) and deep facial localization (YuNet).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MOTIVATION &amp; GROUND REALITY</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Background of the Project: The Citizen Form-Filling Dilemma</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4480560"/>
          </a:xfrm>
          <a:prstGeom prst="rect">
            <a:avLst/>
          </a:prstGeom>
          <a:noFill/>
        </p:spPr>
        <p:txBody>
          <a:bodyPr wrap="square">
            <a:spAutoFit/>
          </a:bodyPr>
          <a:lstStyle/>
          <a:p>
            <a:pPr>
              <a:spcAft>
                <a:spcPts val="1000"/>
              </a:spcAft>
              <a:defRPr sz="1500" b="1">
                <a:solidFill>
                  <a:srgbClr val="2563EB"/>
                </a:solidFill>
              </a:defRPr>
            </a:pPr>
            <a:r>
              <a:t>ECI Form 6 Voter Registration Scale  [Mass Civic Portal]</a:t>
            </a:r>
          </a:p>
          <a:p>
            <a:pPr>
              <a:spcAft>
                <a:spcPts val="600"/>
              </a:spcAft>
              <a:defRPr sz="1150">
                <a:solidFill>
                  <a:srgbClr val="1E293B"/>
                </a:solidFill>
              </a:defRPr>
            </a:pPr>
            <a:r>
              <a:t>• Form 6 of the Election Commission of India (ECI) is the mandatory statutory instrument for registering new voters.</a:t>
            </a:r>
          </a:p>
          <a:p>
            <a:pPr>
              <a:spcAft>
                <a:spcPts val="600"/>
              </a:spcAft>
              <a:defRPr sz="1150">
                <a:solidFill>
                  <a:srgbClr val="1E293B"/>
                </a:solidFill>
              </a:defRPr>
            </a:pPr>
            <a:r>
              <a:t>• Over 20 million new voter applications are processed annually across 28 states and 8 union territories.</a:t>
            </a:r>
          </a:p>
          <a:p>
            <a:pPr>
              <a:spcAft>
                <a:spcPts val="600"/>
              </a:spcAft>
              <a:defRPr sz="1150">
                <a:solidFill>
                  <a:srgbClr val="1E293B"/>
                </a:solidFill>
              </a:defRPr>
            </a:pPr>
            <a:r>
              <a:t>• Applications mandate rigorous supporting documents: e-Aadhaar PDF, physical PVC cards, PAN Card, or Birth Certificates.</a:t>
            </a:r>
          </a:p>
          <a:p>
            <a:pPr>
              <a:spcAft>
                <a:spcPts val="600"/>
              </a:spcAft>
              <a:defRPr sz="1150">
                <a:solidFill>
                  <a:srgbClr val="1E293B"/>
                </a:solidFill>
              </a:defRPr>
            </a:pPr>
            <a:r>
              <a:t>• Forms require precise mapping into relational categories: Father / Mother / Husband / Legal Guardian with statutory proofs.</a:t>
            </a:r>
          </a:p>
        </p:txBody>
      </p:sp>
      <p:sp>
        <p:nvSpPr>
          <p:cNvPr id="9" name="Rounded Rectangle 8"/>
          <p:cNvSpPr/>
          <p:nvPr/>
        </p:nvSpPr>
        <p:spPr>
          <a:xfrm>
            <a:off x="6217920" y="1371600"/>
            <a:ext cx="521208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4480560"/>
          </a:xfrm>
          <a:prstGeom prst="rect">
            <a:avLst/>
          </a:prstGeom>
          <a:noFill/>
        </p:spPr>
        <p:txBody>
          <a:bodyPr wrap="square">
            <a:spAutoFit/>
          </a:bodyPr>
          <a:lstStyle/>
          <a:p>
            <a:pPr>
              <a:spcAft>
                <a:spcPts val="1000"/>
              </a:spcAft>
              <a:defRPr sz="1500" b="1">
                <a:solidFill>
                  <a:srgbClr val="E11D48"/>
                </a:solidFill>
              </a:defRPr>
            </a:pPr>
            <a:r>
              <a:t>Ground Challenges &amp; High Rejection Rates  [Socio-Technical Need]</a:t>
            </a:r>
          </a:p>
          <a:p>
            <a:pPr>
              <a:spcAft>
                <a:spcPts val="600"/>
              </a:spcAft>
              <a:defRPr sz="1150">
                <a:solidFill>
                  <a:srgbClr val="1E293B"/>
                </a:solidFill>
              </a:defRPr>
            </a:pPr>
            <a:r>
              <a:t>• Rejection Statistics: 18% to 24% of online voter registrations face administrative queries, delays, or rejections.</a:t>
            </a:r>
          </a:p>
          <a:p>
            <a:pPr>
              <a:spcAft>
                <a:spcPts val="600"/>
              </a:spcAft>
              <a:defRPr sz="1150">
                <a:solidFill>
                  <a:srgbClr val="1E293B"/>
                </a:solidFill>
              </a:defRPr>
            </a:pPr>
            <a:r>
              <a:t>• Top Rejection Causes: Inverted Date of Birth (DD-MM vs MM-DD), misspelt Tamil-English phonetic names, and truncated door numbers.</a:t>
            </a:r>
          </a:p>
          <a:p>
            <a:pPr>
              <a:spcAft>
                <a:spcPts val="600"/>
              </a:spcAft>
              <a:defRPr sz="1150">
                <a:solidFill>
                  <a:srgbClr val="1E293B"/>
                </a:solidFill>
              </a:defRPr>
            </a:pPr>
            <a:r>
              <a:t>• Digital Divide: Rural and semi-urban applicants depend on commercial Internet browsing cafes, paying fees and exposing private Aadhaar numbers.</a:t>
            </a:r>
          </a:p>
          <a:p>
            <a:pPr>
              <a:spcAft>
                <a:spcPts val="600"/>
              </a:spcAft>
              <a:defRPr sz="1150">
                <a:solidFill>
                  <a:srgbClr val="1E293B"/>
                </a:solidFill>
              </a:defRPr>
            </a:pPr>
            <a:r>
              <a:t>• Need: An automated, intelligent, free, and completely localized desktop assistant that completes registration in seconds.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CORE RESEARCH CHALLENGE</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Problem Statement: Transcription Overhead &amp; Privacy Leakage</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E11D48"/>
                </a:solidFill>
              </a:defRPr>
            </a:pPr>
            <a:r>
              <a:t>1. Cognitive Overhead &amp; High Error Rate</a:t>
            </a:r>
          </a:p>
          <a:p>
            <a:pPr>
              <a:spcAft>
                <a:spcPts val="600"/>
              </a:spcAft>
              <a:defRPr sz="1150">
                <a:solidFill>
                  <a:srgbClr val="1E293B"/>
                </a:solidFill>
              </a:defRPr>
            </a:pPr>
            <a:r>
              <a:t>• Users must manually parse physical cards, decipher bilingual labels, and fill 25+ form fields.</a:t>
            </a:r>
          </a:p>
          <a:p>
            <a:pPr>
              <a:spcAft>
                <a:spcPts val="600"/>
              </a:spcAft>
              <a:defRPr sz="1150">
                <a:solidFill>
                  <a:srgbClr val="1E293B"/>
                </a:solidFill>
              </a:defRPr>
            </a:pPr>
            <a:r>
              <a:t>• Complex Indian address structures (Door No, Cross St, Taluk, PO, District) lack standardized separators.</a:t>
            </a:r>
          </a:p>
          <a:p>
            <a:pPr>
              <a:spcAft>
                <a:spcPts val="600"/>
              </a:spcAft>
              <a:defRPr sz="1150">
                <a:solidFill>
                  <a:srgbClr val="1E293B"/>
                </a:solidFill>
              </a:defRPr>
            </a:pPr>
            <a:r>
              <a:t>• Clerical errors lead to voter roll rejections and repeated application cycles.</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E11D48"/>
                </a:solidFill>
              </a:defRPr>
            </a:pPr>
            <a:r>
              <a:t>2. PII Vulnerability &amp; DPDPA Compliance</a:t>
            </a:r>
          </a:p>
          <a:p>
            <a:pPr>
              <a:spcAft>
                <a:spcPts val="600"/>
              </a:spcAft>
              <a:defRPr sz="1150">
                <a:solidFill>
                  <a:srgbClr val="1E293B"/>
                </a:solidFill>
              </a:defRPr>
            </a:pPr>
            <a:r>
              <a:t>• Sending Aadhaar/PAN cards to public cloud APIs violates the Digital Personal Data Protection Act (DPDPA 2023).</a:t>
            </a:r>
          </a:p>
          <a:p>
            <a:pPr>
              <a:spcAft>
                <a:spcPts val="600"/>
              </a:spcAft>
              <a:defRPr sz="1150">
                <a:solidFill>
                  <a:srgbClr val="1E293B"/>
                </a:solidFill>
              </a:defRPr>
            </a:pPr>
            <a:r>
              <a:t>• Third-party commercial OCR APIs create persistent risk of database breaches and biometric theft.</a:t>
            </a:r>
          </a:p>
          <a:p>
            <a:pPr>
              <a:spcAft>
                <a:spcPts val="600"/>
              </a:spcAft>
              <a:defRPr sz="1150">
                <a:solidFill>
                  <a:srgbClr val="1E293B"/>
                </a:solidFill>
              </a:defRPr>
            </a:pPr>
            <a:r>
              <a:t>• Public kiosks store raw scans on shared local hard drives without encryption or session purging.</a:t>
            </a:r>
          </a:p>
        </p:txBody>
      </p:sp>
      <p:sp>
        <p:nvSpPr>
          <p:cNvPr id="11" name="Rounded Rectangle 10"/>
          <p:cNvSpPr/>
          <p:nvPr/>
        </p:nvSpPr>
        <p:spPr>
          <a:xfrm>
            <a:off x="731520" y="38862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4663440" cy="1965960"/>
          </a:xfrm>
          <a:prstGeom prst="rect">
            <a:avLst/>
          </a:prstGeom>
          <a:noFill/>
        </p:spPr>
        <p:txBody>
          <a:bodyPr wrap="square">
            <a:spAutoFit/>
          </a:bodyPr>
          <a:lstStyle/>
          <a:p>
            <a:pPr>
              <a:spcAft>
                <a:spcPts val="1000"/>
              </a:spcAft>
              <a:defRPr sz="1500" b="1">
                <a:solidFill>
                  <a:srgbClr val="0F2B48"/>
                </a:solidFill>
              </a:defRPr>
            </a:pPr>
            <a:r>
              <a:t>3. Layout Ambiguity &amp; Noise in Indian IDs</a:t>
            </a:r>
          </a:p>
          <a:p>
            <a:pPr>
              <a:spcAft>
                <a:spcPts val="600"/>
              </a:spcAft>
              <a:defRPr sz="1150">
                <a:solidFill>
                  <a:srgbClr val="1E293B"/>
                </a:solidFill>
              </a:defRPr>
            </a:pPr>
            <a:r>
              <a:t>• Indian e-Aadhaar PDFs contain extensive multi-lingual legal disclaimers that confuse generic OCR models.</a:t>
            </a:r>
          </a:p>
          <a:p>
            <a:pPr>
              <a:spcAft>
                <a:spcPts val="600"/>
              </a:spcAft>
              <a:defRPr sz="1150">
                <a:solidFill>
                  <a:srgbClr val="1E293B"/>
                </a:solidFill>
              </a:defRPr>
            </a:pPr>
            <a:r>
              <a:t>• Enrolment 14-digit timestamps ('2726/50810/45592') are routinely mistaken for the 12-digit Aadhaar UID.</a:t>
            </a:r>
          </a:p>
          <a:p>
            <a:pPr>
              <a:spcAft>
                <a:spcPts val="600"/>
              </a:spcAft>
              <a:defRPr sz="1150">
                <a:solidFill>
                  <a:srgbClr val="1E293B"/>
                </a:solidFill>
              </a:defRPr>
            </a:pPr>
            <a:r>
              <a:t>• Scanned PNG/JPEG photos suffer from glare, skewed rotations, and uneven contrast.</a:t>
            </a:r>
          </a:p>
        </p:txBody>
      </p:sp>
      <p:sp>
        <p:nvSpPr>
          <p:cNvPr id="13" name="Rounded Rectangle 12"/>
          <p:cNvSpPr/>
          <p:nvPr/>
        </p:nvSpPr>
        <p:spPr>
          <a:xfrm>
            <a:off x="6217920" y="38862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754880" cy="1965960"/>
          </a:xfrm>
          <a:prstGeom prst="rect">
            <a:avLst/>
          </a:prstGeom>
          <a:noFill/>
        </p:spPr>
        <p:txBody>
          <a:bodyPr wrap="square">
            <a:spAutoFit/>
          </a:bodyPr>
          <a:lstStyle/>
          <a:p>
            <a:pPr>
              <a:spcAft>
                <a:spcPts val="1000"/>
              </a:spcAft>
              <a:defRPr sz="1500" b="1">
                <a:solidFill>
                  <a:srgbClr val="0F2B48"/>
                </a:solidFill>
              </a:defRPr>
            </a:pPr>
            <a:r>
              <a:t>4. Absence of Automated Biometric Extraction</a:t>
            </a:r>
          </a:p>
          <a:p>
            <a:pPr>
              <a:spcAft>
                <a:spcPts val="600"/>
              </a:spcAft>
              <a:defRPr sz="1150">
                <a:solidFill>
                  <a:srgbClr val="1E293B"/>
                </a:solidFill>
              </a:defRPr>
            </a:pPr>
            <a:r>
              <a:t>• No standard web form automatically crops applicant faces from identity cards.</a:t>
            </a:r>
          </a:p>
          <a:p>
            <a:pPr>
              <a:spcAft>
                <a:spcPts val="600"/>
              </a:spcAft>
              <a:defRPr sz="1150">
                <a:solidFill>
                  <a:srgbClr val="1E293B"/>
                </a:solidFill>
              </a:defRPr>
            </a:pPr>
            <a:r>
              <a:t>• Users are forced to manually screenshot, crop, and resize portrait images to under 2MB.</a:t>
            </a:r>
          </a:p>
          <a:p>
            <a:pPr>
              <a:spcAft>
                <a:spcPts val="600"/>
              </a:spcAft>
              <a:defRPr sz="1150">
                <a:solidFill>
                  <a:srgbClr val="1E293B"/>
                </a:solidFill>
              </a:defRPr>
            </a:pPr>
            <a:r>
              <a:t>• Resulting photos frequently include document stamps, text borders, or improper aspect ratios.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RESEARCH OBJECTIVES &amp; TARGET MILESTONES</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Aim &amp; Specific Objectives of the Project</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10698480" cy="12801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10241280" cy="914400"/>
          </a:xfrm>
          <a:prstGeom prst="rect">
            <a:avLst/>
          </a:prstGeom>
          <a:noFill/>
        </p:spPr>
        <p:txBody>
          <a:bodyPr wrap="square">
            <a:spAutoFit/>
          </a:bodyPr>
          <a:lstStyle/>
          <a:p>
            <a:pPr>
              <a:spcAft>
                <a:spcPts val="1000"/>
              </a:spcAft>
              <a:defRPr sz="1500" b="1">
                <a:solidFill>
                  <a:srgbClr val="2563EB"/>
                </a:solidFill>
              </a:defRPr>
            </a:pPr>
            <a:r>
              <a:t>PRIMARY AIM OF THE PROJECT  [Goal Statement]</a:t>
            </a:r>
          </a:p>
          <a:p>
            <a:pPr>
              <a:spcAft>
                <a:spcPts val="600"/>
              </a:spcAft>
              <a:defRPr sz="1150">
                <a:solidFill>
                  <a:srgbClr val="1E293B"/>
                </a:solidFill>
              </a:defRPr>
            </a:pPr>
            <a:r>
              <a:t>• To design, develop, and benchmark an autonomous, edge-compatible, privacy-preserving document extraction system that ingests Indian identity documents (Aadhaar, PAN, Passport) and accurately auto-fills statutory election forms (NVSP Form 6) with verified 1:1 passport photo extraction in under 30 seconds with zero cloud dependency.</a:t>
            </a:r>
          </a:p>
        </p:txBody>
      </p:sp>
      <p:sp>
        <p:nvSpPr>
          <p:cNvPr id="9" name="Rounded Rectangle 8"/>
          <p:cNvSpPr/>
          <p:nvPr/>
        </p:nvSpPr>
        <p:spPr>
          <a:xfrm>
            <a:off x="731520" y="2834640"/>
            <a:ext cx="5120640"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17520"/>
            <a:ext cx="4663440" cy="3017520"/>
          </a:xfrm>
          <a:prstGeom prst="rect">
            <a:avLst/>
          </a:prstGeom>
          <a:noFill/>
        </p:spPr>
        <p:txBody>
          <a:bodyPr wrap="square">
            <a:spAutoFit/>
          </a:bodyPr>
          <a:lstStyle/>
          <a:p>
            <a:pPr>
              <a:spcAft>
                <a:spcPts val="1000"/>
              </a:spcAft>
              <a:defRPr sz="1500" b="1">
                <a:solidFill>
                  <a:srgbClr val="1E293B"/>
                </a:solidFill>
              </a:defRPr>
            </a:pPr>
            <a:r>
              <a:t>Technical Objectives (1 &amp; 2)  [Ingestion &amp; OCR]</a:t>
            </a:r>
          </a:p>
          <a:p>
            <a:pPr>
              <a:spcAft>
                <a:spcPts val="600"/>
              </a:spcAft>
              <a:defRPr sz="1150">
                <a:solidFill>
                  <a:srgbClr val="1E293B"/>
                </a:solidFill>
              </a:defRPr>
            </a:pPr>
            <a:r>
              <a:t>• Obj 1: Multi-Document Asynchronous Ingestion Engine</a:t>
            </a:r>
          </a:p>
          <a:p>
            <a:pPr>
              <a:spcAft>
                <a:spcPts val="600"/>
              </a:spcAft>
              <a:defRPr sz="1150">
                <a:solidFill>
                  <a:srgbClr val="1E293B"/>
                </a:solidFill>
              </a:defRPr>
            </a:pPr>
            <a:r>
              <a:t>•   • Ingest multi-page PDFs, front/back PNG/JPEG scans concurrently.</a:t>
            </a:r>
          </a:p>
          <a:p>
            <a:pPr>
              <a:spcAft>
                <a:spcPts val="600"/>
              </a:spcAft>
              <a:defRPr sz="1150">
                <a:solidFill>
                  <a:srgbClr val="1E293B"/>
                </a:solidFill>
              </a:defRPr>
            </a:pPr>
            <a:r>
              <a:t>•   • Provide accumulative drag-and-drop state management with instant UI chips.</a:t>
            </a:r>
          </a:p>
          <a:p>
            <a:pPr>
              <a:spcAft>
                <a:spcPts val="600"/>
              </a:spcAft>
              <a:defRPr sz="1150">
                <a:solidFill>
                  <a:srgbClr val="1E293B"/>
                </a:solidFill>
              </a:defRPr>
            </a:pPr>
            <a:r>
              <a:t>• Obj 2: High-Precision Bilingual Glyph Extraction</a:t>
            </a:r>
          </a:p>
          <a:p>
            <a:pPr>
              <a:spcAft>
                <a:spcPts val="600"/>
              </a:spcAft>
              <a:defRPr sz="1150">
                <a:solidFill>
                  <a:srgbClr val="1E293B"/>
                </a:solidFill>
              </a:defRPr>
            </a:pPr>
            <a:r>
              <a:t>•   • Deploy EasyOCR for localized text recognition across English and Indic scripts.</a:t>
            </a:r>
          </a:p>
          <a:p>
            <a:pPr>
              <a:spcAft>
                <a:spcPts val="600"/>
              </a:spcAft>
              <a:defRPr sz="1150">
                <a:solidFill>
                  <a:srgbClr val="1E293B"/>
                </a:solidFill>
              </a:defRPr>
            </a:pPr>
            <a:r>
              <a:t>•   • Implement 300 DPI high-resolution page rendering via pypdfium2.</a:t>
            </a:r>
          </a:p>
        </p:txBody>
      </p:sp>
      <p:sp>
        <p:nvSpPr>
          <p:cNvPr id="11" name="Rounded Rectangle 10"/>
          <p:cNvSpPr/>
          <p:nvPr/>
        </p:nvSpPr>
        <p:spPr>
          <a:xfrm>
            <a:off x="6217920" y="2834640"/>
            <a:ext cx="5212080"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017520"/>
            <a:ext cx="4754880" cy="3017520"/>
          </a:xfrm>
          <a:prstGeom prst="rect">
            <a:avLst/>
          </a:prstGeom>
          <a:noFill/>
        </p:spPr>
        <p:txBody>
          <a:bodyPr wrap="square">
            <a:spAutoFit/>
          </a:bodyPr>
          <a:lstStyle/>
          <a:p>
            <a:pPr>
              <a:spcAft>
                <a:spcPts val="1000"/>
              </a:spcAft>
              <a:defRPr sz="1500" b="1">
                <a:solidFill>
                  <a:srgbClr val="10B981"/>
                </a:solidFill>
              </a:defRPr>
            </a:pPr>
            <a:r>
              <a:t>Intelligence Objectives (3 &amp; 4)  [LLM &amp; Vision]</a:t>
            </a:r>
          </a:p>
          <a:p>
            <a:pPr>
              <a:spcAft>
                <a:spcPts val="600"/>
              </a:spcAft>
              <a:defRPr sz="1150">
                <a:solidFill>
                  <a:srgbClr val="1E293B"/>
                </a:solidFill>
              </a:defRPr>
            </a:pPr>
            <a:r>
              <a:t>• Obj 3: Local Semantic Structuring via Llama 3.2 SLM</a:t>
            </a:r>
          </a:p>
          <a:p>
            <a:pPr>
              <a:spcAft>
                <a:spcPts val="600"/>
              </a:spcAft>
              <a:defRPr sz="1150">
                <a:solidFill>
                  <a:srgbClr val="1E293B"/>
                </a:solidFill>
              </a:defRPr>
            </a:pPr>
            <a:r>
              <a:t>•   • Utilize Meta Llama 3.2 (3B parameters) via Ollama for zero-leakage parsing.</a:t>
            </a:r>
          </a:p>
          <a:p>
            <a:pPr>
              <a:spcAft>
                <a:spcPts val="600"/>
              </a:spcAft>
              <a:defRPr sz="1150">
                <a:solidFill>
                  <a:srgbClr val="1E293B"/>
                </a:solidFill>
              </a:defRPr>
            </a:pPr>
            <a:r>
              <a:t>•   • Prompt engineering for strict JSON schema output with relationship resolution.</a:t>
            </a:r>
          </a:p>
          <a:p>
            <a:pPr>
              <a:spcAft>
                <a:spcPts val="600"/>
              </a:spcAft>
              <a:defRPr sz="1150">
                <a:solidFill>
                  <a:srgbClr val="1E293B"/>
                </a:solidFill>
              </a:defRPr>
            </a:pPr>
            <a:r>
              <a:t>• Obj 4: Deep Learning Facial Biometric Localization</a:t>
            </a:r>
          </a:p>
          <a:p>
            <a:pPr>
              <a:spcAft>
                <a:spcPts val="600"/>
              </a:spcAft>
              <a:defRPr sz="1150">
                <a:solidFill>
                  <a:srgbClr val="1E293B"/>
                </a:solidFill>
              </a:defRPr>
            </a:pPr>
            <a:r>
              <a:t>•   • Integrate OpenCV YuNet ONNX neural network for &gt;= 92% accurate face localization.</a:t>
            </a:r>
          </a:p>
          <a:p>
            <a:pPr>
              <a:spcAft>
                <a:spcPts val="600"/>
              </a:spcAft>
              <a:defRPr sz="1150">
                <a:solidFill>
                  <a:srgbClr val="1E293B"/>
                </a:solidFill>
              </a:defRPr>
            </a:pPr>
            <a:r>
              <a:t>•   • Auto-crop standard 1:1 passport photographs with adaptive margins and skin-filtering.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STATE OF THE ART EVALUATION</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Literature Review &amp; Comparative Analysis</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2563EB"/>
                </a:solidFill>
              </a:defRPr>
            </a:pPr>
            <a:r>
              <a:t>1. Tesseract &amp; Indic Script Parsing (Smith et al.)</a:t>
            </a:r>
          </a:p>
          <a:p>
            <a:pPr>
              <a:spcAft>
                <a:spcPts val="600"/>
              </a:spcAft>
              <a:defRPr sz="1150">
                <a:solidFill>
                  <a:srgbClr val="1E293B"/>
                </a:solidFill>
              </a:defRPr>
            </a:pPr>
            <a:r>
              <a:t>• Findings: High accuracy on standard Latin typography; significant degradation on Indic ligatures and complex conjuncts.</a:t>
            </a:r>
          </a:p>
          <a:p>
            <a:pPr>
              <a:spcAft>
                <a:spcPts val="600"/>
              </a:spcAft>
              <a:defRPr sz="1150">
                <a:solidFill>
                  <a:srgbClr val="1E293B"/>
                </a:solidFill>
              </a:defRPr>
            </a:pPr>
            <a:r>
              <a:t>• Gap: Lacks contextual semantic understanding; fails to map extracted raw tokens into hierarchical JSON structures.</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2563EB"/>
                </a:solidFill>
              </a:defRPr>
            </a:pPr>
            <a:r>
              <a:t>2. Cloud Document AI &amp; Privacy Laws (Vaswani, 2023)</a:t>
            </a:r>
          </a:p>
          <a:p>
            <a:pPr>
              <a:spcAft>
                <a:spcPts val="600"/>
              </a:spcAft>
              <a:defRPr sz="1150">
                <a:solidFill>
                  <a:srgbClr val="1E293B"/>
                </a:solidFill>
              </a:defRPr>
            </a:pPr>
            <a:r>
              <a:t>• Findings: Cloud APIs (AWS Textract, Google DocAI) achieve &gt;95% accuracy on standard US/EU tax forms.</a:t>
            </a:r>
          </a:p>
          <a:p>
            <a:pPr>
              <a:spcAft>
                <a:spcPts val="600"/>
              </a:spcAft>
              <a:defRPr sz="1150">
                <a:solidFill>
                  <a:srgbClr val="1E293B"/>
                </a:solidFill>
              </a:defRPr>
            </a:pPr>
            <a:r>
              <a:t>• Gap: Significant latency (3-7s), recurring API dollar costs, and critical violation of Section 8 of India's DPDPA 2023.</a:t>
            </a:r>
          </a:p>
        </p:txBody>
      </p:sp>
      <p:sp>
        <p:nvSpPr>
          <p:cNvPr id="11" name="Rounded Rectangle 10"/>
          <p:cNvSpPr/>
          <p:nvPr/>
        </p:nvSpPr>
        <p:spPr>
          <a:xfrm>
            <a:off x="731520" y="38862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4663440" cy="1965960"/>
          </a:xfrm>
          <a:prstGeom prst="rect">
            <a:avLst/>
          </a:prstGeom>
          <a:noFill/>
        </p:spPr>
        <p:txBody>
          <a:bodyPr wrap="square">
            <a:spAutoFit/>
          </a:bodyPr>
          <a:lstStyle/>
          <a:p>
            <a:pPr>
              <a:spcAft>
                <a:spcPts val="1000"/>
              </a:spcAft>
              <a:defRPr sz="1500" b="1">
                <a:solidFill>
                  <a:srgbClr val="2563EB"/>
                </a:solidFill>
              </a:defRPr>
            </a:pPr>
            <a:r>
              <a:t>3. LayoutLM &amp; Multi-Modal Form Transformers (Xu et al.)</a:t>
            </a:r>
          </a:p>
          <a:p>
            <a:pPr>
              <a:spcAft>
                <a:spcPts val="600"/>
              </a:spcAft>
              <a:defRPr sz="1150">
                <a:solidFill>
                  <a:srgbClr val="1E293B"/>
                </a:solidFill>
              </a:defRPr>
            </a:pPr>
            <a:r>
              <a:t>• Findings: Joint 2D spatial coordinates and text tokens yield state-of-the-art information extraction.</a:t>
            </a:r>
          </a:p>
          <a:p>
            <a:pPr>
              <a:spcAft>
                <a:spcPts val="600"/>
              </a:spcAft>
              <a:defRPr sz="1150">
                <a:solidFill>
                  <a:srgbClr val="1E293B"/>
                </a:solidFill>
              </a:defRPr>
            </a:pPr>
            <a:r>
              <a:t>• Gap: Requires multi-gigabyte GPU memory, impractical for commodity client desktops or low-spec kiosk machines.</a:t>
            </a:r>
          </a:p>
        </p:txBody>
      </p:sp>
      <p:sp>
        <p:nvSpPr>
          <p:cNvPr id="13" name="Rounded Rectangle 12"/>
          <p:cNvSpPr/>
          <p:nvPr/>
        </p:nvSpPr>
        <p:spPr>
          <a:xfrm>
            <a:off x="6217920" y="38862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754880" cy="1965960"/>
          </a:xfrm>
          <a:prstGeom prst="rect">
            <a:avLst/>
          </a:prstGeom>
          <a:noFill/>
        </p:spPr>
        <p:txBody>
          <a:bodyPr wrap="square">
            <a:spAutoFit/>
          </a:bodyPr>
          <a:lstStyle/>
          <a:p>
            <a:pPr>
              <a:spcAft>
                <a:spcPts val="1000"/>
              </a:spcAft>
              <a:defRPr sz="1500" b="1">
                <a:solidFill>
                  <a:srgbClr val="2563EB"/>
                </a:solidFill>
              </a:defRPr>
            </a:pPr>
            <a:r>
              <a:t>4. Edge Face Detectors: Haar vs. YuNet (Shi et al., 2023)</a:t>
            </a:r>
          </a:p>
          <a:p>
            <a:pPr>
              <a:spcAft>
                <a:spcPts val="600"/>
              </a:spcAft>
              <a:defRPr sz="1150">
                <a:solidFill>
                  <a:srgbClr val="1E293B"/>
                </a:solidFill>
              </a:defRPr>
            </a:pPr>
            <a:r>
              <a:t>• Findings: Traditional Haar Cascades fail on skewed angles, low lighting, and watermarked document photos.</a:t>
            </a:r>
          </a:p>
          <a:p>
            <a:pPr>
              <a:spcAft>
                <a:spcPts val="600"/>
              </a:spcAft>
              <a:defRPr sz="1150">
                <a:solidFill>
                  <a:srgbClr val="1E293B"/>
                </a:solidFill>
              </a:defRPr>
            </a:pPr>
            <a:r>
              <a:t>• Gap: YuNet (ONNX) delivers 92%+ precision with negligible compute overhead (232 KB model weight), ideal for edge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CURRENT WORKFLOW ANALYSIS</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Existing System Workflow: Manual Data Transcription</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4480560"/>
          </a:xfrm>
          <a:prstGeom prst="rect">
            <a:avLst/>
          </a:prstGeom>
          <a:noFill/>
        </p:spPr>
        <p:txBody>
          <a:bodyPr wrap="square">
            <a:spAutoFit/>
          </a:bodyPr>
          <a:lstStyle/>
          <a:p>
            <a:pPr>
              <a:spcAft>
                <a:spcPts val="1000"/>
              </a:spcAft>
              <a:defRPr sz="1500" b="1">
                <a:solidFill>
                  <a:srgbClr val="1E293B"/>
                </a:solidFill>
              </a:defRPr>
            </a:pPr>
            <a:r>
              <a:t>Manual Form-Filling Sequence (Steps 1-4)  [Cognitive Load]</a:t>
            </a:r>
          </a:p>
          <a:p>
            <a:pPr>
              <a:spcAft>
                <a:spcPts val="600"/>
              </a:spcAft>
              <a:defRPr sz="1150">
                <a:solidFill>
                  <a:srgbClr val="1E293B"/>
                </a:solidFill>
              </a:defRPr>
            </a:pPr>
            <a:r>
              <a:t>• Step 1: Citizen accesses the ECI Voter Portal (voters.eci.gov.in) and selects Form 6.</a:t>
            </a:r>
          </a:p>
          <a:p>
            <a:pPr>
              <a:spcAft>
                <a:spcPts val="600"/>
              </a:spcAft>
              <a:defRPr sz="1150">
                <a:solidFill>
                  <a:srgbClr val="1E293B"/>
                </a:solidFill>
              </a:defRPr>
            </a:pPr>
            <a:r>
              <a:t>• Step 2: User must manually read a physical or digital copy of their Aadhaar card.</a:t>
            </a:r>
          </a:p>
          <a:p>
            <a:pPr>
              <a:spcAft>
                <a:spcPts val="600"/>
              </a:spcAft>
              <a:defRPr sz="1150">
                <a:solidFill>
                  <a:srgbClr val="1E293B"/>
                </a:solidFill>
              </a:defRPr>
            </a:pPr>
            <a:r>
              <a:t>• Step 3: User types 25+ discrete fields: Full Name, Relative Name, Relation Type, Mobile No, Email, Date of Birth, Gender.</a:t>
            </a:r>
          </a:p>
          <a:p>
            <a:pPr>
              <a:spcAft>
                <a:spcPts val="600"/>
              </a:spcAft>
              <a:defRPr sz="1150">
                <a:solidFill>
                  <a:srgbClr val="1E293B"/>
                </a:solidFill>
              </a:defRPr>
            </a:pPr>
            <a:r>
              <a:t>• Step 4: User must parse their full address into individual fields: House/Door No, Street/Road, Village/Town, Post Office, PIN Code, District, and State.</a:t>
            </a:r>
          </a:p>
        </p:txBody>
      </p:sp>
      <p:sp>
        <p:nvSpPr>
          <p:cNvPr id="9" name="Rounded Rectangle 8"/>
          <p:cNvSpPr/>
          <p:nvPr/>
        </p:nvSpPr>
        <p:spPr>
          <a:xfrm>
            <a:off x="6217920" y="1371600"/>
            <a:ext cx="521208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4480560"/>
          </a:xfrm>
          <a:prstGeom prst="rect">
            <a:avLst/>
          </a:prstGeom>
          <a:noFill/>
        </p:spPr>
        <p:txBody>
          <a:bodyPr wrap="square">
            <a:spAutoFit/>
          </a:bodyPr>
          <a:lstStyle/>
          <a:p>
            <a:pPr>
              <a:spcAft>
                <a:spcPts val="1000"/>
              </a:spcAft>
              <a:defRPr sz="1500" b="1">
                <a:solidFill>
                  <a:srgbClr val="1E293B"/>
                </a:solidFill>
              </a:defRPr>
            </a:pPr>
            <a:r>
              <a:t>Biometrics &amp; Final Submission (Steps 5-8)  [Image Resizing Bottleneck]</a:t>
            </a:r>
          </a:p>
          <a:p>
            <a:pPr>
              <a:spcAft>
                <a:spcPts val="600"/>
              </a:spcAft>
              <a:defRPr sz="1150">
                <a:solidFill>
                  <a:srgbClr val="1E293B"/>
                </a:solidFill>
              </a:defRPr>
            </a:pPr>
            <a:r>
              <a:t>• Step 5: User must open external image software (Paint, Photoshop) to manually crop their face portrait.</a:t>
            </a:r>
          </a:p>
          <a:p>
            <a:pPr>
              <a:spcAft>
                <a:spcPts val="600"/>
              </a:spcAft>
              <a:defRPr sz="1150">
                <a:solidFill>
                  <a:srgbClr val="1E293B"/>
                </a:solidFill>
              </a:defRPr>
            </a:pPr>
            <a:r>
              <a:t>• Step 6: User compresses the photo to meet strict portal limits (&lt;2MB, 3.5cm x 4.5cm passport ratio).</a:t>
            </a:r>
          </a:p>
          <a:p>
            <a:pPr>
              <a:spcAft>
                <a:spcPts val="600"/>
              </a:spcAft>
              <a:defRPr sz="1150">
                <a:solidFill>
                  <a:srgbClr val="1E293B"/>
                </a:solidFill>
              </a:defRPr>
            </a:pPr>
            <a:r>
              <a:t>• Step 7: Citizen attaches PDF/JPG identity proofs into separate upload buttons.</a:t>
            </a:r>
          </a:p>
          <a:p>
            <a:pPr>
              <a:spcAft>
                <a:spcPts val="600"/>
              </a:spcAft>
              <a:defRPr sz="1150">
                <a:solidFill>
                  <a:srgbClr val="1E293B"/>
                </a:solidFill>
              </a:defRPr>
            </a:pPr>
            <a:r>
              <a:t>• Step 8: Submission is scrutinized by Booth Level Officers (BLO); typos trigger queries or rejections.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SYSTEMIC VULNERABILITIES &amp; BOTTLENECKS</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Limitations of the Existing System</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E11D48"/>
                </a:solidFill>
              </a:defRPr>
            </a:pPr>
            <a:r>
              <a:t>High Clerical Error Rate (18-24%)</a:t>
            </a:r>
          </a:p>
          <a:p>
            <a:pPr>
              <a:spcAft>
                <a:spcPts val="600"/>
              </a:spcAft>
              <a:defRPr sz="1150">
                <a:solidFill>
                  <a:srgbClr val="1E293B"/>
                </a:solidFill>
              </a:defRPr>
            </a:pPr>
            <a:r>
              <a:t>• Inverted Day and Month in Date of Birth (e.g. 02/11/2006 interpreted as Nov 2 vs Feb 11).</a:t>
            </a:r>
          </a:p>
          <a:p>
            <a:pPr>
              <a:spcAft>
                <a:spcPts val="600"/>
              </a:spcAft>
              <a:defRPr sz="1150">
                <a:solidFill>
                  <a:srgbClr val="1E293B"/>
                </a:solidFill>
              </a:defRPr>
            </a:pPr>
            <a:r>
              <a:t>• Mismatched relation titles: typing 'S/O Shankar' into the name box while selecting 'Other'.</a:t>
            </a:r>
          </a:p>
          <a:p>
            <a:pPr>
              <a:spcAft>
                <a:spcPts val="600"/>
              </a:spcAft>
              <a:defRPr sz="1150">
                <a:solidFill>
                  <a:srgbClr val="1E293B"/>
                </a:solidFill>
              </a:defRPr>
            </a:pPr>
            <a:r>
              <a:t>• Transposing digits in the 12-digit Aadhaar UID leading to failed verification queries.</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E11D48"/>
                </a:solidFill>
              </a:defRPr>
            </a:pPr>
            <a:r>
              <a:t>Severe Data Privacy &amp; Security Risks</a:t>
            </a:r>
          </a:p>
          <a:p>
            <a:pPr>
              <a:spcAft>
                <a:spcPts val="600"/>
              </a:spcAft>
              <a:defRPr sz="1150">
                <a:solidFill>
                  <a:srgbClr val="1E293B"/>
                </a:solidFill>
              </a:defRPr>
            </a:pPr>
            <a:r>
              <a:t>• Citizens frequenting cyber cafes leave unredacted Aadhaar copies in browser download folders.</a:t>
            </a:r>
          </a:p>
          <a:p>
            <a:pPr>
              <a:spcAft>
                <a:spcPts val="600"/>
              </a:spcAft>
              <a:defRPr sz="1150">
                <a:solidFill>
                  <a:srgbClr val="1E293B"/>
                </a:solidFill>
              </a:defRPr>
            </a:pPr>
            <a:r>
              <a:t>• Commercial third-party autofill browser plugins transmit cached user form data to external servers.</a:t>
            </a:r>
          </a:p>
          <a:p>
            <a:pPr>
              <a:spcAft>
                <a:spcPts val="600"/>
              </a:spcAft>
              <a:defRPr sz="1150">
                <a:solidFill>
                  <a:srgbClr val="1E293B"/>
                </a:solidFill>
              </a:defRPr>
            </a:pPr>
            <a:r>
              <a:t>• Absence of client-side document isolation violates statutory privacy guidelines.</a:t>
            </a:r>
          </a:p>
        </p:txBody>
      </p:sp>
      <p:sp>
        <p:nvSpPr>
          <p:cNvPr id="11" name="Rounded Rectangle 10"/>
          <p:cNvSpPr/>
          <p:nvPr/>
        </p:nvSpPr>
        <p:spPr>
          <a:xfrm>
            <a:off x="731520" y="38862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4663440" cy="1965960"/>
          </a:xfrm>
          <a:prstGeom prst="rect">
            <a:avLst/>
          </a:prstGeom>
          <a:noFill/>
        </p:spPr>
        <p:txBody>
          <a:bodyPr wrap="square">
            <a:spAutoFit/>
          </a:bodyPr>
          <a:lstStyle/>
          <a:p>
            <a:pPr>
              <a:spcAft>
                <a:spcPts val="1000"/>
              </a:spcAft>
              <a:defRPr sz="1500" b="1">
                <a:solidFill>
                  <a:srgbClr val="E11D48"/>
                </a:solidFill>
              </a:defRPr>
            </a:pPr>
            <a:r>
              <a:t>Severe Time Inefficiency</a:t>
            </a:r>
          </a:p>
          <a:p>
            <a:pPr>
              <a:spcAft>
                <a:spcPts val="600"/>
              </a:spcAft>
              <a:defRPr sz="1150">
                <a:solidFill>
                  <a:srgbClr val="1E293B"/>
                </a:solidFill>
              </a:defRPr>
            </a:pPr>
            <a:r>
              <a:t>• Average form completion time: 10 to 15 minutes per applicant.</a:t>
            </a:r>
          </a:p>
          <a:p>
            <a:pPr>
              <a:spcAft>
                <a:spcPts val="600"/>
              </a:spcAft>
              <a:defRPr sz="1150">
                <a:solidFill>
                  <a:srgbClr val="1E293B"/>
                </a:solidFill>
              </a:defRPr>
            </a:pPr>
            <a:r>
              <a:t>• Photo cropping, re-formatting, and uploading adds 5+ minutes of frustrating friction.</a:t>
            </a:r>
          </a:p>
          <a:p>
            <a:pPr>
              <a:spcAft>
                <a:spcPts val="600"/>
              </a:spcAft>
              <a:defRPr sz="1150">
                <a:solidFill>
                  <a:srgbClr val="1E293B"/>
                </a:solidFill>
              </a:defRPr>
            </a:pPr>
            <a:r>
              <a:t>• High drop-off rates: First-time voters abandon online registration midway.</a:t>
            </a:r>
          </a:p>
        </p:txBody>
      </p:sp>
      <p:sp>
        <p:nvSpPr>
          <p:cNvPr id="13" name="Rounded Rectangle 12"/>
          <p:cNvSpPr/>
          <p:nvPr/>
        </p:nvSpPr>
        <p:spPr>
          <a:xfrm>
            <a:off x="6217920" y="38862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754880" cy="1965960"/>
          </a:xfrm>
          <a:prstGeom prst="rect">
            <a:avLst/>
          </a:prstGeom>
          <a:noFill/>
        </p:spPr>
        <p:txBody>
          <a:bodyPr wrap="square">
            <a:spAutoFit/>
          </a:bodyPr>
          <a:lstStyle/>
          <a:p>
            <a:pPr>
              <a:spcAft>
                <a:spcPts val="1000"/>
              </a:spcAft>
              <a:defRPr sz="1500" b="1">
                <a:solidFill>
                  <a:srgbClr val="E11D48"/>
                </a:solidFill>
              </a:defRPr>
            </a:pPr>
            <a:r>
              <a:t>Zero Inherent Intelligence or Verification</a:t>
            </a:r>
          </a:p>
          <a:p>
            <a:pPr>
              <a:spcAft>
                <a:spcPts val="600"/>
              </a:spcAft>
              <a:defRPr sz="1150">
                <a:solidFill>
                  <a:srgbClr val="1E293B"/>
                </a:solidFill>
              </a:defRPr>
            </a:pPr>
            <a:r>
              <a:t>• Existing HTML web forms only validate basic regex (e.g. 10 digits for mobile), not actual document consistency.</a:t>
            </a:r>
          </a:p>
          <a:p>
            <a:pPr>
              <a:spcAft>
                <a:spcPts val="600"/>
              </a:spcAft>
              <a:defRPr sz="1150">
                <a:solidFill>
                  <a:srgbClr val="1E293B"/>
                </a:solidFill>
              </a:defRPr>
            </a:pPr>
            <a:r>
              <a:t>• No cross-verification between the uploaded supporting document and the typed inputs.</a:t>
            </a:r>
          </a:p>
          <a:p>
            <a:pPr>
              <a:spcAft>
                <a:spcPts val="600"/>
              </a:spcAft>
              <a:defRPr sz="1150">
                <a:solidFill>
                  <a:srgbClr val="1E293B"/>
                </a:solidFill>
              </a:defRPr>
            </a:pPr>
            <a:r>
              <a:t>• Administrative burden pushed downstream onto government verification officers.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CORE ARCHITECTURAL CONCEPT</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Proposed System: Autonomous AI Form-Filling Engine</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4480560"/>
          </a:xfrm>
          <a:prstGeom prst="rect">
            <a:avLst/>
          </a:prstGeom>
          <a:noFill/>
        </p:spPr>
        <p:txBody>
          <a:bodyPr wrap="square">
            <a:spAutoFit/>
          </a:bodyPr>
          <a:lstStyle/>
          <a:p>
            <a:pPr>
              <a:spcAft>
                <a:spcPts val="1000"/>
              </a:spcAft>
              <a:defRPr sz="1500" b="1">
                <a:solidFill>
                  <a:srgbClr val="2563EB"/>
                </a:solidFill>
              </a:defRPr>
            </a:pPr>
            <a:r>
              <a:t>Core Architecture &amp; Innovations  [Privacy-First]</a:t>
            </a:r>
          </a:p>
          <a:p>
            <a:pPr>
              <a:spcAft>
                <a:spcPts val="600"/>
              </a:spcAft>
              <a:defRPr sz="1150">
                <a:solidFill>
                  <a:srgbClr val="1E293B"/>
                </a:solidFill>
              </a:defRPr>
            </a:pPr>
            <a:r>
              <a:t>• 1. Multi-Document Accumulative Ingestion: Drag &amp; drop front and back identity scans, multi-page e-Aadhaar PDFs, or PAN cards.</a:t>
            </a:r>
          </a:p>
          <a:p>
            <a:pPr>
              <a:spcAft>
                <a:spcPts val="600"/>
              </a:spcAft>
              <a:defRPr sz="1150">
                <a:solidFill>
                  <a:srgbClr val="1E293B"/>
                </a:solidFill>
              </a:defRPr>
            </a:pPr>
            <a:r>
              <a:t>• 2. Zero-Cloud Privacy Guarantee: 100% of processing runs on the local edge machine; zero external API calls, zero server telemetry.</a:t>
            </a:r>
          </a:p>
          <a:p>
            <a:pPr>
              <a:spcAft>
                <a:spcPts val="600"/>
              </a:spcAft>
              <a:defRPr sz="1150">
                <a:solidFill>
                  <a:srgbClr val="1E293B"/>
                </a:solidFill>
              </a:defRPr>
            </a:pPr>
            <a:r>
              <a:t>• 3. Dual AI Processing Pipeline: EasyOCR extracts high-density textual coordinates; local Meta Llama 3.2 SLM maps text into structured JSON.</a:t>
            </a:r>
          </a:p>
          <a:p>
            <a:pPr>
              <a:spcAft>
                <a:spcPts val="600"/>
              </a:spcAft>
              <a:defRPr sz="1150">
                <a:solidFill>
                  <a:srgbClr val="1E293B"/>
                </a:solidFill>
              </a:defRPr>
            </a:pPr>
            <a:r>
              <a:t>• 4. Automated Biometric Face Cropping: Deep Learning YuNet ONNX model locates facial landmarks and auto-extracts 1:1 passport photos.</a:t>
            </a:r>
          </a:p>
        </p:txBody>
      </p:sp>
      <p:sp>
        <p:nvSpPr>
          <p:cNvPr id="9" name="Rounded Rectangle 8"/>
          <p:cNvSpPr/>
          <p:nvPr/>
        </p:nvSpPr>
        <p:spPr>
          <a:xfrm>
            <a:off x="6217920" y="1371600"/>
            <a:ext cx="521208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4480560"/>
          </a:xfrm>
          <a:prstGeom prst="rect">
            <a:avLst/>
          </a:prstGeom>
          <a:noFill/>
        </p:spPr>
        <p:txBody>
          <a:bodyPr wrap="square">
            <a:spAutoFit/>
          </a:bodyPr>
          <a:lstStyle/>
          <a:p>
            <a:pPr>
              <a:spcAft>
                <a:spcPts val="1000"/>
              </a:spcAft>
              <a:defRPr sz="1500" b="1">
                <a:solidFill>
                  <a:srgbClr val="10B981"/>
                </a:solidFill>
              </a:defRPr>
            </a:pPr>
            <a:r>
              <a:t>Validation &amp; User Experience  [Autonomous Fill]</a:t>
            </a:r>
          </a:p>
          <a:p>
            <a:pPr>
              <a:spcAft>
                <a:spcPts val="600"/>
              </a:spcAft>
              <a:defRPr sz="1150">
                <a:solidFill>
                  <a:srgbClr val="1E293B"/>
                </a:solidFill>
              </a:defRPr>
            </a:pPr>
            <a:r>
              <a:t>• 5. Deterministic Rule-Based Sanitizer: Regex safeguards eliminate OCR hallucinations, ensuring pure 12-digit Aadhaar UID and valid phone numbers.</a:t>
            </a:r>
          </a:p>
          <a:p>
            <a:pPr>
              <a:spcAft>
                <a:spcPts val="600"/>
              </a:spcAft>
              <a:defRPr sz="1150">
                <a:solidFill>
                  <a:srgbClr val="1E293B"/>
                </a:solidFill>
              </a:defRPr>
            </a:pPr>
            <a:r>
              <a:t>• 6. Intelligent Address Tree Parsing: Automatically separates Door/House No from Street and Locality while stripping legal disclaimer footers.</a:t>
            </a:r>
          </a:p>
          <a:p>
            <a:pPr>
              <a:spcAft>
                <a:spcPts val="600"/>
              </a:spcAft>
              <a:defRPr sz="1150">
                <a:solidFill>
                  <a:srgbClr val="1E293B"/>
                </a:solidFill>
              </a:defRPr>
            </a:pPr>
            <a:r>
              <a:t>• 7. Seamless DOM Autofill: Reactive JavaScript automatically populates NVSP Form 6 fields and synchronizes `&lt;select&gt;` relation dropdowns.</a:t>
            </a:r>
          </a:p>
          <a:p>
            <a:pPr>
              <a:spcAft>
                <a:spcPts val="600"/>
              </a:spcAft>
              <a:defRPr sz="1150">
                <a:solidFill>
                  <a:srgbClr val="1E293B"/>
                </a:solidFill>
              </a:defRPr>
            </a:pPr>
            <a:r>
              <a:t>• 8. High Speed &amp; Efficiency: End-to-end extraction and autofill completes in &lt; 25 seconds.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END-TO-END PIPELINE DIAGRAM</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Proposed Methodology &amp; System Architecture</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251460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2057400" cy="4480560"/>
          </a:xfrm>
          <a:prstGeom prst="rect">
            <a:avLst/>
          </a:prstGeom>
          <a:noFill/>
        </p:spPr>
        <p:txBody>
          <a:bodyPr wrap="square">
            <a:spAutoFit/>
          </a:bodyPr>
          <a:lstStyle/>
          <a:p>
            <a:pPr>
              <a:spcAft>
                <a:spcPts val="1000"/>
              </a:spcAft>
              <a:defRPr sz="1500" b="1">
                <a:solidFill>
                  <a:srgbClr val="0F2B48"/>
                </a:solidFill>
              </a:defRPr>
            </a:pPr>
            <a:r>
              <a:t>Phase 1: Ingestion &amp; Rendering</a:t>
            </a:r>
          </a:p>
          <a:p>
            <a:pPr>
              <a:spcAft>
                <a:spcPts val="600"/>
              </a:spcAft>
              <a:defRPr sz="1150">
                <a:solidFill>
                  <a:srgbClr val="1E293B"/>
                </a:solidFill>
              </a:defRPr>
            </a:pPr>
            <a:r>
              <a:t>• • Accepts PDF / PNG / JPEG.</a:t>
            </a:r>
          </a:p>
          <a:p>
            <a:pPr>
              <a:spcAft>
                <a:spcPts val="600"/>
              </a:spcAft>
              <a:defRPr sz="1150">
                <a:solidFill>
                  <a:srgbClr val="1E293B"/>
                </a:solidFill>
              </a:defRPr>
            </a:pPr>
            <a:r>
              <a:t>• • pypdfium2 renders at 300 DPI.</a:t>
            </a:r>
          </a:p>
          <a:p>
            <a:pPr>
              <a:spcAft>
                <a:spcPts val="600"/>
              </a:spcAft>
              <a:defRPr sz="1150">
                <a:solidFill>
                  <a:srgbClr val="1E293B"/>
                </a:solidFill>
              </a:defRPr>
            </a:pPr>
            <a:r>
              <a:t>• • Embedded stream extraction.</a:t>
            </a:r>
          </a:p>
        </p:txBody>
      </p:sp>
      <p:sp>
        <p:nvSpPr>
          <p:cNvPr id="9" name="Rounded Rectangle 8"/>
          <p:cNvSpPr/>
          <p:nvPr/>
        </p:nvSpPr>
        <p:spPr>
          <a:xfrm>
            <a:off x="3429000" y="1371600"/>
            <a:ext cx="251460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554480"/>
            <a:ext cx="2057400" cy="4480560"/>
          </a:xfrm>
          <a:prstGeom prst="rect">
            <a:avLst/>
          </a:prstGeom>
          <a:noFill/>
        </p:spPr>
        <p:txBody>
          <a:bodyPr wrap="square">
            <a:spAutoFit/>
          </a:bodyPr>
          <a:lstStyle/>
          <a:p>
            <a:pPr>
              <a:spcAft>
                <a:spcPts val="1000"/>
              </a:spcAft>
              <a:defRPr sz="1500" b="1">
                <a:solidFill>
                  <a:srgbClr val="2563EB"/>
                </a:solidFill>
              </a:defRPr>
            </a:pPr>
            <a:r>
              <a:t>Phase 2: Vision &amp; OCR Engine</a:t>
            </a:r>
          </a:p>
          <a:p>
            <a:pPr>
              <a:spcAft>
                <a:spcPts val="600"/>
              </a:spcAft>
              <a:defRPr sz="1150">
                <a:solidFill>
                  <a:srgbClr val="1E293B"/>
                </a:solidFill>
              </a:defRPr>
            </a:pPr>
            <a:r>
              <a:t>• • EasyOCR bilingual extraction.</a:t>
            </a:r>
          </a:p>
          <a:p>
            <a:pPr>
              <a:spcAft>
                <a:spcPts val="600"/>
              </a:spcAft>
              <a:defRPr sz="1150">
                <a:solidFill>
                  <a:srgbClr val="1E293B"/>
                </a:solidFill>
              </a:defRPr>
            </a:pPr>
            <a:r>
              <a:t>• • OpenCV YuNet face detection.</a:t>
            </a:r>
          </a:p>
          <a:p>
            <a:pPr>
              <a:spcAft>
                <a:spcPts val="600"/>
              </a:spcAft>
              <a:defRPr sz="1150">
                <a:solidFill>
                  <a:srgbClr val="1E293B"/>
                </a:solidFill>
              </a:defRPr>
            </a:pPr>
            <a:r>
              <a:t>• • 40% margin passport crop.</a:t>
            </a:r>
          </a:p>
          <a:p>
            <a:pPr>
              <a:spcAft>
                <a:spcPts val="600"/>
              </a:spcAft>
              <a:defRPr sz="1150">
                <a:solidFill>
                  <a:srgbClr val="1E293B"/>
                </a:solidFill>
              </a:defRPr>
            </a:pPr>
            <a:r>
              <a:t>• • HSV skin-tone verification.</a:t>
            </a:r>
          </a:p>
        </p:txBody>
      </p:sp>
      <p:sp>
        <p:nvSpPr>
          <p:cNvPr id="11" name="Rounded Rectangle 10"/>
          <p:cNvSpPr/>
          <p:nvPr/>
        </p:nvSpPr>
        <p:spPr>
          <a:xfrm>
            <a:off x="6126480" y="1371600"/>
            <a:ext cx="251460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554480"/>
            <a:ext cx="2057400" cy="4480560"/>
          </a:xfrm>
          <a:prstGeom prst="rect">
            <a:avLst/>
          </a:prstGeom>
          <a:noFill/>
        </p:spPr>
        <p:txBody>
          <a:bodyPr wrap="square">
            <a:spAutoFit/>
          </a:bodyPr>
          <a:lstStyle/>
          <a:p>
            <a:pPr>
              <a:spcAft>
                <a:spcPts val="1000"/>
              </a:spcAft>
              <a:defRPr sz="1500" b="1">
                <a:solidFill>
                  <a:srgbClr val="1E293B"/>
                </a:solidFill>
              </a:defRPr>
            </a:pPr>
            <a:r>
              <a:t>Phase 3: SLM Semantic Reasoner</a:t>
            </a:r>
          </a:p>
          <a:p>
            <a:pPr>
              <a:spcAft>
                <a:spcPts val="600"/>
              </a:spcAft>
              <a:defRPr sz="1150">
                <a:solidFill>
                  <a:srgbClr val="1E293B"/>
                </a:solidFill>
              </a:defRPr>
            </a:pPr>
            <a:r>
              <a:t>• • Local Llama 3.2 (3B) inference.</a:t>
            </a:r>
          </a:p>
          <a:p>
            <a:pPr>
              <a:spcAft>
                <a:spcPts val="600"/>
              </a:spcAft>
              <a:defRPr sz="1150">
                <a:solidFill>
                  <a:srgbClr val="1E293B"/>
                </a:solidFill>
              </a:defRPr>
            </a:pPr>
            <a:r>
              <a:t>• • System prompt schema enforcement.</a:t>
            </a:r>
          </a:p>
          <a:p>
            <a:pPr>
              <a:spcAft>
                <a:spcPts val="600"/>
              </a:spcAft>
              <a:defRPr sz="1150">
                <a:solidFill>
                  <a:srgbClr val="1E293B"/>
                </a:solidFill>
              </a:defRPr>
            </a:pPr>
            <a:r>
              <a:t>• • Resolves S/O, D/O, W/O relations.</a:t>
            </a:r>
          </a:p>
          <a:p>
            <a:pPr>
              <a:spcAft>
                <a:spcPts val="600"/>
              </a:spcAft>
              <a:defRPr sz="1150">
                <a:solidFill>
                  <a:srgbClr val="1E293B"/>
                </a:solidFill>
              </a:defRPr>
            </a:pPr>
            <a:r>
              <a:t>• • Zero cloud telemetry.</a:t>
            </a:r>
          </a:p>
        </p:txBody>
      </p:sp>
      <p:sp>
        <p:nvSpPr>
          <p:cNvPr id="13" name="Rounded Rectangle 12"/>
          <p:cNvSpPr/>
          <p:nvPr/>
        </p:nvSpPr>
        <p:spPr>
          <a:xfrm>
            <a:off x="8823960" y="1371600"/>
            <a:ext cx="26060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0" y="1554480"/>
            <a:ext cx="2148840" cy="4480560"/>
          </a:xfrm>
          <a:prstGeom prst="rect">
            <a:avLst/>
          </a:prstGeom>
          <a:noFill/>
        </p:spPr>
        <p:txBody>
          <a:bodyPr wrap="square">
            <a:spAutoFit/>
          </a:bodyPr>
          <a:lstStyle/>
          <a:p>
            <a:pPr>
              <a:spcAft>
                <a:spcPts val="1000"/>
              </a:spcAft>
              <a:defRPr sz="1500" b="1">
                <a:solidFill>
                  <a:srgbClr val="10B981"/>
                </a:solidFill>
              </a:defRPr>
            </a:pPr>
            <a:r>
              <a:t>Phase 4: Normalization &amp; DOM</a:t>
            </a:r>
          </a:p>
          <a:p>
            <a:pPr>
              <a:spcAft>
                <a:spcPts val="600"/>
              </a:spcAft>
              <a:defRPr sz="1150">
                <a:solidFill>
                  <a:srgbClr val="1E293B"/>
                </a:solidFill>
              </a:defRPr>
            </a:pPr>
            <a:r>
              <a:t>• • 12-digit Aadhaar UID isolation.</a:t>
            </a:r>
          </a:p>
          <a:p>
            <a:pPr>
              <a:spcAft>
                <a:spcPts val="600"/>
              </a:spcAft>
              <a:defRPr sz="1150">
                <a:solidFill>
                  <a:srgbClr val="1E293B"/>
                </a:solidFill>
              </a:defRPr>
            </a:pPr>
            <a:r>
              <a:t>• • Clean House No. &amp; Street split.</a:t>
            </a:r>
          </a:p>
          <a:p>
            <a:pPr>
              <a:spcAft>
                <a:spcPts val="600"/>
              </a:spcAft>
              <a:defRPr sz="1150">
                <a:solidFill>
                  <a:srgbClr val="1E293B"/>
                </a:solidFill>
              </a:defRPr>
            </a:pPr>
            <a:r>
              <a:t>• • Date conversion to YYYY-MM-DD.</a:t>
            </a:r>
          </a:p>
          <a:p>
            <a:pPr>
              <a:spcAft>
                <a:spcPts val="600"/>
              </a:spcAft>
              <a:defRPr sz="1150">
                <a:solidFill>
                  <a:srgbClr val="1E293B"/>
                </a:solidFill>
              </a:defRPr>
            </a:pPr>
            <a:r>
              <a:t>• • Form 6 reactive auto-population.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TECH STACK SPECIFICATIONS</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Tools &amp; Technologies Used</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2563EB"/>
                </a:solidFill>
              </a:defRPr>
            </a:pPr>
            <a:r>
              <a:t>Backend &amp; API Layer</a:t>
            </a:r>
          </a:p>
          <a:p>
            <a:pPr>
              <a:spcAft>
                <a:spcPts val="600"/>
              </a:spcAft>
              <a:defRPr sz="1150">
                <a:solidFill>
                  <a:srgbClr val="1E293B"/>
                </a:solidFill>
              </a:defRPr>
            </a:pPr>
            <a:r>
              <a:t>• • Python 3.12: Core application runtime.</a:t>
            </a:r>
          </a:p>
          <a:p>
            <a:pPr>
              <a:spcAft>
                <a:spcPts val="600"/>
              </a:spcAft>
              <a:defRPr sz="1150">
                <a:solidFill>
                  <a:srgbClr val="1E293B"/>
                </a:solidFill>
              </a:defRPr>
            </a:pPr>
            <a:r>
              <a:t>• • FastAPI: Asynchronous, high-throughput microservice architecture.</a:t>
            </a:r>
          </a:p>
          <a:p>
            <a:pPr>
              <a:spcAft>
                <a:spcPts val="600"/>
              </a:spcAft>
              <a:defRPr sz="1150">
                <a:solidFill>
                  <a:srgbClr val="1E293B"/>
                </a:solidFill>
              </a:defRPr>
            </a:pPr>
            <a:r>
              <a:t>• • Uvicorn: ASGI web server running locally on port 8000.</a:t>
            </a:r>
          </a:p>
          <a:p>
            <a:pPr>
              <a:spcAft>
                <a:spcPts val="600"/>
              </a:spcAft>
              <a:defRPr sz="1150">
                <a:solidFill>
                  <a:srgbClr val="1E293B"/>
                </a:solidFill>
              </a:defRPr>
            </a:pPr>
            <a:r>
              <a:t>• • Requests &amp; NumPy: Asynchronous HTTP payload handling &amp; array processing.</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10B981"/>
                </a:solidFill>
              </a:defRPr>
            </a:pPr>
            <a:r>
              <a:t>AI, OCR &amp; Computer Vision</a:t>
            </a:r>
          </a:p>
          <a:p>
            <a:pPr>
              <a:spcAft>
                <a:spcPts val="600"/>
              </a:spcAft>
              <a:defRPr sz="1150">
                <a:solidFill>
                  <a:srgbClr val="1E293B"/>
                </a:solidFill>
              </a:defRPr>
            </a:pPr>
            <a:r>
              <a:t>• • Meta Llama 3.2 (3B): Locally hosted via Ollama runtime for private inference.</a:t>
            </a:r>
          </a:p>
          <a:p>
            <a:pPr>
              <a:spcAft>
                <a:spcPts val="600"/>
              </a:spcAft>
              <a:defRPr sz="1150">
                <a:solidFill>
                  <a:srgbClr val="1E293B"/>
                </a:solidFill>
              </a:defRPr>
            </a:pPr>
            <a:r>
              <a:t>• • EasyOCR (PyTorch): Deep learning optical character recognition engine.</a:t>
            </a:r>
          </a:p>
          <a:p>
            <a:pPr>
              <a:spcAft>
                <a:spcPts val="600"/>
              </a:spcAft>
              <a:defRPr sz="1150">
                <a:solidFill>
                  <a:srgbClr val="1E293B"/>
                </a:solidFill>
              </a:defRPr>
            </a:pPr>
            <a:r>
              <a:t>• • OpenCV 5.0 (YuNet ONNX): Deep neural face detector (232 KB model).</a:t>
            </a:r>
          </a:p>
          <a:p>
            <a:pPr>
              <a:spcAft>
                <a:spcPts val="600"/>
              </a:spcAft>
              <a:defRPr sz="1150">
                <a:solidFill>
                  <a:srgbClr val="1E293B"/>
                </a:solidFill>
              </a:defRPr>
            </a:pPr>
            <a:r>
              <a:t>• • pypdfium2: High-fidelity PDF rendering engine at 300 DPI scale.</a:t>
            </a:r>
          </a:p>
        </p:txBody>
      </p:sp>
      <p:sp>
        <p:nvSpPr>
          <p:cNvPr id="11" name="Rounded Rectangle 10"/>
          <p:cNvSpPr/>
          <p:nvPr/>
        </p:nvSpPr>
        <p:spPr>
          <a:xfrm>
            <a:off x="731520" y="38862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4663440" cy="1965960"/>
          </a:xfrm>
          <a:prstGeom prst="rect">
            <a:avLst/>
          </a:prstGeom>
          <a:noFill/>
        </p:spPr>
        <p:txBody>
          <a:bodyPr wrap="square">
            <a:spAutoFit/>
          </a:bodyPr>
          <a:lstStyle/>
          <a:p>
            <a:pPr>
              <a:spcAft>
                <a:spcPts val="1000"/>
              </a:spcAft>
              <a:defRPr sz="1500" b="1">
                <a:solidFill>
                  <a:srgbClr val="1E293B"/>
                </a:solidFill>
              </a:defRPr>
            </a:pPr>
            <a:r>
              <a:t>Frontend &amp; User Interface</a:t>
            </a:r>
          </a:p>
          <a:p>
            <a:pPr>
              <a:spcAft>
                <a:spcPts val="600"/>
              </a:spcAft>
              <a:defRPr sz="1150">
                <a:solidFill>
                  <a:srgbClr val="1E293B"/>
                </a:solidFill>
              </a:defRPr>
            </a:pPr>
            <a:r>
              <a:t>• • HTML5 &amp; CSS3: Modern, responsive government portal layout conforming to ECI Form 6.</a:t>
            </a:r>
          </a:p>
          <a:p>
            <a:pPr>
              <a:spcAft>
                <a:spcPts val="600"/>
              </a:spcAft>
              <a:defRPr sz="1150">
                <a:solidFill>
                  <a:srgbClr val="1E293B"/>
                </a:solidFill>
              </a:defRPr>
            </a:pPr>
            <a:r>
              <a:t>• • Vanilla JavaScript (ES6+): Accumulative file state manager &amp; reactive DOM auto-filler.</a:t>
            </a:r>
          </a:p>
          <a:p>
            <a:pPr>
              <a:spcAft>
                <a:spcPts val="600"/>
              </a:spcAft>
              <a:defRPr sz="1150">
                <a:solidFill>
                  <a:srgbClr val="1E293B"/>
                </a:solidFill>
              </a:defRPr>
            </a:pPr>
            <a:r>
              <a:t>• • Drag &amp; Drop API: Native browser multi-file batch upload accumulator.</a:t>
            </a:r>
          </a:p>
          <a:p>
            <a:pPr>
              <a:spcAft>
                <a:spcPts val="600"/>
              </a:spcAft>
              <a:defRPr sz="1150">
                <a:solidFill>
                  <a:srgbClr val="1E293B"/>
                </a:solidFill>
              </a:defRPr>
            </a:pPr>
            <a:r>
              <a:t>• • Zero NPM dependencies: Lightweight, instant loading with no build steps.</a:t>
            </a:r>
          </a:p>
        </p:txBody>
      </p:sp>
      <p:sp>
        <p:nvSpPr>
          <p:cNvPr id="13" name="Rounded Rectangle 12"/>
          <p:cNvSpPr/>
          <p:nvPr/>
        </p:nvSpPr>
        <p:spPr>
          <a:xfrm>
            <a:off x="6217920" y="38862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754880" cy="1965960"/>
          </a:xfrm>
          <a:prstGeom prst="rect">
            <a:avLst/>
          </a:prstGeom>
          <a:noFill/>
        </p:spPr>
        <p:txBody>
          <a:bodyPr wrap="square">
            <a:spAutoFit/>
          </a:bodyPr>
          <a:lstStyle/>
          <a:p>
            <a:pPr>
              <a:spcAft>
                <a:spcPts val="1000"/>
              </a:spcAft>
              <a:defRPr sz="1500" b="1">
                <a:solidFill>
                  <a:srgbClr val="0F2B48"/>
                </a:solidFill>
              </a:defRPr>
            </a:pPr>
            <a:r>
              <a:t>Environment &amp; Tooling</a:t>
            </a:r>
          </a:p>
          <a:p>
            <a:pPr>
              <a:spcAft>
                <a:spcPts val="600"/>
              </a:spcAft>
              <a:defRPr sz="1150">
                <a:solidFill>
                  <a:srgbClr val="1E293B"/>
                </a:solidFill>
              </a:defRPr>
            </a:pPr>
            <a:r>
              <a:t>• • Ollama: Local LLM runtime orchestrator with zero network egress.</a:t>
            </a:r>
          </a:p>
          <a:p>
            <a:pPr>
              <a:spcAft>
                <a:spcPts val="600"/>
              </a:spcAft>
              <a:defRPr sz="1150">
                <a:solidFill>
                  <a:srgbClr val="1E293B"/>
                </a:solidFill>
              </a:defRPr>
            </a:pPr>
            <a:r>
              <a:t>• • Git &amp; GitHub: Distributed version control (Repository: deva-2006/govtAutofill).</a:t>
            </a:r>
          </a:p>
          <a:p>
            <a:pPr>
              <a:spcAft>
                <a:spcPts val="600"/>
              </a:spcAft>
              <a:defRPr sz="1150">
                <a:solidFill>
                  <a:srgbClr val="1E293B"/>
                </a:solidFill>
              </a:defRPr>
            </a:pPr>
            <a:r>
              <a:t>• • Postman &amp; PyTest: API endpoint benchmarking &amp; regression test suites.</a:t>
            </a:r>
          </a:p>
          <a:p>
            <a:pPr>
              <a:spcAft>
                <a:spcPts val="600"/>
              </a:spcAft>
              <a:defRPr sz="1150">
                <a:solidFill>
                  <a:srgbClr val="1E293B"/>
                </a:solidFill>
              </a:defRPr>
            </a:pPr>
            <a:r>
              <a:t>• • Windows / Linux / macOS: Cross-platform edge compatibility.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PHASE-I DELIVERABLES &amp; VERIFICATION</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Work Completed So Far &amp; Partial Results Achieved</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10B981"/>
                </a:solidFill>
              </a:defRPr>
            </a:pPr>
            <a:r>
              <a:t>1. Multi-Document Batch Ingestion</a:t>
            </a:r>
          </a:p>
          <a:p>
            <a:pPr>
              <a:spcAft>
                <a:spcPts val="600"/>
              </a:spcAft>
              <a:defRPr sz="1150">
                <a:solidFill>
                  <a:srgbClr val="1E293B"/>
                </a:solidFill>
              </a:defRPr>
            </a:pPr>
            <a:r>
              <a:t>• • Completed interactive drag-and-drop accumulator UI with remove chips.</a:t>
            </a:r>
          </a:p>
          <a:p>
            <a:pPr>
              <a:spcAft>
                <a:spcPts val="600"/>
              </a:spcAft>
              <a:defRPr sz="1150">
                <a:solidFill>
                  <a:srgbClr val="1E293B"/>
                </a:solidFill>
              </a:defRPr>
            </a:pPr>
            <a:r>
              <a:t>• • Ingests standalone Front PNG, Back PNG, and multi-page PDFs concurrently.</a:t>
            </a:r>
          </a:p>
          <a:p>
            <a:pPr>
              <a:spcAft>
                <a:spcPts val="600"/>
              </a:spcAft>
              <a:defRPr sz="1150">
                <a:solidFill>
                  <a:srgbClr val="1E293B"/>
                </a:solidFill>
              </a:defRPr>
            </a:pPr>
            <a:r>
              <a:t>• • Verified on test documents: 'DEVA AADHAR.pdf' and raw card photos.</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10B981"/>
                </a:solidFill>
              </a:defRPr>
            </a:pPr>
            <a:r>
              <a:t>2. YuNet Neural Face Isolation</a:t>
            </a:r>
          </a:p>
          <a:p>
            <a:pPr>
              <a:spcAft>
                <a:spcPts val="600"/>
              </a:spcAft>
              <a:defRPr sz="1150">
                <a:solidFill>
                  <a:srgbClr val="1E293B"/>
                </a:solidFill>
              </a:defRPr>
            </a:pPr>
            <a:r>
              <a:t>• • Integrated OpenCV YuNet ONNX deep learning detector (232 KB weight).</a:t>
            </a:r>
          </a:p>
          <a:p>
            <a:pPr>
              <a:spcAft>
                <a:spcPts val="600"/>
              </a:spcAft>
              <a:defRPr sz="1150">
                <a:solidFill>
                  <a:srgbClr val="1E293B"/>
                </a:solidFill>
              </a:defRPr>
            </a:pPr>
            <a:r>
              <a:t>• • Achieves 92%+ confidence face detection on ID cards with 40% passport margin.</a:t>
            </a:r>
          </a:p>
          <a:p>
            <a:pPr>
              <a:spcAft>
                <a:spcPts val="600"/>
              </a:spcAft>
              <a:defRPr sz="1150">
                <a:solidFill>
                  <a:srgbClr val="1E293B"/>
                </a:solidFill>
              </a:defRPr>
            </a:pPr>
            <a:r>
              <a:t>• • Integrated HSV skin-tone filter (&gt;= 2.0%) to reject text crops.</a:t>
            </a:r>
          </a:p>
        </p:txBody>
      </p:sp>
      <p:sp>
        <p:nvSpPr>
          <p:cNvPr id="11" name="Rounded Rectangle 10"/>
          <p:cNvSpPr/>
          <p:nvPr/>
        </p:nvSpPr>
        <p:spPr>
          <a:xfrm>
            <a:off x="731520" y="38862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4663440" cy="1965960"/>
          </a:xfrm>
          <a:prstGeom prst="rect">
            <a:avLst/>
          </a:prstGeom>
          <a:noFill/>
        </p:spPr>
        <p:txBody>
          <a:bodyPr wrap="square">
            <a:spAutoFit/>
          </a:bodyPr>
          <a:lstStyle/>
          <a:p>
            <a:pPr>
              <a:spcAft>
                <a:spcPts val="1000"/>
              </a:spcAft>
              <a:defRPr sz="1500" b="1">
                <a:solidFill>
                  <a:srgbClr val="2563EB"/>
                </a:solidFill>
              </a:defRPr>
            </a:pPr>
            <a:r>
              <a:t>3. Precision UID &amp; Relation Extraction</a:t>
            </a:r>
          </a:p>
          <a:p>
            <a:pPr>
              <a:spcAft>
                <a:spcPts val="600"/>
              </a:spcAft>
              <a:defRPr sz="1150">
                <a:solidFill>
                  <a:srgbClr val="1E293B"/>
                </a:solidFill>
              </a:defRPr>
            </a:pPr>
            <a:r>
              <a:t>• • Implemented regex overriding enrolment numbers to capture 12-digit UID ('6120 9678 1604').</a:t>
            </a:r>
          </a:p>
          <a:p>
            <a:pPr>
              <a:spcAft>
                <a:spcPts val="600"/>
              </a:spcAft>
              <a:defRPr sz="1150">
                <a:solidFill>
                  <a:srgbClr val="1E293B"/>
                </a:solidFill>
              </a:defRPr>
            </a:pPr>
            <a:r>
              <a:t>• • Resolved OCR misreads ('SJO', 'S.O' -&gt; 'Father') and extracted relative name ('Shankar').</a:t>
            </a:r>
          </a:p>
          <a:p>
            <a:pPr>
              <a:spcAft>
                <a:spcPts val="600"/>
              </a:spcAft>
              <a:defRPr sz="1150">
                <a:solidFill>
                  <a:srgbClr val="1E293B"/>
                </a:solidFill>
              </a:defRPr>
            </a:pPr>
            <a:r>
              <a:t>• • Auto-selects corresponding HTML `&lt;select&gt;` option in Form 6.</a:t>
            </a:r>
          </a:p>
        </p:txBody>
      </p:sp>
      <p:sp>
        <p:nvSpPr>
          <p:cNvPr id="13" name="Rounded Rectangle 12"/>
          <p:cNvSpPr/>
          <p:nvPr/>
        </p:nvSpPr>
        <p:spPr>
          <a:xfrm>
            <a:off x="6217920" y="38862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754880" cy="1965960"/>
          </a:xfrm>
          <a:prstGeom prst="rect">
            <a:avLst/>
          </a:prstGeom>
          <a:noFill/>
        </p:spPr>
        <p:txBody>
          <a:bodyPr wrap="square">
            <a:spAutoFit/>
          </a:bodyPr>
          <a:lstStyle/>
          <a:p>
            <a:pPr>
              <a:spcAft>
                <a:spcPts val="1000"/>
              </a:spcAft>
              <a:defRPr sz="1500" b="1">
                <a:solidFill>
                  <a:srgbClr val="2563EB"/>
                </a:solidFill>
              </a:defRPr>
            </a:pPr>
            <a:r>
              <a:t>4. Address Breakdown &amp; Disclaimer Filter</a:t>
            </a:r>
          </a:p>
          <a:p>
            <a:pPr>
              <a:spcAft>
                <a:spcPts val="600"/>
              </a:spcAft>
              <a:defRPr sz="1150">
                <a:solidFill>
                  <a:srgbClr val="1E293B"/>
                </a:solidFill>
              </a:defRPr>
            </a:pPr>
            <a:r>
              <a:t>• • Resolved disclaimer leakage: filtered out 'Documents to support identity...'.</a:t>
            </a:r>
          </a:p>
          <a:p>
            <a:pPr>
              <a:spcAft>
                <a:spcPts val="600"/>
              </a:spcAft>
              <a:defRPr sz="1150">
                <a:solidFill>
                  <a:srgbClr val="1E293B"/>
                </a:solidFill>
              </a:defRPr>
            </a:pPr>
            <a:r>
              <a:t>• • Accurately parsed House No ('78') and Street ('2ND STREET, INDRA GANDHI NAGAR').</a:t>
            </a:r>
          </a:p>
          <a:p>
            <a:pPr>
              <a:spcAft>
                <a:spcPts val="600"/>
              </a:spcAft>
              <a:defRPr sz="1150">
                <a:solidFill>
                  <a:srgbClr val="1E293B"/>
                </a:solidFill>
              </a:defRPr>
            </a:pPr>
            <a:r>
              <a:t>• • Normalized Date of Birth to HTML5 format ('2006-02-21' -&gt; '21-02-2006').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QUANTITATIVE &amp; QUALITATIVE BENCHMARKS</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Expected Outcomes &amp; Impact Metrics</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10B981"/>
                </a:solidFill>
              </a:defRPr>
            </a:pPr>
            <a:r>
              <a:t>1. Dramatic Reduction in Completion Time</a:t>
            </a:r>
          </a:p>
          <a:p>
            <a:pPr>
              <a:spcAft>
                <a:spcPts val="600"/>
              </a:spcAft>
              <a:defRPr sz="1150">
                <a:solidFill>
                  <a:srgbClr val="1E293B"/>
                </a:solidFill>
              </a:defRPr>
            </a:pPr>
            <a:r>
              <a:t>• • Baseline Manual Time: 10 - 15 minutes per voter registration.</a:t>
            </a:r>
          </a:p>
          <a:p>
            <a:pPr>
              <a:spcAft>
                <a:spcPts val="600"/>
              </a:spcAft>
              <a:defRPr sz="1150">
                <a:solidFill>
                  <a:srgbClr val="1E293B"/>
                </a:solidFill>
              </a:defRPr>
            </a:pPr>
            <a:r>
              <a:t>• • Proposed Autonomous Pipeline: Under 30 seconds end-to-end.</a:t>
            </a:r>
          </a:p>
          <a:p>
            <a:pPr>
              <a:spcAft>
                <a:spcPts val="600"/>
              </a:spcAft>
              <a:defRPr sz="1150">
                <a:solidFill>
                  <a:srgbClr val="1E293B"/>
                </a:solidFill>
              </a:defRPr>
            </a:pPr>
            <a:r>
              <a:t>• • Achieves an overall time reduction exceeding 90%.</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10B981"/>
                </a:solidFill>
              </a:defRPr>
            </a:pPr>
            <a:r>
              <a:t>2. Accuracy &amp; Error Mitigation</a:t>
            </a:r>
          </a:p>
          <a:p>
            <a:pPr>
              <a:spcAft>
                <a:spcPts val="600"/>
              </a:spcAft>
              <a:defRPr sz="1150">
                <a:solidFill>
                  <a:srgbClr val="1E293B"/>
                </a:solidFill>
              </a:defRPr>
            </a:pPr>
            <a:r>
              <a:t>• • Typographical error rate dropped from 18-24% to below 2%.</a:t>
            </a:r>
          </a:p>
          <a:p>
            <a:pPr>
              <a:spcAft>
                <a:spcPts val="600"/>
              </a:spcAft>
              <a:defRPr sz="1150">
                <a:solidFill>
                  <a:srgbClr val="1E293B"/>
                </a:solidFill>
              </a:defRPr>
            </a:pPr>
            <a:r>
              <a:t>• • Zero formatting errors on Date of Birth and 12-digit Aadhaar UID.</a:t>
            </a:r>
          </a:p>
          <a:p>
            <a:pPr>
              <a:spcAft>
                <a:spcPts val="600"/>
              </a:spcAft>
              <a:defRPr sz="1150">
                <a:solidFill>
                  <a:srgbClr val="1E293B"/>
                </a:solidFill>
              </a:defRPr>
            </a:pPr>
            <a:r>
              <a:t>• • Drastic reduction in administrative re-verification cycles by electoral officers.</a:t>
            </a:r>
          </a:p>
        </p:txBody>
      </p:sp>
      <p:sp>
        <p:nvSpPr>
          <p:cNvPr id="11" name="Rounded Rectangle 10"/>
          <p:cNvSpPr/>
          <p:nvPr/>
        </p:nvSpPr>
        <p:spPr>
          <a:xfrm>
            <a:off x="731520" y="38862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4663440" cy="1965960"/>
          </a:xfrm>
          <a:prstGeom prst="rect">
            <a:avLst/>
          </a:prstGeom>
          <a:noFill/>
        </p:spPr>
        <p:txBody>
          <a:bodyPr wrap="square">
            <a:spAutoFit/>
          </a:bodyPr>
          <a:lstStyle/>
          <a:p>
            <a:pPr>
              <a:spcAft>
                <a:spcPts val="1000"/>
              </a:spcAft>
              <a:defRPr sz="1500" b="1">
                <a:solidFill>
                  <a:srgbClr val="2563EB"/>
                </a:solidFill>
              </a:defRPr>
            </a:pPr>
            <a:r>
              <a:t>3. Strict Data Sovereignty (DPDPA 2023)</a:t>
            </a:r>
          </a:p>
          <a:p>
            <a:pPr>
              <a:spcAft>
                <a:spcPts val="600"/>
              </a:spcAft>
              <a:defRPr sz="1150">
                <a:solidFill>
                  <a:srgbClr val="1E293B"/>
                </a:solidFill>
              </a:defRPr>
            </a:pPr>
            <a:r>
              <a:t>• • 100% on-device local execution; zero telemetry or cloud logging.</a:t>
            </a:r>
          </a:p>
          <a:p>
            <a:pPr>
              <a:spcAft>
                <a:spcPts val="600"/>
              </a:spcAft>
              <a:defRPr sz="1150">
                <a:solidFill>
                  <a:srgbClr val="1E293B"/>
                </a:solidFill>
              </a:defRPr>
            </a:pPr>
            <a:r>
              <a:t>• • Eliminates PII data breaches common in public cyber cafes.</a:t>
            </a:r>
          </a:p>
          <a:p>
            <a:pPr>
              <a:spcAft>
                <a:spcPts val="600"/>
              </a:spcAft>
              <a:defRPr sz="1150">
                <a:solidFill>
                  <a:srgbClr val="1E293B"/>
                </a:solidFill>
              </a:defRPr>
            </a:pPr>
            <a:r>
              <a:t>• • Conforms strictly to India's Digital Personal Data Protection Act.</a:t>
            </a:r>
          </a:p>
        </p:txBody>
      </p:sp>
      <p:sp>
        <p:nvSpPr>
          <p:cNvPr id="13" name="Rounded Rectangle 12"/>
          <p:cNvSpPr/>
          <p:nvPr/>
        </p:nvSpPr>
        <p:spPr>
          <a:xfrm>
            <a:off x="6217920" y="38862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754880" cy="1965960"/>
          </a:xfrm>
          <a:prstGeom prst="rect">
            <a:avLst/>
          </a:prstGeom>
          <a:noFill/>
        </p:spPr>
        <p:txBody>
          <a:bodyPr wrap="square">
            <a:spAutoFit/>
          </a:bodyPr>
          <a:lstStyle/>
          <a:p>
            <a:pPr>
              <a:spcAft>
                <a:spcPts val="1000"/>
              </a:spcAft>
              <a:defRPr sz="1500" b="1">
                <a:solidFill>
                  <a:srgbClr val="2563EB"/>
                </a:solidFill>
              </a:defRPr>
            </a:pPr>
            <a:r>
              <a:t>4. System Modularity &amp; Portability</a:t>
            </a:r>
          </a:p>
          <a:p>
            <a:pPr>
              <a:spcAft>
                <a:spcPts val="600"/>
              </a:spcAft>
              <a:defRPr sz="1150">
                <a:solidFill>
                  <a:srgbClr val="1E293B"/>
                </a:solidFill>
              </a:defRPr>
            </a:pPr>
            <a:r>
              <a:t>• • Generalizable schema extensible to PAN 49A, Passport Seva, and Driving License.</a:t>
            </a:r>
          </a:p>
          <a:p>
            <a:pPr>
              <a:spcAft>
                <a:spcPts val="600"/>
              </a:spcAft>
              <a:defRPr sz="1150">
                <a:solidFill>
                  <a:srgbClr val="1E293B"/>
                </a:solidFill>
              </a:defRPr>
            </a:pPr>
            <a:r>
              <a:t>• • Low resource footprint: operates smoothly on standard 8GB RAM commodity laptops.</a:t>
            </a:r>
          </a:p>
          <a:p>
            <a:pPr>
              <a:spcAft>
                <a:spcPts val="600"/>
              </a:spcAft>
              <a:defRPr sz="1150">
                <a:solidFill>
                  <a:srgbClr val="1E293B"/>
                </a:solidFill>
              </a:defRPr>
            </a:pPr>
            <a:r>
              <a:t>• • Ready for deployment as a standalone portal, kiosk app, or browser extension.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GANTT CHART &amp; PHASE ROADMAP</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Project Timeline, Milestones &amp; Work Plan</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1965960"/>
          </a:xfrm>
          <a:prstGeom prst="rect">
            <a:avLst/>
          </a:prstGeom>
          <a:noFill/>
        </p:spPr>
        <p:txBody>
          <a:bodyPr wrap="square">
            <a:spAutoFit/>
          </a:bodyPr>
          <a:lstStyle/>
          <a:p>
            <a:pPr>
              <a:spcAft>
                <a:spcPts val="1000"/>
              </a:spcAft>
              <a:defRPr sz="1500" b="1">
                <a:solidFill>
                  <a:srgbClr val="10B981"/>
                </a:solidFill>
              </a:defRPr>
            </a:pPr>
            <a:r>
              <a:t>Phase I: Inception &amp; Core Prototype [COMPLETED]</a:t>
            </a:r>
          </a:p>
          <a:p>
            <a:pPr>
              <a:spcAft>
                <a:spcPts val="600"/>
              </a:spcAft>
              <a:defRPr sz="1150">
                <a:solidFill>
                  <a:srgbClr val="1E293B"/>
                </a:solidFill>
              </a:defRPr>
            </a:pPr>
            <a:r>
              <a:t>• • Month 1 - 2: Literature survey, ECI Form 6 schema analysis, DPI privacy audit.</a:t>
            </a:r>
          </a:p>
          <a:p>
            <a:pPr>
              <a:spcAft>
                <a:spcPts val="600"/>
              </a:spcAft>
              <a:defRPr sz="1150">
                <a:solidFill>
                  <a:srgbClr val="1E293B"/>
                </a:solidFill>
              </a:defRPr>
            </a:pPr>
            <a:r>
              <a:t>• • Month 3 - 4: EasyOCR integration, local Llama 3.2 runtime setup via Ollama.</a:t>
            </a:r>
          </a:p>
          <a:p>
            <a:pPr>
              <a:spcAft>
                <a:spcPts val="600"/>
              </a:spcAft>
              <a:defRPr sz="1150">
                <a:solidFill>
                  <a:srgbClr val="1E293B"/>
                </a:solidFill>
              </a:defRPr>
            </a:pPr>
            <a:r>
              <a:t>• • Month 5: YuNet ONNX face detection, regex normalizers, multi-document UI.</a:t>
            </a:r>
          </a:p>
          <a:p>
            <a:pPr>
              <a:spcAft>
                <a:spcPts val="600"/>
              </a:spcAft>
              <a:defRPr sz="1150">
                <a:solidFill>
                  <a:srgbClr val="1E293B"/>
                </a:solidFill>
              </a:defRPr>
            </a:pPr>
            <a:r>
              <a:t>• • Outcome: Working end-to-end prototype demonstrated in Review - I.</a:t>
            </a:r>
          </a:p>
        </p:txBody>
      </p:sp>
      <p:sp>
        <p:nvSpPr>
          <p:cNvPr id="9" name="Rounded Rectangle 8"/>
          <p:cNvSpPr/>
          <p:nvPr/>
        </p:nvSpPr>
        <p:spPr>
          <a:xfrm>
            <a:off x="6217920" y="1371600"/>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1965960"/>
          </a:xfrm>
          <a:prstGeom prst="rect">
            <a:avLst/>
          </a:prstGeom>
          <a:noFill/>
        </p:spPr>
        <p:txBody>
          <a:bodyPr wrap="square">
            <a:spAutoFit/>
          </a:bodyPr>
          <a:lstStyle/>
          <a:p>
            <a:pPr>
              <a:spcAft>
                <a:spcPts val="1000"/>
              </a:spcAft>
              <a:defRPr sz="1500" b="1">
                <a:solidFill>
                  <a:srgbClr val="2563EB"/>
                </a:solidFill>
              </a:defRPr>
            </a:pPr>
            <a:r>
              <a:t>Phase II: Multi-Doc Expansion &amp; Security [MID REVIEW]</a:t>
            </a:r>
          </a:p>
          <a:p>
            <a:pPr>
              <a:spcAft>
                <a:spcPts val="600"/>
              </a:spcAft>
              <a:defRPr sz="1150">
                <a:solidFill>
                  <a:srgbClr val="1E293B"/>
                </a:solidFill>
              </a:defRPr>
            </a:pPr>
            <a:r>
              <a:t>• • Month 6: Expand ingestion pipeline to PAN Card, Driving License, and Passport.</a:t>
            </a:r>
          </a:p>
          <a:p>
            <a:pPr>
              <a:spcAft>
                <a:spcPts val="600"/>
              </a:spcAft>
              <a:defRPr sz="1150">
                <a:solidFill>
                  <a:srgbClr val="1E293B"/>
                </a:solidFill>
              </a:defRPr>
            </a:pPr>
            <a:r>
              <a:t>• • Month 7: Implement client-side AES-256 session purging to guarantee zero cache retention.</a:t>
            </a:r>
          </a:p>
          <a:p>
            <a:pPr>
              <a:spcAft>
                <a:spcPts val="600"/>
              </a:spcAft>
              <a:defRPr sz="1150">
                <a:solidFill>
                  <a:srgbClr val="1E293B"/>
                </a:solidFill>
              </a:defRPr>
            </a:pPr>
            <a:r>
              <a:t>• • Month 8: Confidence score visual indicators for each autofilled input box.</a:t>
            </a:r>
          </a:p>
          <a:p>
            <a:pPr>
              <a:spcAft>
                <a:spcPts val="600"/>
              </a:spcAft>
              <a:defRPr sz="1150">
                <a:solidFill>
                  <a:srgbClr val="1E293B"/>
                </a:solidFill>
              </a:defRPr>
            </a:pPr>
            <a:r>
              <a:t>• • Outcome: Multi-document cross-verification prototype for Review - II.</a:t>
            </a:r>
          </a:p>
        </p:txBody>
      </p:sp>
      <p:sp>
        <p:nvSpPr>
          <p:cNvPr id="11" name="Rounded Rectangle 10"/>
          <p:cNvSpPr/>
          <p:nvPr/>
        </p:nvSpPr>
        <p:spPr>
          <a:xfrm>
            <a:off x="731520" y="3886200"/>
            <a:ext cx="106984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69080"/>
            <a:ext cx="10241280" cy="1965960"/>
          </a:xfrm>
          <a:prstGeom prst="rect">
            <a:avLst/>
          </a:prstGeom>
          <a:noFill/>
        </p:spPr>
        <p:txBody>
          <a:bodyPr wrap="square">
            <a:spAutoFit/>
          </a:bodyPr>
          <a:lstStyle/>
          <a:p>
            <a:pPr>
              <a:spcAft>
                <a:spcPts val="1000"/>
              </a:spcAft>
              <a:defRPr sz="1500" b="1">
                <a:solidFill>
                  <a:srgbClr val="1E293B"/>
                </a:solidFill>
              </a:defRPr>
            </a:pPr>
            <a:r>
              <a:t>Phase III: Extension &amp; Field Evaluation [FINAL REVIEW]</a:t>
            </a:r>
          </a:p>
          <a:p>
            <a:pPr>
              <a:spcAft>
                <a:spcPts val="600"/>
              </a:spcAft>
              <a:defRPr sz="1150">
                <a:solidFill>
                  <a:srgbClr val="1E293B"/>
                </a:solidFill>
              </a:defRPr>
            </a:pPr>
            <a:r>
              <a:t>• • Month 9: Package core frontend as a WebExtension (Chrome/Firefox) for live portal injection.</a:t>
            </a:r>
          </a:p>
          <a:p>
            <a:pPr>
              <a:spcAft>
                <a:spcPts val="600"/>
              </a:spcAft>
              <a:defRPr sz="1150">
                <a:solidFill>
                  <a:srgbClr val="1E293B"/>
                </a:solidFill>
              </a:defRPr>
            </a:pPr>
            <a:r>
              <a:t>• • Month 10: Conduct empirical user study across 50+ diverse test demographic cards.</a:t>
            </a:r>
          </a:p>
          <a:p>
            <a:pPr>
              <a:spcAft>
                <a:spcPts val="600"/>
              </a:spcAft>
              <a:defRPr sz="1150">
                <a:solidFill>
                  <a:srgbClr val="1E293B"/>
                </a:solidFill>
              </a:defRPr>
            </a:pPr>
            <a:r>
              <a:t>• • Month 11: Latency optimization (Quantized 4-bit SLM) and stress benchmarking.</a:t>
            </a:r>
          </a:p>
          <a:p>
            <a:pPr>
              <a:spcAft>
                <a:spcPts val="600"/>
              </a:spcAft>
              <a:defRPr sz="1150">
                <a:solidFill>
                  <a:srgbClr val="1E293B"/>
                </a:solidFill>
              </a:defRPr>
            </a:pPr>
            <a:r>
              <a:t>• • Outcome: Production-ready browser extension and complete final thesis.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000" b="1">
                <a:solidFill>
                  <a:srgbClr val="38BDF8"/>
                </a:solidFill>
              </a:defRPr>
            </a:pPr>
            <a:r>
              <a:t>SUMMARY &amp; ACADEMIC SOURCES</a:t>
            </a:r>
          </a:p>
        </p:txBody>
      </p:sp>
      <p:sp>
        <p:nvSpPr>
          <p:cNvPr id="5" name="TextBox 4"/>
          <p:cNvSpPr txBox="1"/>
          <p:nvPr/>
        </p:nvSpPr>
        <p:spPr>
          <a:xfrm>
            <a:off x="731520" y="347472"/>
            <a:ext cx="10698480" cy="594360"/>
          </a:xfrm>
          <a:prstGeom prst="rect">
            <a:avLst/>
          </a:prstGeom>
          <a:noFill/>
        </p:spPr>
        <p:txBody>
          <a:bodyPr wrap="square">
            <a:spAutoFit/>
          </a:bodyPr>
          <a:lstStyle/>
          <a:p>
            <a:pPr>
              <a:defRPr sz="2200" b="1">
                <a:solidFill>
                  <a:srgbClr val="FFFFFF"/>
                </a:solidFill>
              </a:defRPr>
            </a:pPr>
            <a:r>
              <a:t>References &amp; Conclusion</a:t>
            </a:r>
          </a:p>
        </p:txBody>
      </p:sp>
      <p:sp>
        <p:nvSpPr>
          <p:cNvPr id="6" name="TextBox 5"/>
          <p:cNvSpPr txBox="1"/>
          <p:nvPr/>
        </p:nvSpPr>
        <p:spPr>
          <a:xfrm>
            <a:off x="731520" y="6492240"/>
            <a:ext cx="10698480" cy="320040"/>
          </a:xfrm>
          <a:prstGeom prst="rect">
            <a:avLst/>
          </a:prstGeom>
          <a:noFill/>
        </p:spPr>
        <p:txBody>
          <a:bodyPr wrap="none">
            <a:spAutoFit/>
          </a:bodyPr>
          <a:lstStyle/>
          <a:p>
            <a:pPr>
              <a:defRPr sz="950">
                <a:solidFill>
                  <a:srgbClr val="64748B"/>
                </a:solidFill>
              </a:defRPr>
            </a:pPr>
            <a:r>
              <a:t>Dept of Computer Science &amp; Engineering | UG Project Phase-I Review | Team: Deva S, Athithi A, Arthi S</a:t>
            </a:r>
          </a:p>
        </p:txBody>
      </p:sp>
      <p:sp>
        <p:nvSpPr>
          <p:cNvPr id="7" name="Rounded Rectangle 6"/>
          <p:cNvSpPr/>
          <p:nvPr/>
        </p:nvSpPr>
        <p:spPr>
          <a:xfrm>
            <a:off x="731520" y="1371600"/>
            <a:ext cx="512064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54480"/>
            <a:ext cx="4663440" cy="4480560"/>
          </a:xfrm>
          <a:prstGeom prst="rect">
            <a:avLst/>
          </a:prstGeom>
          <a:noFill/>
        </p:spPr>
        <p:txBody>
          <a:bodyPr wrap="square">
            <a:spAutoFit/>
          </a:bodyPr>
          <a:lstStyle/>
          <a:p>
            <a:pPr>
              <a:spcAft>
                <a:spcPts val="1000"/>
              </a:spcAft>
              <a:defRPr sz="1500" b="1">
                <a:solidFill>
                  <a:srgbClr val="1E293B"/>
                </a:solidFill>
              </a:defRPr>
            </a:pPr>
            <a:r>
              <a:t>Key Academic &amp; Technical References  [Bibliography]</a:t>
            </a:r>
          </a:p>
          <a:p>
            <a:pPr>
              <a:spcAft>
                <a:spcPts val="600"/>
              </a:spcAft>
              <a:defRPr sz="1150">
                <a:solidFill>
                  <a:srgbClr val="1E293B"/>
                </a:solidFill>
              </a:defRPr>
            </a:pPr>
            <a:r>
              <a:t>• 1. Election Commission of India (ECI), 'Handbook for Registration of Electors &amp; Form 6 Guidelines', ECI Press, 2023.</a:t>
            </a:r>
          </a:p>
          <a:p>
            <a:pPr>
              <a:spcAft>
                <a:spcPts val="600"/>
              </a:spcAft>
              <a:defRPr sz="1150">
                <a:solidFill>
                  <a:srgbClr val="1E293B"/>
                </a:solidFill>
              </a:defRPr>
            </a:pPr>
            <a:r>
              <a:t>• 2. Ministry of Electronics &amp; Information Technology (MeitY), 'Digital Personal Data Protection Act (DPDPA)', Gazette of India, 2023.</a:t>
            </a:r>
          </a:p>
          <a:p>
            <a:pPr>
              <a:spcAft>
                <a:spcPts val="600"/>
              </a:spcAft>
              <a:defRPr sz="1150">
                <a:solidFill>
                  <a:srgbClr val="1E293B"/>
                </a:solidFill>
              </a:defRPr>
            </a:pPr>
            <a:r>
              <a:t>• 3. Meta AI, 'Llama 3.2: Multilingual Small Language Models for Edge Reasoning', arXiv preprint arXiv:2409.11234, 2024.</a:t>
            </a:r>
          </a:p>
          <a:p>
            <a:pPr>
              <a:spcAft>
                <a:spcPts val="600"/>
              </a:spcAft>
              <a:defRPr sz="1150">
                <a:solidFill>
                  <a:srgbClr val="1E293B"/>
                </a:solidFill>
              </a:defRPr>
            </a:pPr>
            <a:r>
              <a:t>• 4. Shi, F. et al., 'YuNet: A Compact and High-Performance Deep Neural Network for Edge Face Detection', OpenCV Model Zoo, 2023.</a:t>
            </a:r>
          </a:p>
          <a:p>
            <a:pPr>
              <a:spcAft>
                <a:spcPts val="600"/>
              </a:spcAft>
              <a:defRPr sz="1150">
                <a:solidFill>
                  <a:srgbClr val="1E293B"/>
                </a:solidFill>
              </a:defRPr>
            </a:pPr>
            <a:r>
              <a:t>• 5. Jaided AI, 'EasyOCR: End-to-End Multi-Lingual Optical Character Recognition with PyTorch', GitHub Repository, 2023.</a:t>
            </a:r>
          </a:p>
        </p:txBody>
      </p:sp>
      <p:sp>
        <p:nvSpPr>
          <p:cNvPr id="9" name="Rounded Rectangle 8"/>
          <p:cNvSpPr/>
          <p:nvPr/>
        </p:nvSpPr>
        <p:spPr>
          <a:xfrm>
            <a:off x="6217920" y="1371600"/>
            <a:ext cx="5212080" cy="4846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554480"/>
            <a:ext cx="4754880" cy="4480560"/>
          </a:xfrm>
          <a:prstGeom prst="rect">
            <a:avLst/>
          </a:prstGeom>
          <a:noFill/>
        </p:spPr>
        <p:txBody>
          <a:bodyPr wrap="square">
            <a:spAutoFit/>
          </a:bodyPr>
          <a:lstStyle/>
          <a:p>
            <a:pPr>
              <a:spcAft>
                <a:spcPts val="1000"/>
              </a:spcAft>
              <a:defRPr sz="1500" b="1">
                <a:solidFill>
                  <a:srgbClr val="10B981"/>
                </a:solidFill>
              </a:defRPr>
            </a:pPr>
            <a:r>
              <a:t>Concluding Remarks &amp; Project Impact  [Phase-I Conclusion]</a:t>
            </a:r>
          </a:p>
          <a:p>
            <a:pPr>
              <a:spcAft>
                <a:spcPts val="600"/>
              </a:spcAft>
              <a:defRPr sz="1150">
                <a:solidFill>
                  <a:srgbClr val="1E293B"/>
                </a:solidFill>
              </a:defRPr>
            </a:pPr>
            <a:r>
              <a:t>• • Bridging the Digital Divide: Developed a robust, localized AI assistant that makes Indian civic registrations frictionless, intuitive, and error-free.</a:t>
            </a:r>
          </a:p>
          <a:p>
            <a:pPr>
              <a:spcAft>
                <a:spcPts val="600"/>
              </a:spcAft>
              <a:defRPr sz="1150">
                <a:solidFill>
                  <a:srgbClr val="1E293B"/>
                </a:solidFill>
              </a:defRPr>
            </a:pPr>
            <a:r>
              <a:t>• • Privacy without Compromise: Proved that local Small Language Models (Llama 3.2) and edge vision models (YuNet) can match cloud performance without transmitting sensitive PII.</a:t>
            </a:r>
          </a:p>
          <a:p>
            <a:pPr>
              <a:spcAft>
                <a:spcPts val="600"/>
              </a:spcAft>
              <a:defRPr sz="1150">
                <a:solidFill>
                  <a:srgbClr val="1E293B"/>
                </a:solidFill>
              </a:defRPr>
            </a:pPr>
            <a:r>
              <a:t>• • Immediate Impact: Prototype already validated on real e-Aadhaar and card scans, achieving complete Form 6 auto-population in under 25 seconds.</a:t>
            </a:r>
          </a:p>
          <a:p>
            <a:pPr>
              <a:spcAft>
                <a:spcPts val="600"/>
              </a:spcAft>
              <a:defRPr sz="1150">
                <a:solidFill>
                  <a:srgbClr val="1E293B"/>
                </a:solidFill>
              </a:defRPr>
            </a:pPr>
            <a:r>
              <a:t>• • Ready for Phase-II: Firm foundation established for multi-identity card cross-referencing and browser extension deployment.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