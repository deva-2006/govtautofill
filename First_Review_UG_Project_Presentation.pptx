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'Good morning staff. We are Deva, Athithi, and Arthi. Our project is an AI tool that helps people fill government web forms easily. Today, when applying for a Voter ID card (Form 6), people have to type over 20 details by hand from their Aadhaar card. In our project, the user simply uploads their Aadhaar card or PAN card, and our AI reads all the details, cuts out their passport photo, and fills the entire form automatically in just a few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'Here is our presentation flow. First, we explain why filling government forms is difficult today, what problems people face, and what other researchers have done. Then, we explain our system, the technologies we used, the working prototype we have already built, and our plan for the next review.'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'Staff, in simple terms: whenever anyone applies for a Voter ID card, they must sit with their Aadhaar card and type every single box by hand. They also have to open Paint or Photoshop to crop their passport photo. In our project, the user simply drops their Aadhaar card on the screen. Our AI automatically reads the text, cuts the photo, and fills all boxes in 20 seconds. It works completely offline on the computer, so personal data is safe.'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'Every year, more than 2 crore young citizens turn 18 and apply for Voter ID cards using Form 6. But around 20% of applications have issues because people type their birth date in the wrong format or make spelling mistakes. Also, people who don't have computers go to internet cafes, pay money, and leave copies of their Aadhaar cards on shared computers. This is why we wanted to build this solution.'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'Staff, there are four main problems: First, too much typing leads to mistakes. Second, uploading private Aadhaar cards to commercial cloud APIs is dangerous for privacy. Third, Aadhaar cards have messy text like enrolment numbers and disclaimers that fool normal scanners. And fourth, people find it very hard to crop and resize a passport photo by themselves.'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'Our aim is simple: In under 30 seconds, take an ID card, extract all details, crop the photo, and fill Form 6. Our four clear objectives are: 1. Let users upload front and back images easily. 2. Read the text accurately with OCR. 3. Use local AI to put names and addresses in the right boxes. 4. Automatically find and crop the face photo for the form.'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'When we looked at previous research: basic tools like Tesseract can read text but don't understand what the text means. Big cloud tools like Google or AWS work well, but they charge money and upload private Aadhaar cards to their servers. So we chose a lightweight, open-source approach: running a small AI model called Llama 3.2 and a small face detector called YuNet directly on the computer for free.'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'Today, the process is completely manual. The user opens the voter portal, reads their card, and types 20 boxes. When they reach the photo section, the portal doesn't crop photos for them. They have to open Paint, cut their face out, save the file, and upload it. It takes 10 to 15 minutes per form.'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'To summarize the drawbacks: 1. Lots of spelling and date mistakes. 2. Privacy risks at internet cafes. 3. Wasting 15 minutes per form and paying money to cyber cafes. 4. The website doesn't check if what you typed matches the card. Our project solves all four problems.'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'In our proposed system, the user just drops their ID card images or PDF on the website. In less than 25 seconds, our Python backend reads the text, local Llama 3.2 AI sorts the fields, YuNet cuts out the passport photo, our cleaning rules fix the address and Aadhaar number, and every field in Form 6 is filled automatically. The user just clicks Submit.'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'Here is the 4-step workflow: Step 1: User uploads files. Step 2: EasyOCR reads the text, and YuNet AI finds and crops the face. Step 3: Local Llama 3.2 AI figures out which word is the name, which is the father's name, and which is the address. Step 4: Our Python code cleans up the data and fills the Form 6 inputs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'Staff, for our technologies: We used Python with FastAPI for the backend. We used EasyOCR to read text from cards. We used Meta's Llama 3.2 model running locally via Ollama to sort the words into fields without needing internet. We used OpenCV's YuNet model to detect the face and crop the passport photo. And our frontend uses simple, clean HTML and JavaScript.'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'For Phase 1, we have already built a fully working prototype! We tested it on real Aadhaar documents. We successfully solved four tough problems: 1. Uploading both front and back images together. 2. Cropping the face photo cleanly without including text. 3. Picking the true 12-digit Aadhaar number instead of the 14-digit enrolment number. And 4. Splitting the door number and street name cleanly while removing legal disclaimer text. All code is committed on GitHub.'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'The expected benefits are very clear: 1. 90% time saved—filling a form takes under 30 seconds instead of 15 minutes. 2. Typing mistakes drop to under 2%. 3. Total privacy—no citizen data is sent over the internet. And 4. The same system can be used for PAN cards, Driving Licenses, and college admission forms in the future.'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'Here is our 3-phase plan: Phase 1 is completed—we built the core working prototype for Aadhaar and Form 6. In Phase 2 for the Mid Review, we will add PAN cards and Driving Licenses, and add green confidence checkmarks. In Phase 3 for the Final Review, we will turn this into a Chrome Extension that directly fills the live government website with one click.'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EXPLANATION FOR STAFF:</a:t>
            </a:r>
          </a:p>
          <a:p>
            <a:r>
              <a:t>'In conclusion: our project makes filling government forms fast, simple, and completely private. We have already built a working system that takes an ID card, reads the text, crops the photo, and fills Form 6 in 20 seconds. We are ready for Phase 2. Thank you staff, we are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2895" cy="2011680"/>
          </a:xfrm>
          <a:prstGeom prst="rect">
            <a:avLst/>
          </a:prstGeom>
          <a:noFill/>
        </p:spPr>
        <p:txBody>
          <a:bodyPr wrap="square">
            <a:spAutoFit/>
          </a:bodyPr>
          <a:lstStyle/>
          <a:p>
            <a:pPr>
              <a:spcAft>
                <a:spcPts val="1200"/>
              </a:spcAft>
              <a:defRPr sz="1300" b="1">
                <a:solidFill>
                  <a:srgbClr val="38BDF8"/>
                </a:solidFill>
              </a:defRPr>
            </a:pPr>
            <a:r>
              <a:t>UG PROJECT - FIRST REVIEW</a:t>
            </a:r>
          </a:p>
          <a:p>
            <a:pPr>
              <a:spcAft>
                <a:spcPts val="1000"/>
              </a:spcAft>
              <a:defRPr sz="2800" b="1">
                <a:solidFill>
                  <a:srgbClr val="FFFFFF"/>
                </a:solidFill>
              </a:defRPr>
            </a:pPr>
            <a:r>
              <a:t>AI-Based Smart Document Autofill for Government Portals</a:t>
            </a:r>
          </a:p>
          <a:p>
            <a:pPr>
              <a:defRPr sz="1500">
                <a:solidFill>
                  <a:srgbClr val="CBD5E1"/>
                </a:solidFill>
              </a:defRPr>
            </a:pPr>
            <a:r>
              <a:t>Automatically reading ID cards (Aadhaar / PAN) and filling Voter ID Form 6 using local AI and face detection</a:t>
            </a:r>
          </a:p>
        </p:txBody>
      </p:sp>
      <p:sp>
        <p:nvSpPr>
          <p:cNvPr id="4" name="Rectangle 3"/>
          <p:cNvSpPr/>
          <p:nvPr/>
        </p:nvSpPr>
        <p:spPr>
          <a:xfrm>
            <a:off x="914400" y="3474720"/>
            <a:ext cx="103628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794760"/>
            <a:ext cx="6217920" cy="2286000"/>
          </a:xfrm>
          <a:prstGeom prst="roundRect">
            <a:avLst/>
          </a:prstGeom>
          <a:solidFill>
            <a:srgbClr val="163556"/>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886200"/>
            <a:ext cx="5852160" cy="2103120"/>
          </a:xfrm>
          <a:prstGeom prst="rect">
            <a:avLst/>
          </a:prstGeom>
          <a:noFill/>
        </p:spPr>
        <p:txBody>
          <a:bodyPr wrap="square">
            <a:spAutoFit/>
          </a:bodyPr>
          <a:lstStyle/>
          <a:p>
            <a:pPr>
              <a:spcAft>
                <a:spcPts val="800"/>
              </a:spcAft>
              <a:defRPr sz="1200" b="1">
                <a:solidFill>
                  <a:srgbClr val="38BDF8"/>
                </a:solidFill>
              </a:defRPr>
            </a:pPr>
            <a:r>
              <a:t>PROJECT TEAM MEMBERS:</a:t>
            </a:r>
          </a:p>
          <a:p>
            <a:pPr>
              <a:spcAft>
                <a:spcPts val="400"/>
              </a:spcAft>
              <a:defRPr sz="1300" b="1">
                <a:solidFill>
                  <a:srgbClr val="FFFFFF"/>
                </a:solidFill>
              </a:defRPr>
            </a:pPr>
            <a:r>
              <a:t>•  DEVA S  —  Reg No: 2117230070025</a:t>
            </a:r>
          </a:p>
          <a:p>
            <a:pPr>
              <a:spcAft>
                <a:spcPts val="400"/>
              </a:spcAft>
              <a:defRPr sz="1300" b="1">
                <a:solidFill>
                  <a:srgbClr val="FFFFFF"/>
                </a:solidFill>
              </a:defRPr>
            </a:pPr>
            <a:r>
              <a:t>•  ATHITHI A  —  Reg No: 2117230070004</a:t>
            </a:r>
          </a:p>
          <a:p>
            <a:pPr>
              <a:spcAft>
                <a:spcPts val="400"/>
              </a:spcAft>
              <a:defRPr sz="1300" b="1">
                <a:solidFill>
                  <a:srgbClr val="FFFFFF"/>
                </a:solidFill>
              </a:defRPr>
            </a:pPr>
            <a:r>
              <a:t>•  ARTHI S  —  Reg No: 2117230070016</a:t>
            </a:r>
          </a:p>
        </p:txBody>
      </p:sp>
      <p:sp>
        <p:nvSpPr>
          <p:cNvPr id="7" name="Rounded Rectangle 6"/>
          <p:cNvSpPr/>
          <p:nvPr/>
        </p:nvSpPr>
        <p:spPr>
          <a:xfrm>
            <a:off x="7406640" y="3794760"/>
            <a:ext cx="3870655" cy="2286000"/>
          </a:xfrm>
          <a:prstGeom prst="roundRect">
            <a:avLst/>
          </a:prstGeom>
          <a:solidFill>
            <a:srgbClr val="163556"/>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3886200"/>
            <a:ext cx="3474720" cy="2103120"/>
          </a:xfrm>
          <a:prstGeom prst="rect">
            <a:avLst/>
          </a:prstGeom>
          <a:noFill/>
        </p:spPr>
        <p:txBody>
          <a:bodyPr wrap="square">
            <a:spAutoFit/>
          </a:bodyPr>
          <a:lstStyle/>
          <a:p>
            <a:pPr>
              <a:spcAft>
                <a:spcPts val="800"/>
              </a:spcAft>
              <a:defRPr sz="1200" b="1">
                <a:solidFill>
                  <a:srgbClr val="38BDF8"/>
                </a:solidFill>
              </a:defRPr>
            </a:pPr>
            <a:r>
              <a:t>PROJECT DETAILS</a:t>
            </a:r>
          </a:p>
          <a:p>
            <a:pPr>
              <a:spcAft>
                <a:spcPts val="300"/>
              </a:spcAft>
              <a:defRPr sz="1100">
                <a:solidFill>
                  <a:srgbClr val="E2E8F0"/>
                </a:solidFill>
              </a:defRPr>
            </a:pPr>
            <a:r>
              <a:t>Degree: B.E. Computer Science &amp; Engineering</a:t>
            </a:r>
          </a:p>
          <a:p>
            <a:pPr>
              <a:spcAft>
                <a:spcPts val="300"/>
              </a:spcAft>
              <a:defRPr sz="1100">
                <a:solidFill>
                  <a:srgbClr val="E2E8F0"/>
                </a:solidFill>
              </a:defRPr>
            </a:pPr>
            <a:r>
              <a:t>Target Application: ECI NVSP Voter Registration (Form 6)</a:t>
            </a:r>
          </a:p>
          <a:p>
            <a:pPr>
              <a:spcAft>
                <a:spcPts val="300"/>
              </a:spcAft>
              <a:defRPr sz="1100">
                <a:solidFill>
                  <a:srgbClr val="E2E8F0"/>
                </a:solidFill>
              </a:defRPr>
            </a:pPr>
            <a:r>
              <a:t>Review Stage: First Review (Phase - 1)</a:t>
            </a:r>
          </a:p>
          <a:p>
            <a:pPr>
              <a:spcAft>
                <a:spcPts val="300"/>
              </a:spcAft>
              <a:defRPr sz="1100">
                <a:solidFill>
                  <a:srgbClr val="E2E8F0"/>
                </a:solidFill>
              </a:defRPr>
            </a:pPr>
            <a:r>
              <a:t>System: 100% Local Processing (Zero Cloud Cost)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AGENDA</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Table of Contents</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663440" cy="4480560"/>
          </a:xfrm>
          <a:prstGeom prst="rect">
            <a:avLst/>
          </a:prstGeom>
          <a:noFill/>
        </p:spPr>
        <p:txBody>
          <a:bodyPr wrap="square">
            <a:spAutoFit/>
          </a:bodyPr>
          <a:lstStyle/>
          <a:p>
            <a:pPr>
              <a:spcAft>
                <a:spcPts val="1000"/>
              </a:spcAft>
              <a:defRPr sz="1450" b="1">
                <a:solidFill>
                  <a:srgbClr val="2563EB"/>
                </a:solidFill>
              </a:defRPr>
            </a:pPr>
            <a:r>
              <a:t>Part 1: The Problem &amp; Study  [Slides 3-9]</a:t>
            </a:r>
          </a:p>
          <a:p>
            <a:pPr>
              <a:spcAft>
                <a:spcPts val="600"/>
              </a:spcAft>
              <a:defRPr sz="1150">
                <a:solidFill>
                  <a:srgbClr val="1E293B"/>
                </a:solidFill>
              </a:defRPr>
            </a:pPr>
            <a:r>
              <a:t>• 1. Introduction</a:t>
            </a:r>
          </a:p>
          <a:p>
            <a:pPr>
              <a:spcAft>
                <a:spcPts val="600"/>
              </a:spcAft>
              <a:defRPr sz="1150">
                <a:solidFill>
                  <a:srgbClr val="1E293B"/>
                </a:solidFill>
              </a:defRPr>
            </a:pPr>
            <a:r>
              <a:t>• 2. Background of the Project</a:t>
            </a:r>
          </a:p>
          <a:p>
            <a:pPr>
              <a:spcAft>
                <a:spcPts val="600"/>
              </a:spcAft>
              <a:defRPr sz="1150">
                <a:solidFill>
                  <a:srgbClr val="1E293B"/>
                </a:solidFill>
              </a:defRPr>
            </a:pPr>
            <a:r>
              <a:t>• 3. Problem Statement</a:t>
            </a:r>
          </a:p>
          <a:p>
            <a:pPr>
              <a:spcAft>
                <a:spcPts val="600"/>
              </a:spcAft>
              <a:defRPr sz="1150">
                <a:solidFill>
                  <a:srgbClr val="1E293B"/>
                </a:solidFill>
              </a:defRPr>
            </a:pPr>
            <a:r>
              <a:t>• 4. Aim and Objectives</a:t>
            </a:r>
          </a:p>
          <a:p>
            <a:pPr>
              <a:spcAft>
                <a:spcPts val="600"/>
              </a:spcAft>
              <a:defRPr sz="1150">
                <a:solidFill>
                  <a:srgbClr val="1E293B"/>
                </a:solidFill>
              </a:defRPr>
            </a:pPr>
            <a:r>
              <a:t>• 5. Literature Review</a:t>
            </a:r>
          </a:p>
          <a:p>
            <a:pPr>
              <a:spcAft>
                <a:spcPts val="600"/>
              </a:spcAft>
              <a:defRPr sz="1150">
                <a:solidFill>
                  <a:srgbClr val="1E293B"/>
                </a:solidFill>
              </a:defRPr>
            </a:pPr>
            <a:r>
              <a:t>• 6. Existing System</a:t>
            </a:r>
          </a:p>
          <a:p>
            <a:pPr>
              <a:spcAft>
                <a:spcPts val="600"/>
              </a:spcAft>
              <a:defRPr sz="1150">
                <a:solidFill>
                  <a:srgbClr val="1E293B"/>
                </a:solidFill>
              </a:defRPr>
            </a:pPr>
            <a:r>
              <a:t>• 7. Limitations of the Existing System</a:t>
            </a:r>
          </a:p>
        </p:txBody>
      </p:sp>
      <p:sp>
        <p:nvSpPr>
          <p:cNvPr id="9" name="Rounded Rectangle 8"/>
          <p:cNvSpPr/>
          <p:nvPr/>
        </p:nvSpPr>
        <p:spPr>
          <a:xfrm>
            <a:off x="6217920" y="137160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4754880" cy="4480560"/>
          </a:xfrm>
          <a:prstGeom prst="rect">
            <a:avLst/>
          </a:prstGeom>
          <a:noFill/>
        </p:spPr>
        <p:txBody>
          <a:bodyPr wrap="square">
            <a:spAutoFit/>
          </a:bodyPr>
          <a:lstStyle/>
          <a:p>
            <a:pPr>
              <a:spcAft>
                <a:spcPts val="1000"/>
              </a:spcAft>
              <a:defRPr sz="1450" b="1">
                <a:solidFill>
                  <a:srgbClr val="10B981"/>
                </a:solidFill>
              </a:defRPr>
            </a:pPr>
            <a:r>
              <a:t>Part 2: Our Solution &amp; Results  [Slides 10-16]</a:t>
            </a:r>
          </a:p>
          <a:p>
            <a:pPr>
              <a:spcAft>
                <a:spcPts val="600"/>
              </a:spcAft>
              <a:defRPr sz="1150">
                <a:solidFill>
                  <a:srgbClr val="1E293B"/>
                </a:solidFill>
              </a:defRPr>
            </a:pPr>
            <a:r>
              <a:t>• 8. Proposed System</a:t>
            </a:r>
          </a:p>
          <a:p>
            <a:pPr>
              <a:spcAft>
                <a:spcPts val="600"/>
              </a:spcAft>
              <a:defRPr sz="1150">
                <a:solidFill>
                  <a:srgbClr val="1E293B"/>
                </a:solidFill>
              </a:defRPr>
            </a:pPr>
            <a:r>
              <a:t>• 9. System Architecture &amp; How it Works</a:t>
            </a:r>
          </a:p>
          <a:p>
            <a:pPr>
              <a:spcAft>
                <a:spcPts val="600"/>
              </a:spcAft>
              <a:defRPr sz="1150">
                <a:solidFill>
                  <a:srgbClr val="1E293B"/>
                </a:solidFill>
              </a:defRPr>
            </a:pPr>
            <a:r>
              <a:t>• 10. Tools &amp; Technologies Used</a:t>
            </a:r>
          </a:p>
          <a:p>
            <a:pPr>
              <a:spcAft>
                <a:spcPts val="600"/>
              </a:spcAft>
              <a:defRPr sz="1150">
                <a:solidFill>
                  <a:srgbClr val="1E293B"/>
                </a:solidFill>
              </a:defRPr>
            </a:pPr>
            <a:r>
              <a:t>• 11. Work Completed So Far (Our Results)</a:t>
            </a:r>
          </a:p>
          <a:p>
            <a:pPr>
              <a:spcAft>
                <a:spcPts val="600"/>
              </a:spcAft>
              <a:defRPr sz="1150">
                <a:solidFill>
                  <a:srgbClr val="1E293B"/>
                </a:solidFill>
              </a:defRPr>
            </a:pPr>
            <a:r>
              <a:t>• 12. What We Have Built (Key Features)</a:t>
            </a:r>
          </a:p>
          <a:p>
            <a:pPr>
              <a:spcAft>
                <a:spcPts val="600"/>
              </a:spcAft>
              <a:defRPr sz="1150">
                <a:solidFill>
                  <a:srgbClr val="1E293B"/>
                </a:solidFill>
              </a:defRPr>
            </a:pPr>
            <a:r>
              <a:t>• 13. Expected Outcomes &amp; Benefits</a:t>
            </a:r>
          </a:p>
          <a:p>
            <a:pPr>
              <a:spcAft>
                <a:spcPts val="600"/>
              </a:spcAft>
              <a:defRPr sz="1150">
                <a:solidFill>
                  <a:srgbClr val="1E293B"/>
                </a:solidFill>
              </a:defRPr>
            </a:pPr>
            <a:r>
              <a:t>• 14. Project Timeline &amp; Next Steps</a:t>
            </a:r>
          </a:p>
          <a:p>
            <a:pPr>
              <a:spcAft>
                <a:spcPts val="600"/>
              </a:spcAft>
              <a:defRPr sz="1150">
                <a:solidFill>
                  <a:srgbClr val="1E293B"/>
                </a:solidFill>
              </a:defRPr>
            </a:pPr>
            <a:r>
              <a:t>• 15. Conclusion &amp;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PROJECT OVERVIEW</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Introduction: What is this Project About?</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663440" cy="4480560"/>
          </a:xfrm>
          <a:prstGeom prst="rect">
            <a:avLst/>
          </a:prstGeom>
          <a:noFill/>
        </p:spPr>
        <p:txBody>
          <a:bodyPr wrap="square">
            <a:spAutoFit/>
          </a:bodyPr>
          <a:lstStyle/>
          <a:p>
            <a:pPr>
              <a:spcAft>
                <a:spcPts val="1000"/>
              </a:spcAft>
              <a:defRPr sz="1450" b="1">
                <a:solidFill>
                  <a:srgbClr val="2563EB"/>
                </a:solidFill>
              </a:defRPr>
            </a:pPr>
            <a:r>
              <a:t>The Real-World Need  [The Situation]</a:t>
            </a:r>
          </a:p>
          <a:p>
            <a:pPr>
              <a:spcAft>
                <a:spcPts val="600"/>
              </a:spcAft>
              <a:defRPr sz="1150">
                <a:solidFill>
                  <a:srgbClr val="1E293B"/>
                </a:solidFill>
              </a:defRPr>
            </a:pPr>
            <a:r>
              <a:t>• Applying for government IDs (like Voter ID Form 6) requires typing more than 20 details manually.</a:t>
            </a:r>
          </a:p>
          <a:p>
            <a:pPr>
              <a:spcAft>
                <a:spcPts val="600"/>
              </a:spcAft>
              <a:defRPr sz="1150">
                <a:solidFill>
                  <a:srgbClr val="1E293B"/>
                </a:solidFill>
              </a:defRPr>
            </a:pPr>
            <a:r>
              <a:t>• Applicants have to type Name, Father's Name, DOB, Gender, Mobile No, and break their full address into Door No, Street, Village, and Pincode.</a:t>
            </a:r>
          </a:p>
          <a:p>
            <a:pPr>
              <a:spcAft>
                <a:spcPts val="600"/>
              </a:spcAft>
              <a:defRPr sz="1150">
                <a:solidFill>
                  <a:srgbClr val="1E293B"/>
                </a:solidFill>
              </a:defRPr>
            </a:pPr>
            <a:r>
              <a:t>• They also have to crop and resize a separate passport photo to match website size rules.</a:t>
            </a:r>
          </a:p>
          <a:p>
            <a:pPr>
              <a:spcAft>
                <a:spcPts val="600"/>
              </a:spcAft>
              <a:defRPr sz="1150">
                <a:solidFill>
                  <a:srgbClr val="1E293B"/>
                </a:solidFill>
              </a:defRPr>
            </a:pPr>
            <a:r>
              <a:t>• This manual process takes 10 to 15 minutes per person and causes many typing mistakes.</a:t>
            </a:r>
          </a:p>
        </p:txBody>
      </p:sp>
      <p:sp>
        <p:nvSpPr>
          <p:cNvPr id="9" name="Rounded Rectangle 8"/>
          <p:cNvSpPr/>
          <p:nvPr/>
        </p:nvSpPr>
        <p:spPr>
          <a:xfrm>
            <a:off x="6217920" y="137160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4754880" cy="4480560"/>
          </a:xfrm>
          <a:prstGeom prst="rect">
            <a:avLst/>
          </a:prstGeom>
          <a:noFill/>
        </p:spPr>
        <p:txBody>
          <a:bodyPr wrap="square">
            <a:spAutoFit/>
          </a:bodyPr>
          <a:lstStyle/>
          <a:p>
            <a:pPr>
              <a:spcAft>
                <a:spcPts val="1000"/>
              </a:spcAft>
              <a:defRPr sz="1450" b="1">
                <a:solidFill>
                  <a:srgbClr val="10B981"/>
                </a:solidFill>
              </a:defRPr>
            </a:pPr>
            <a:r>
              <a:t>Our Smart Approach  [Our Idea]</a:t>
            </a:r>
          </a:p>
          <a:p>
            <a:pPr>
              <a:spcAft>
                <a:spcPts val="600"/>
              </a:spcAft>
              <a:defRPr sz="1150">
                <a:solidFill>
                  <a:srgbClr val="1E293B"/>
                </a:solidFill>
              </a:defRPr>
            </a:pPr>
            <a:r>
              <a:t>• Our Solution: A smart web app that reads the ID card and fills the form automatically.</a:t>
            </a:r>
          </a:p>
          <a:p>
            <a:pPr>
              <a:spcAft>
                <a:spcPts val="600"/>
              </a:spcAft>
              <a:defRPr sz="1150">
                <a:solidFill>
                  <a:srgbClr val="1E293B"/>
                </a:solidFill>
              </a:defRPr>
            </a:pPr>
            <a:r>
              <a:t>• The user simply uploads their Aadhaar card (PDF or image).</a:t>
            </a:r>
          </a:p>
          <a:p>
            <a:pPr>
              <a:spcAft>
                <a:spcPts val="600"/>
              </a:spcAft>
              <a:defRPr sz="1150">
                <a:solidFill>
                  <a:srgbClr val="1E293B"/>
                </a:solidFill>
              </a:defRPr>
            </a:pPr>
            <a:r>
              <a:t>• Our AI reads all the text, finds the person's face, cuts out a clean passport photo, and fills all the boxes instantly.</a:t>
            </a:r>
          </a:p>
          <a:p>
            <a:pPr>
              <a:spcAft>
                <a:spcPts val="600"/>
              </a:spcAft>
              <a:defRPr sz="1150">
                <a:solidFill>
                  <a:srgbClr val="1E293B"/>
                </a:solidFill>
              </a:defRPr>
            </a:pPr>
            <a:r>
              <a:t>• Privacy-Friendly: Everything runs directly on the computer—no data is sent to external cloud servers.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BACKGROUND STUDY</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Background: The Voter ID (Form 6) Process</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663440" cy="4480560"/>
          </a:xfrm>
          <a:prstGeom prst="rect">
            <a:avLst/>
          </a:prstGeom>
          <a:noFill/>
        </p:spPr>
        <p:txBody>
          <a:bodyPr wrap="square">
            <a:spAutoFit/>
          </a:bodyPr>
          <a:lstStyle/>
          <a:p>
            <a:pPr>
              <a:spcAft>
                <a:spcPts val="1000"/>
              </a:spcAft>
              <a:defRPr sz="1450" b="1">
                <a:solidFill>
                  <a:srgbClr val="2563EB"/>
                </a:solidFill>
              </a:defRPr>
            </a:pPr>
            <a:r>
              <a:t>Scale of Voter Registration in India  [The Scale]</a:t>
            </a:r>
          </a:p>
          <a:p>
            <a:pPr>
              <a:spcAft>
                <a:spcPts val="600"/>
              </a:spcAft>
              <a:defRPr sz="1150">
                <a:solidFill>
                  <a:srgbClr val="1E293B"/>
                </a:solidFill>
              </a:defRPr>
            </a:pPr>
            <a:r>
              <a:t>• Form 6 is the official form used by the Election Commission of India (ECI) for new voter registrations.</a:t>
            </a:r>
          </a:p>
          <a:p>
            <a:pPr>
              <a:spcAft>
                <a:spcPts val="600"/>
              </a:spcAft>
              <a:defRPr sz="1150">
                <a:solidFill>
                  <a:srgbClr val="1E293B"/>
                </a:solidFill>
              </a:defRPr>
            </a:pPr>
            <a:r>
              <a:t>• Over 2 crore (20 million) new voters apply every single year across India.</a:t>
            </a:r>
          </a:p>
          <a:p>
            <a:pPr>
              <a:spcAft>
                <a:spcPts val="600"/>
              </a:spcAft>
              <a:defRPr sz="1150">
                <a:solidFill>
                  <a:srgbClr val="1E293B"/>
                </a:solidFill>
              </a:defRPr>
            </a:pPr>
            <a:r>
              <a:t>• Every applicant must provide proof documents—most commonly e-Aadhaar cards, PAN cards, or Birth Certificates.</a:t>
            </a:r>
          </a:p>
          <a:p>
            <a:pPr>
              <a:spcAft>
                <a:spcPts val="600"/>
              </a:spcAft>
              <a:defRPr sz="1150">
                <a:solidFill>
                  <a:srgbClr val="1E293B"/>
                </a:solidFill>
              </a:defRPr>
            </a:pPr>
            <a:r>
              <a:t>• Applicants must select family relations correctly (Father, Mother, Husband, or Guardian).</a:t>
            </a:r>
          </a:p>
        </p:txBody>
      </p:sp>
      <p:sp>
        <p:nvSpPr>
          <p:cNvPr id="9" name="Rounded Rectangle 8"/>
          <p:cNvSpPr/>
          <p:nvPr/>
        </p:nvSpPr>
        <p:spPr>
          <a:xfrm>
            <a:off x="6217920" y="137160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4754880" cy="4480560"/>
          </a:xfrm>
          <a:prstGeom prst="rect">
            <a:avLst/>
          </a:prstGeom>
          <a:noFill/>
        </p:spPr>
        <p:txBody>
          <a:bodyPr wrap="square">
            <a:spAutoFit/>
          </a:bodyPr>
          <a:lstStyle/>
          <a:p>
            <a:pPr>
              <a:spcAft>
                <a:spcPts val="1000"/>
              </a:spcAft>
              <a:defRPr sz="1450" b="1">
                <a:solidFill>
                  <a:srgbClr val="E11D48"/>
                </a:solidFill>
              </a:defRPr>
            </a:pPr>
            <a:r>
              <a:t>Why Applications Get Rejected  [Common Mistakes]</a:t>
            </a:r>
          </a:p>
          <a:p>
            <a:pPr>
              <a:spcAft>
                <a:spcPts val="600"/>
              </a:spcAft>
              <a:defRPr sz="1150">
                <a:solidFill>
                  <a:srgbClr val="1E293B"/>
                </a:solidFill>
              </a:defRPr>
            </a:pPr>
            <a:r>
              <a:t>• High Rejection Rate: Nearly 1 in 5 applications face delays or rejection due to silly typing mistakes.</a:t>
            </a:r>
          </a:p>
          <a:p>
            <a:pPr>
              <a:spcAft>
                <a:spcPts val="600"/>
              </a:spcAft>
              <a:defRPr sz="1150">
                <a:solidFill>
                  <a:srgbClr val="1E293B"/>
                </a:solidFill>
              </a:defRPr>
            </a:pPr>
            <a:r>
              <a:t>• Common mistakes include: typing month before day in date of birth, misspelling names, or missing door numbers.</a:t>
            </a:r>
          </a:p>
          <a:p>
            <a:pPr>
              <a:spcAft>
                <a:spcPts val="600"/>
              </a:spcAft>
              <a:defRPr sz="1150">
                <a:solidFill>
                  <a:srgbClr val="1E293B"/>
                </a:solidFill>
              </a:defRPr>
            </a:pPr>
            <a:r>
              <a:t>• Public Cafe Risks: Rural citizens go to browsing centers and leave copies of their Aadhaar cards on public computers.</a:t>
            </a:r>
          </a:p>
          <a:p>
            <a:pPr>
              <a:spcAft>
                <a:spcPts val="600"/>
              </a:spcAft>
              <a:defRPr sz="1150">
                <a:solidFill>
                  <a:srgbClr val="1E293B"/>
                </a:solidFill>
              </a:defRPr>
            </a:pPr>
            <a:r>
              <a:t>• Conclusion: We need an easy, automated tool that helps common citizens fill forms without mistakes.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CORE ISSUES</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Problem Statement: 4 Major Challenges</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663440" cy="1965960"/>
          </a:xfrm>
          <a:prstGeom prst="rect">
            <a:avLst/>
          </a:prstGeom>
          <a:noFill/>
        </p:spPr>
        <p:txBody>
          <a:bodyPr wrap="square">
            <a:spAutoFit/>
          </a:bodyPr>
          <a:lstStyle/>
          <a:p>
            <a:pPr>
              <a:spcAft>
                <a:spcPts val="1000"/>
              </a:spcAft>
              <a:defRPr sz="1450" b="1">
                <a:solidFill>
                  <a:srgbClr val="E11D48"/>
                </a:solidFill>
              </a:defRPr>
            </a:pPr>
            <a:r>
              <a:t>1. Too Much Manual Typing</a:t>
            </a:r>
          </a:p>
          <a:p>
            <a:pPr>
              <a:spcAft>
                <a:spcPts val="600"/>
              </a:spcAft>
              <a:defRPr sz="1150">
                <a:solidFill>
                  <a:srgbClr val="1E293B"/>
                </a:solidFill>
              </a:defRPr>
            </a:pPr>
            <a:r>
              <a:t>• Users must type over 20 separate boxes by hand.</a:t>
            </a:r>
          </a:p>
          <a:p>
            <a:pPr>
              <a:spcAft>
                <a:spcPts val="600"/>
              </a:spcAft>
              <a:defRPr sz="1150">
                <a:solidFill>
                  <a:srgbClr val="1E293B"/>
                </a:solidFill>
              </a:defRPr>
            </a:pPr>
            <a:r>
              <a:t>• Long numbers (12-digit Aadhaar UID) are easy to mistype.</a:t>
            </a:r>
          </a:p>
          <a:p>
            <a:pPr>
              <a:spcAft>
                <a:spcPts val="600"/>
              </a:spcAft>
              <a:defRPr sz="1150">
                <a:solidFill>
                  <a:srgbClr val="1E293B"/>
                </a:solidFill>
              </a:defRPr>
            </a:pPr>
            <a:r>
              <a:t>• Address fields require splitting Door No, Street, and City manually.</a:t>
            </a:r>
          </a:p>
        </p:txBody>
      </p:sp>
      <p:sp>
        <p:nvSpPr>
          <p:cNvPr id="9" name="Rounded Rectangle 8"/>
          <p:cNvSpPr/>
          <p:nvPr/>
        </p:nvSpPr>
        <p:spPr>
          <a:xfrm>
            <a:off x="6217920" y="13716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4754880" cy="1965960"/>
          </a:xfrm>
          <a:prstGeom prst="rect">
            <a:avLst/>
          </a:prstGeom>
          <a:noFill/>
        </p:spPr>
        <p:txBody>
          <a:bodyPr wrap="square">
            <a:spAutoFit/>
          </a:bodyPr>
          <a:lstStyle/>
          <a:p>
            <a:pPr>
              <a:spcAft>
                <a:spcPts val="1000"/>
              </a:spcAft>
              <a:defRPr sz="1450" b="1">
                <a:solidFill>
                  <a:srgbClr val="E11D48"/>
                </a:solidFill>
              </a:defRPr>
            </a:pPr>
            <a:r>
              <a:t>2. Personal Data Privacy Risks</a:t>
            </a:r>
          </a:p>
          <a:p>
            <a:pPr>
              <a:spcAft>
                <a:spcPts val="600"/>
              </a:spcAft>
              <a:defRPr sz="1150">
                <a:solidFill>
                  <a:srgbClr val="1E293B"/>
                </a:solidFill>
              </a:defRPr>
            </a:pPr>
            <a:r>
              <a:t>• Uploading ID cards to public online servers can leak private information.</a:t>
            </a:r>
          </a:p>
          <a:p>
            <a:pPr>
              <a:spcAft>
                <a:spcPts val="600"/>
              </a:spcAft>
              <a:defRPr sz="1150">
                <a:solidFill>
                  <a:srgbClr val="1E293B"/>
                </a:solidFill>
              </a:defRPr>
            </a:pPr>
            <a:r>
              <a:t>• Cyber cafes store scanned cards on shared hard drives.</a:t>
            </a:r>
          </a:p>
          <a:p>
            <a:pPr>
              <a:spcAft>
                <a:spcPts val="600"/>
              </a:spcAft>
              <a:defRPr sz="1150">
                <a:solidFill>
                  <a:srgbClr val="1E293B"/>
                </a:solidFill>
              </a:defRPr>
            </a:pPr>
            <a:r>
              <a:t>• Commercial OCR services cost money and save user data.</a:t>
            </a:r>
          </a:p>
        </p:txBody>
      </p:sp>
      <p:sp>
        <p:nvSpPr>
          <p:cNvPr id="11" name="Rounded Rectangle 10"/>
          <p:cNvSpPr/>
          <p:nvPr/>
        </p:nvSpPr>
        <p:spPr>
          <a:xfrm>
            <a:off x="731520" y="388620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69080"/>
            <a:ext cx="4663440" cy="1965960"/>
          </a:xfrm>
          <a:prstGeom prst="rect">
            <a:avLst/>
          </a:prstGeom>
          <a:noFill/>
        </p:spPr>
        <p:txBody>
          <a:bodyPr wrap="square">
            <a:spAutoFit/>
          </a:bodyPr>
          <a:lstStyle/>
          <a:p>
            <a:pPr>
              <a:spcAft>
                <a:spcPts val="1000"/>
              </a:spcAft>
              <a:defRPr sz="1450" b="1">
                <a:solidFill>
                  <a:srgbClr val="1E293B"/>
                </a:solidFill>
              </a:defRPr>
            </a:pPr>
            <a:r>
              <a:t>3. Confusing ID Card Text</a:t>
            </a:r>
          </a:p>
          <a:p>
            <a:pPr>
              <a:spcAft>
                <a:spcPts val="600"/>
              </a:spcAft>
              <a:defRPr sz="1150">
                <a:solidFill>
                  <a:srgbClr val="1E293B"/>
                </a:solidFill>
              </a:defRPr>
            </a:pPr>
            <a:r>
              <a:t>• Aadhaar cards have 14-digit enrolment numbers that look like Aadhaar numbers.</a:t>
            </a:r>
          </a:p>
          <a:p>
            <a:pPr>
              <a:spcAft>
                <a:spcPts val="600"/>
              </a:spcAft>
              <a:defRPr sz="1150">
                <a:solidFill>
                  <a:srgbClr val="1E293B"/>
                </a:solidFill>
              </a:defRPr>
            </a:pPr>
            <a:r>
              <a:t>• Cards contain long legal disclaimers that confuse normal scanning tools.</a:t>
            </a:r>
          </a:p>
          <a:p>
            <a:pPr>
              <a:spcAft>
                <a:spcPts val="600"/>
              </a:spcAft>
              <a:defRPr sz="1150">
                <a:solidFill>
                  <a:srgbClr val="1E293B"/>
                </a:solidFill>
              </a:defRPr>
            </a:pPr>
            <a:r>
              <a:t>• Photos taken on mobile phones can be blurry, tilted, or faint.</a:t>
            </a:r>
          </a:p>
        </p:txBody>
      </p:sp>
      <p:sp>
        <p:nvSpPr>
          <p:cNvPr id="13" name="Rounded Rectangle 12"/>
          <p:cNvSpPr/>
          <p:nvPr/>
        </p:nvSpPr>
        <p:spPr>
          <a:xfrm>
            <a:off x="6217920" y="38862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069080"/>
            <a:ext cx="4754880" cy="1965960"/>
          </a:xfrm>
          <a:prstGeom prst="rect">
            <a:avLst/>
          </a:prstGeom>
          <a:noFill/>
        </p:spPr>
        <p:txBody>
          <a:bodyPr wrap="square">
            <a:spAutoFit/>
          </a:bodyPr>
          <a:lstStyle/>
          <a:p>
            <a:pPr>
              <a:spcAft>
                <a:spcPts val="1000"/>
              </a:spcAft>
              <a:defRPr sz="1450" b="1">
                <a:solidFill>
                  <a:srgbClr val="1E293B"/>
                </a:solidFill>
              </a:defRPr>
            </a:pPr>
            <a:r>
              <a:t>4. Photo Cropping Headache</a:t>
            </a:r>
          </a:p>
          <a:p>
            <a:pPr>
              <a:spcAft>
                <a:spcPts val="600"/>
              </a:spcAft>
              <a:defRPr sz="1150">
                <a:solidFill>
                  <a:srgbClr val="1E293B"/>
                </a:solidFill>
              </a:defRPr>
            </a:pPr>
            <a:r>
              <a:t>• Websites require a separate passport-size photo under 2MB.</a:t>
            </a:r>
          </a:p>
          <a:p>
            <a:pPr>
              <a:spcAft>
                <a:spcPts val="600"/>
              </a:spcAft>
              <a:defRPr sz="1150">
                <a:solidFill>
                  <a:srgbClr val="1E293B"/>
                </a:solidFill>
              </a:defRPr>
            </a:pPr>
            <a:r>
              <a:t>• Normal users do not know how to crop images properly.</a:t>
            </a:r>
          </a:p>
          <a:p>
            <a:pPr>
              <a:spcAft>
                <a:spcPts val="600"/>
              </a:spcAft>
              <a:defRPr sz="1150">
                <a:solidFill>
                  <a:srgbClr val="1E293B"/>
                </a:solidFill>
              </a:defRPr>
            </a:pPr>
            <a:r>
              <a:t>• Users are forced to ask others for help or pay cyber cafes.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PROJECT GOALS</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Aim &amp; Objectives of Our Project</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10698480" cy="1280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10241280" cy="914400"/>
          </a:xfrm>
          <a:prstGeom prst="rect">
            <a:avLst/>
          </a:prstGeom>
          <a:noFill/>
        </p:spPr>
        <p:txBody>
          <a:bodyPr wrap="square">
            <a:spAutoFit/>
          </a:bodyPr>
          <a:lstStyle/>
          <a:p>
            <a:pPr>
              <a:spcAft>
                <a:spcPts val="1000"/>
              </a:spcAft>
              <a:defRPr sz="1450" b="1">
                <a:solidFill>
                  <a:srgbClr val="2563EB"/>
                </a:solidFill>
              </a:defRPr>
            </a:pPr>
            <a:r>
              <a:t>OUR MAIN AIM  [Primary Goal]</a:t>
            </a:r>
          </a:p>
          <a:p>
            <a:pPr>
              <a:spcAft>
                <a:spcPts val="600"/>
              </a:spcAft>
              <a:defRPr sz="1150">
                <a:solidFill>
                  <a:srgbClr val="1E293B"/>
                </a:solidFill>
              </a:defRPr>
            </a:pPr>
            <a:r>
              <a:t>• To build a fast, free, and completely private web application that reads Indian ID cards (Aadhaar / PAN), automatically detects and crops the applicant's passport photo, and fills the Voter ID Form 6 in under 30 seconds.</a:t>
            </a:r>
          </a:p>
        </p:txBody>
      </p:sp>
      <p:sp>
        <p:nvSpPr>
          <p:cNvPr id="9" name="Rounded Rectangle 8"/>
          <p:cNvSpPr/>
          <p:nvPr/>
        </p:nvSpPr>
        <p:spPr>
          <a:xfrm>
            <a:off x="731520" y="2834640"/>
            <a:ext cx="5120640" cy="3383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017520"/>
            <a:ext cx="4663440" cy="3017520"/>
          </a:xfrm>
          <a:prstGeom prst="rect">
            <a:avLst/>
          </a:prstGeom>
          <a:noFill/>
        </p:spPr>
        <p:txBody>
          <a:bodyPr wrap="square">
            <a:spAutoFit/>
          </a:bodyPr>
          <a:lstStyle/>
          <a:p>
            <a:pPr>
              <a:spcAft>
                <a:spcPts val="1000"/>
              </a:spcAft>
              <a:defRPr sz="1450" b="1">
                <a:solidFill>
                  <a:srgbClr val="1E293B"/>
                </a:solidFill>
              </a:defRPr>
            </a:pPr>
            <a:r>
              <a:t>Objectives (1 &amp; 2): Reading &amp; Files  [Input &amp; OCR]</a:t>
            </a:r>
          </a:p>
          <a:p>
            <a:pPr>
              <a:spcAft>
                <a:spcPts val="600"/>
              </a:spcAft>
              <a:defRPr sz="1150">
                <a:solidFill>
                  <a:srgbClr val="1E293B"/>
                </a:solidFill>
              </a:defRPr>
            </a:pPr>
            <a:r>
              <a:t>• Objective 1: Multi-Document Upload</a:t>
            </a:r>
          </a:p>
          <a:p>
            <a:pPr>
              <a:spcAft>
                <a:spcPts val="600"/>
              </a:spcAft>
              <a:defRPr sz="1150">
                <a:solidFill>
                  <a:srgbClr val="1E293B"/>
                </a:solidFill>
              </a:defRPr>
            </a:pPr>
            <a:r>
              <a:t>•   • Allow users to upload both Front and Back images, or a single PDF.</a:t>
            </a:r>
          </a:p>
          <a:p>
            <a:pPr>
              <a:spcAft>
                <a:spcPts val="600"/>
              </a:spcAft>
              <a:defRPr sz="1150">
                <a:solidFill>
                  <a:srgbClr val="1E293B"/>
                </a:solidFill>
              </a:defRPr>
            </a:pPr>
            <a:r>
              <a:t>•   • Show clear badges for attached files with an easy remove option.</a:t>
            </a:r>
          </a:p>
          <a:p>
            <a:pPr>
              <a:spcAft>
                <a:spcPts val="600"/>
              </a:spcAft>
              <a:defRPr sz="1150">
                <a:solidFill>
                  <a:srgbClr val="1E293B"/>
                </a:solidFill>
              </a:defRPr>
            </a:pPr>
            <a:r>
              <a:t>• Objective 2: Accurate Text Reading (OCR)</a:t>
            </a:r>
          </a:p>
          <a:p>
            <a:pPr>
              <a:spcAft>
                <a:spcPts val="600"/>
              </a:spcAft>
              <a:defRPr sz="1150">
                <a:solidFill>
                  <a:srgbClr val="1E293B"/>
                </a:solidFill>
              </a:defRPr>
            </a:pPr>
            <a:r>
              <a:t>•   • Use EasyOCR to read English and Tamil/regional text clearly.</a:t>
            </a:r>
          </a:p>
          <a:p>
            <a:pPr>
              <a:spcAft>
                <a:spcPts val="600"/>
              </a:spcAft>
              <a:defRPr sz="1150">
                <a:solidFill>
                  <a:srgbClr val="1E293B"/>
                </a:solidFill>
              </a:defRPr>
            </a:pPr>
            <a:r>
              <a:t>•   • Convert PDFs to high-resolution images so small text is easily read.</a:t>
            </a:r>
          </a:p>
        </p:txBody>
      </p:sp>
      <p:sp>
        <p:nvSpPr>
          <p:cNvPr id="11" name="Rounded Rectangle 10"/>
          <p:cNvSpPr/>
          <p:nvPr/>
        </p:nvSpPr>
        <p:spPr>
          <a:xfrm>
            <a:off x="6217920" y="2834640"/>
            <a:ext cx="5212080" cy="3383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3017520"/>
            <a:ext cx="4754880" cy="3017520"/>
          </a:xfrm>
          <a:prstGeom prst="rect">
            <a:avLst/>
          </a:prstGeom>
          <a:noFill/>
        </p:spPr>
        <p:txBody>
          <a:bodyPr wrap="square">
            <a:spAutoFit/>
          </a:bodyPr>
          <a:lstStyle/>
          <a:p>
            <a:pPr>
              <a:spcAft>
                <a:spcPts val="1000"/>
              </a:spcAft>
              <a:defRPr sz="1450" b="1">
                <a:solidFill>
                  <a:srgbClr val="10B981"/>
                </a:solidFill>
              </a:defRPr>
            </a:pPr>
            <a:r>
              <a:t>Objectives (3 &amp; 4): AI &amp; Face Cropping  [AI &amp; Vision]</a:t>
            </a:r>
          </a:p>
          <a:p>
            <a:pPr>
              <a:spcAft>
                <a:spcPts val="600"/>
              </a:spcAft>
              <a:defRPr sz="1150">
                <a:solidFill>
                  <a:srgbClr val="1E293B"/>
                </a:solidFill>
              </a:defRPr>
            </a:pPr>
            <a:r>
              <a:t>• Objective 3: Smart Field Sorting (Local AI)</a:t>
            </a:r>
          </a:p>
          <a:p>
            <a:pPr>
              <a:spcAft>
                <a:spcPts val="600"/>
              </a:spcAft>
              <a:defRPr sz="1150">
                <a:solidFill>
                  <a:srgbClr val="1E293B"/>
                </a:solidFill>
              </a:defRPr>
            </a:pPr>
            <a:r>
              <a:t>•   • Use Meta Llama 3.2 AI running on our laptop to sort words into Name, DOB, etc.</a:t>
            </a:r>
          </a:p>
          <a:p>
            <a:pPr>
              <a:spcAft>
                <a:spcPts val="600"/>
              </a:spcAft>
              <a:defRPr sz="1150">
                <a:solidFill>
                  <a:srgbClr val="1E293B"/>
                </a:solidFill>
              </a:defRPr>
            </a:pPr>
            <a:r>
              <a:t>•   • Automatically identify Father's or Husband's name from 'S/O' or 'W/O'.</a:t>
            </a:r>
          </a:p>
          <a:p>
            <a:pPr>
              <a:spcAft>
                <a:spcPts val="600"/>
              </a:spcAft>
              <a:defRPr sz="1150">
                <a:solidFill>
                  <a:srgbClr val="1E293B"/>
                </a:solidFill>
              </a:defRPr>
            </a:pPr>
            <a:r>
              <a:t>• Objective 4: Automatic Face Photo Cropping</a:t>
            </a:r>
          </a:p>
          <a:p>
            <a:pPr>
              <a:spcAft>
                <a:spcPts val="600"/>
              </a:spcAft>
              <a:defRPr sz="1150">
                <a:solidFill>
                  <a:srgbClr val="1E293B"/>
                </a:solidFill>
              </a:defRPr>
            </a:pPr>
            <a:r>
              <a:t>•   • Use OpenCV YuNet face detection to find the person's face on the card.</a:t>
            </a:r>
          </a:p>
          <a:p>
            <a:pPr>
              <a:spcAft>
                <a:spcPts val="600"/>
              </a:spcAft>
              <a:defRPr sz="1150">
                <a:solidFill>
                  <a:srgbClr val="1E293B"/>
                </a:solidFill>
              </a:defRPr>
            </a:pPr>
            <a:r>
              <a:t>•   • Automatically crop a clean passport-size photo without any text around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PREVIOUS WORK COMPARISON</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Literature Review: What Existing Tools Do</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663440" cy="1965960"/>
          </a:xfrm>
          <a:prstGeom prst="rect">
            <a:avLst/>
          </a:prstGeom>
          <a:noFill/>
        </p:spPr>
        <p:txBody>
          <a:bodyPr wrap="square">
            <a:spAutoFit/>
          </a:bodyPr>
          <a:lstStyle/>
          <a:p>
            <a:pPr>
              <a:spcAft>
                <a:spcPts val="1000"/>
              </a:spcAft>
              <a:defRPr sz="1450" b="1">
                <a:solidFill>
                  <a:srgbClr val="2563EB"/>
                </a:solidFill>
              </a:defRPr>
            </a:pPr>
            <a:r>
              <a:t>1. Standard OCR Tools (like Tesseract)</a:t>
            </a:r>
          </a:p>
          <a:p>
            <a:pPr>
              <a:spcAft>
                <a:spcPts val="600"/>
              </a:spcAft>
              <a:defRPr sz="1150">
                <a:solidFill>
                  <a:srgbClr val="1E293B"/>
                </a:solidFill>
              </a:defRPr>
            </a:pPr>
            <a:r>
              <a:t>• What they do: Reads words from simple scanned papers.</a:t>
            </a:r>
          </a:p>
          <a:p>
            <a:pPr>
              <a:spcAft>
                <a:spcPts val="600"/>
              </a:spcAft>
              <a:defRPr sz="1150">
                <a:solidFill>
                  <a:srgbClr val="1E293B"/>
                </a:solidFill>
              </a:defRPr>
            </a:pPr>
            <a:r>
              <a:t>• Drawback: Just gives a big list of words; does not know which word is 'Name' and which is 'City'. Fails on Indian regional languages.</a:t>
            </a:r>
          </a:p>
        </p:txBody>
      </p:sp>
      <p:sp>
        <p:nvSpPr>
          <p:cNvPr id="9" name="Rounded Rectangle 8"/>
          <p:cNvSpPr/>
          <p:nvPr/>
        </p:nvSpPr>
        <p:spPr>
          <a:xfrm>
            <a:off x="6217920" y="13716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4754880" cy="1965960"/>
          </a:xfrm>
          <a:prstGeom prst="rect">
            <a:avLst/>
          </a:prstGeom>
          <a:noFill/>
        </p:spPr>
        <p:txBody>
          <a:bodyPr wrap="square">
            <a:spAutoFit/>
          </a:bodyPr>
          <a:lstStyle/>
          <a:p>
            <a:pPr>
              <a:spcAft>
                <a:spcPts val="1000"/>
              </a:spcAft>
              <a:defRPr sz="1450" b="1">
                <a:solidFill>
                  <a:srgbClr val="2563EB"/>
                </a:solidFill>
              </a:defRPr>
            </a:pPr>
            <a:r>
              <a:t>2. Commercial Cloud APIs (Google Vision / AWS)</a:t>
            </a:r>
          </a:p>
          <a:p>
            <a:pPr>
              <a:spcAft>
                <a:spcPts val="600"/>
              </a:spcAft>
              <a:defRPr sz="1150">
                <a:solidFill>
                  <a:srgbClr val="1E293B"/>
                </a:solidFill>
              </a:defRPr>
            </a:pPr>
            <a:r>
              <a:t>• What they do: Very good at reading documents and forms.</a:t>
            </a:r>
          </a:p>
          <a:p>
            <a:pPr>
              <a:spcAft>
                <a:spcPts val="600"/>
              </a:spcAft>
              <a:defRPr sz="1150">
                <a:solidFill>
                  <a:srgbClr val="1E293B"/>
                </a:solidFill>
              </a:defRPr>
            </a:pPr>
            <a:r>
              <a:t>• Drawback: Charges money for every single scan, needs internet, and sends private citizen data to third-party servers.</a:t>
            </a:r>
          </a:p>
        </p:txBody>
      </p:sp>
      <p:sp>
        <p:nvSpPr>
          <p:cNvPr id="11" name="Rounded Rectangle 10"/>
          <p:cNvSpPr/>
          <p:nvPr/>
        </p:nvSpPr>
        <p:spPr>
          <a:xfrm>
            <a:off x="731520" y="388620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69080"/>
            <a:ext cx="4663440" cy="1965960"/>
          </a:xfrm>
          <a:prstGeom prst="rect">
            <a:avLst/>
          </a:prstGeom>
          <a:noFill/>
        </p:spPr>
        <p:txBody>
          <a:bodyPr wrap="square">
            <a:spAutoFit/>
          </a:bodyPr>
          <a:lstStyle/>
          <a:p>
            <a:pPr>
              <a:spcAft>
                <a:spcPts val="1000"/>
              </a:spcAft>
              <a:defRPr sz="1450" b="1">
                <a:solidFill>
                  <a:srgbClr val="2563EB"/>
                </a:solidFill>
              </a:defRPr>
            </a:pPr>
            <a:r>
              <a:t>3. Huge AI Models (like ChatGPT / Claude)</a:t>
            </a:r>
          </a:p>
          <a:p>
            <a:pPr>
              <a:spcAft>
                <a:spcPts val="600"/>
              </a:spcAft>
              <a:defRPr sz="1150">
                <a:solidFill>
                  <a:srgbClr val="1E293B"/>
                </a:solidFill>
              </a:defRPr>
            </a:pPr>
            <a:r>
              <a:t>• What they do: Can understand forms very well.</a:t>
            </a:r>
          </a:p>
          <a:p>
            <a:pPr>
              <a:spcAft>
                <a:spcPts val="600"/>
              </a:spcAft>
              <a:defRPr sz="1150">
                <a:solidFill>
                  <a:srgbClr val="1E293B"/>
                </a:solidFill>
              </a:defRPr>
            </a:pPr>
            <a:r>
              <a:t>• Drawback: Too large to run locally on a normal laptop; requires expensive graphic cards or paid internet subscriptions.</a:t>
            </a:r>
          </a:p>
        </p:txBody>
      </p:sp>
      <p:sp>
        <p:nvSpPr>
          <p:cNvPr id="13" name="Rounded Rectangle 12"/>
          <p:cNvSpPr/>
          <p:nvPr/>
        </p:nvSpPr>
        <p:spPr>
          <a:xfrm>
            <a:off x="6217920" y="38862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069080"/>
            <a:ext cx="4754880" cy="1965960"/>
          </a:xfrm>
          <a:prstGeom prst="rect">
            <a:avLst/>
          </a:prstGeom>
          <a:noFill/>
        </p:spPr>
        <p:txBody>
          <a:bodyPr wrap="square">
            <a:spAutoFit/>
          </a:bodyPr>
          <a:lstStyle/>
          <a:p>
            <a:pPr>
              <a:spcAft>
                <a:spcPts val="1000"/>
              </a:spcAft>
              <a:defRPr sz="1450" b="1">
                <a:solidFill>
                  <a:srgbClr val="2563EB"/>
                </a:solidFill>
              </a:defRPr>
            </a:pPr>
            <a:r>
              <a:t>4. Our Approach: Lightweight Local AI</a:t>
            </a:r>
          </a:p>
          <a:p>
            <a:pPr>
              <a:spcAft>
                <a:spcPts val="600"/>
              </a:spcAft>
              <a:defRPr sz="1150">
                <a:solidFill>
                  <a:srgbClr val="1E293B"/>
                </a:solidFill>
              </a:defRPr>
            </a:pPr>
            <a:r>
              <a:t>• What we do: We use EasyOCR for reading + Meta Llama 3.2 (small 3B model) for sorting + YuNet for face detection.</a:t>
            </a:r>
          </a:p>
          <a:p>
            <a:pPr>
              <a:spcAft>
                <a:spcPts val="600"/>
              </a:spcAft>
              <a:defRPr sz="1150">
                <a:solidFill>
                  <a:srgbClr val="1E293B"/>
                </a:solidFill>
              </a:defRPr>
            </a:pPr>
            <a:r>
              <a:t>• Advantage: 100% Free, runs on any laptop, zero internet cost, and zero data leakage.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MANUAL PROCESS</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Existing System: How People Fill Forms Today</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663440" cy="4480560"/>
          </a:xfrm>
          <a:prstGeom prst="rect">
            <a:avLst/>
          </a:prstGeom>
          <a:noFill/>
        </p:spPr>
        <p:txBody>
          <a:bodyPr wrap="square">
            <a:spAutoFit/>
          </a:bodyPr>
          <a:lstStyle/>
          <a:p>
            <a:pPr>
              <a:spcAft>
                <a:spcPts val="1000"/>
              </a:spcAft>
              <a:defRPr sz="1450" b="1">
                <a:solidFill>
                  <a:srgbClr val="1E293B"/>
                </a:solidFill>
              </a:defRPr>
            </a:pPr>
            <a:r>
              <a:t>Typing Details (Steps 1 to 4)  [Typing Friction]</a:t>
            </a:r>
          </a:p>
          <a:p>
            <a:pPr>
              <a:spcAft>
                <a:spcPts val="600"/>
              </a:spcAft>
              <a:defRPr sz="1150">
                <a:solidFill>
                  <a:srgbClr val="1E293B"/>
                </a:solidFill>
              </a:defRPr>
            </a:pPr>
            <a:r>
              <a:t>• Step 1: The user opens the government website (NVSP Voter Portal).</a:t>
            </a:r>
          </a:p>
          <a:p>
            <a:pPr>
              <a:spcAft>
                <a:spcPts val="600"/>
              </a:spcAft>
              <a:defRPr sz="1150">
                <a:solidFill>
                  <a:srgbClr val="1E293B"/>
                </a:solidFill>
              </a:defRPr>
            </a:pPr>
            <a:r>
              <a:t>• Step 2: They look at their Aadhaar card in one hand (or a PDF window on screen).</a:t>
            </a:r>
          </a:p>
          <a:p>
            <a:pPr>
              <a:spcAft>
                <a:spcPts val="600"/>
              </a:spcAft>
              <a:defRPr sz="1150">
                <a:solidFill>
                  <a:srgbClr val="1E293B"/>
                </a:solidFill>
              </a:defRPr>
            </a:pPr>
            <a:r>
              <a:t>• Step 3: They type each detail manually: Name, Father's Name, Mobile Number, Email, Gender, and Date of Birth.</a:t>
            </a:r>
          </a:p>
          <a:p>
            <a:pPr>
              <a:spcAft>
                <a:spcPts val="600"/>
              </a:spcAft>
              <a:defRPr sz="1150">
                <a:solidFill>
                  <a:srgbClr val="1E293B"/>
                </a:solidFill>
              </a:defRPr>
            </a:pPr>
            <a:r>
              <a:t>• Step 4: They manually split their address into House No, Street, Village, Post Office, District, and PIN code.</a:t>
            </a:r>
          </a:p>
        </p:txBody>
      </p:sp>
      <p:sp>
        <p:nvSpPr>
          <p:cNvPr id="9" name="Rounded Rectangle 8"/>
          <p:cNvSpPr/>
          <p:nvPr/>
        </p:nvSpPr>
        <p:spPr>
          <a:xfrm>
            <a:off x="6217920" y="137160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4754880" cy="4480560"/>
          </a:xfrm>
          <a:prstGeom prst="rect">
            <a:avLst/>
          </a:prstGeom>
          <a:noFill/>
        </p:spPr>
        <p:txBody>
          <a:bodyPr wrap="square">
            <a:spAutoFit/>
          </a:bodyPr>
          <a:lstStyle/>
          <a:p>
            <a:pPr>
              <a:spcAft>
                <a:spcPts val="1000"/>
              </a:spcAft>
              <a:defRPr sz="1450" b="1">
                <a:solidFill>
                  <a:srgbClr val="1E293B"/>
                </a:solidFill>
              </a:defRPr>
            </a:pPr>
            <a:r>
              <a:t>Photo Cropping (Steps 5 to 8)  [Image Editing]</a:t>
            </a:r>
          </a:p>
          <a:p>
            <a:pPr>
              <a:spcAft>
                <a:spcPts val="600"/>
              </a:spcAft>
              <a:defRPr sz="1150">
                <a:solidFill>
                  <a:srgbClr val="1E293B"/>
                </a:solidFill>
              </a:defRPr>
            </a:pPr>
            <a:r>
              <a:t>• Step 5: The user takes a screenshot of their ID card and opens MS Paint or a mobile cropping app.</a:t>
            </a:r>
          </a:p>
          <a:p>
            <a:pPr>
              <a:spcAft>
                <a:spcPts val="600"/>
              </a:spcAft>
              <a:defRPr sz="1150">
                <a:solidFill>
                  <a:srgbClr val="1E293B"/>
                </a:solidFill>
              </a:defRPr>
            </a:pPr>
            <a:r>
              <a:t>• Step 6: They manually crop around their face and try to resize the file to be under 2MB.</a:t>
            </a:r>
          </a:p>
          <a:p>
            <a:pPr>
              <a:spcAft>
                <a:spcPts val="600"/>
              </a:spcAft>
              <a:defRPr sz="1150">
                <a:solidFill>
                  <a:srgbClr val="1E293B"/>
                </a:solidFill>
              </a:defRPr>
            </a:pPr>
            <a:r>
              <a:t>• Step 7: They upload the photo and identity documents one-by-one.</a:t>
            </a:r>
          </a:p>
          <a:p>
            <a:pPr>
              <a:spcAft>
                <a:spcPts val="600"/>
              </a:spcAft>
              <a:defRPr sz="1150">
                <a:solidFill>
                  <a:srgbClr val="1E293B"/>
                </a:solidFill>
              </a:defRPr>
            </a:pPr>
            <a:r>
              <a:t>• Step 8: The entire process takes 10 to 15 minutes of slow, frustrating manual effort.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THE DRAWBACKS</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Limitations of the Existing System</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663440" cy="1965960"/>
          </a:xfrm>
          <a:prstGeom prst="rect">
            <a:avLst/>
          </a:prstGeom>
          <a:noFill/>
        </p:spPr>
        <p:txBody>
          <a:bodyPr wrap="square">
            <a:spAutoFit/>
          </a:bodyPr>
          <a:lstStyle/>
          <a:p>
            <a:pPr>
              <a:spcAft>
                <a:spcPts val="1000"/>
              </a:spcAft>
              <a:defRPr sz="1450" b="1">
                <a:solidFill>
                  <a:srgbClr val="E11D48"/>
                </a:solidFill>
              </a:defRPr>
            </a:pPr>
            <a:r>
              <a:t>1. High Chance of Mistakes</a:t>
            </a:r>
          </a:p>
          <a:p>
            <a:pPr>
              <a:spcAft>
                <a:spcPts val="600"/>
              </a:spcAft>
              <a:defRPr sz="1150">
                <a:solidFill>
                  <a:srgbClr val="1E293B"/>
                </a:solidFill>
              </a:defRPr>
            </a:pPr>
            <a:r>
              <a:t>• People often type birth dates in the wrong format (like swapping day and month).</a:t>
            </a:r>
          </a:p>
          <a:p>
            <a:pPr>
              <a:spcAft>
                <a:spcPts val="600"/>
              </a:spcAft>
              <a:defRPr sz="1150">
                <a:solidFill>
                  <a:srgbClr val="1E293B"/>
                </a:solidFill>
              </a:defRPr>
            </a:pPr>
            <a:r>
              <a:t>• Accidentally typing 'S/O Shankar' into the name box.</a:t>
            </a:r>
          </a:p>
          <a:p>
            <a:pPr>
              <a:spcAft>
                <a:spcPts val="600"/>
              </a:spcAft>
              <a:defRPr sz="1150">
                <a:solidFill>
                  <a:srgbClr val="1E293B"/>
                </a:solidFill>
              </a:defRPr>
            </a:pPr>
            <a:r>
              <a:t>• Mistyping even one digit of the 12-digit Aadhaar number.</a:t>
            </a:r>
          </a:p>
        </p:txBody>
      </p:sp>
      <p:sp>
        <p:nvSpPr>
          <p:cNvPr id="9" name="Rounded Rectangle 8"/>
          <p:cNvSpPr/>
          <p:nvPr/>
        </p:nvSpPr>
        <p:spPr>
          <a:xfrm>
            <a:off x="6217920" y="13716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4754880" cy="1965960"/>
          </a:xfrm>
          <a:prstGeom prst="rect">
            <a:avLst/>
          </a:prstGeom>
          <a:noFill/>
        </p:spPr>
        <p:txBody>
          <a:bodyPr wrap="square">
            <a:spAutoFit/>
          </a:bodyPr>
          <a:lstStyle/>
          <a:p>
            <a:pPr>
              <a:spcAft>
                <a:spcPts val="1000"/>
              </a:spcAft>
              <a:defRPr sz="1450" b="1">
                <a:solidFill>
                  <a:srgbClr val="E11D48"/>
                </a:solidFill>
              </a:defRPr>
            </a:pPr>
            <a:r>
              <a:t>2. Privacy and Security Risks</a:t>
            </a:r>
          </a:p>
          <a:p>
            <a:pPr>
              <a:spcAft>
                <a:spcPts val="600"/>
              </a:spcAft>
              <a:defRPr sz="1150">
                <a:solidFill>
                  <a:srgbClr val="1E293B"/>
                </a:solidFill>
              </a:defRPr>
            </a:pPr>
            <a:r>
              <a:t>• People leave unredacted Aadhaar copies in download folders at cyber cafes.</a:t>
            </a:r>
          </a:p>
          <a:p>
            <a:pPr>
              <a:spcAft>
                <a:spcPts val="600"/>
              </a:spcAft>
              <a:defRPr sz="1150">
                <a:solidFill>
                  <a:srgbClr val="1E293B"/>
                </a:solidFill>
              </a:defRPr>
            </a:pPr>
            <a:r>
              <a:t>• Normal browser autofills save sensitive personal data unencrypted.</a:t>
            </a:r>
          </a:p>
          <a:p>
            <a:pPr>
              <a:spcAft>
                <a:spcPts val="600"/>
              </a:spcAft>
              <a:defRPr sz="1150">
                <a:solidFill>
                  <a:srgbClr val="1E293B"/>
                </a:solidFill>
              </a:defRPr>
            </a:pPr>
            <a:r>
              <a:t>• High risk of identity theft for rural and non-technical citizens.</a:t>
            </a:r>
          </a:p>
        </p:txBody>
      </p:sp>
      <p:sp>
        <p:nvSpPr>
          <p:cNvPr id="11" name="Rounded Rectangle 10"/>
          <p:cNvSpPr/>
          <p:nvPr/>
        </p:nvSpPr>
        <p:spPr>
          <a:xfrm>
            <a:off x="731520" y="388620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69080"/>
            <a:ext cx="4663440" cy="1965960"/>
          </a:xfrm>
          <a:prstGeom prst="rect">
            <a:avLst/>
          </a:prstGeom>
          <a:noFill/>
        </p:spPr>
        <p:txBody>
          <a:bodyPr wrap="square">
            <a:spAutoFit/>
          </a:bodyPr>
          <a:lstStyle/>
          <a:p>
            <a:pPr>
              <a:spcAft>
                <a:spcPts val="1000"/>
              </a:spcAft>
              <a:defRPr sz="1450" b="1">
                <a:solidFill>
                  <a:srgbClr val="E11D48"/>
                </a:solidFill>
              </a:defRPr>
            </a:pPr>
            <a:r>
              <a:t>3. Waste of Time &amp; Money</a:t>
            </a:r>
          </a:p>
          <a:p>
            <a:pPr>
              <a:spcAft>
                <a:spcPts val="600"/>
              </a:spcAft>
              <a:defRPr sz="1150">
                <a:solidFill>
                  <a:srgbClr val="1E293B"/>
                </a:solidFill>
              </a:defRPr>
            </a:pPr>
            <a:r>
              <a:t>• Takes 10–15 minutes per person; long queues at registration camps.</a:t>
            </a:r>
          </a:p>
          <a:p>
            <a:pPr>
              <a:spcAft>
                <a:spcPts val="600"/>
              </a:spcAft>
              <a:defRPr sz="1150">
                <a:solidFill>
                  <a:srgbClr val="1E293B"/>
                </a:solidFill>
              </a:defRPr>
            </a:pPr>
            <a:r>
              <a:t>• Citizens pay Rs. 50 to Rs. 100 at internet centers just for basic form typing.</a:t>
            </a:r>
          </a:p>
          <a:p>
            <a:pPr>
              <a:spcAft>
                <a:spcPts val="600"/>
              </a:spcAft>
              <a:defRPr sz="1150">
                <a:solidFill>
                  <a:srgbClr val="1E293B"/>
                </a:solidFill>
              </a:defRPr>
            </a:pPr>
            <a:r>
              <a:t>• Many first-time voters give up halfway because of photo size errors.</a:t>
            </a:r>
          </a:p>
        </p:txBody>
      </p:sp>
      <p:sp>
        <p:nvSpPr>
          <p:cNvPr id="13" name="Rounded Rectangle 12"/>
          <p:cNvSpPr/>
          <p:nvPr/>
        </p:nvSpPr>
        <p:spPr>
          <a:xfrm>
            <a:off x="6217920" y="38862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069080"/>
            <a:ext cx="4754880" cy="1965960"/>
          </a:xfrm>
          <a:prstGeom prst="rect">
            <a:avLst/>
          </a:prstGeom>
          <a:noFill/>
        </p:spPr>
        <p:txBody>
          <a:bodyPr wrap="square">
            <a:spAutoFit/>
          </a:bodyPr>
          <a:lstStyle/>
          <a:p>
            <a:pPr>
              <a:spcAft>
                <a:spcPts val="1000"/>
              </a:spcAft>
              <a:defRPr sz="1450" b="1">
                <a:solidFill>
                  <a:srgbClr val="E11D48"/>
                </a:solidFill>
              </a:defRPr>
            </a:pPr>
            <a:r>
              <a:t>4. No Verification</a:t>
            </a:r>
          </a:p>
          <a:p>
            <a:pPr>
              <a:spcAft>
                <a:spcPts val="600"/>
              </a:spcAft>
              <a:defRPr sz="1150">
                <a:solidFill>
                  <a:srgbClr val="1E293B"/>
                </a:solidFill>
              </a:defRPr>
            </a:pPr>
            <a:r>
              <a:t>• The website does not verify if the typed name matches the uploaded document.</a:t>
            </a:r>
          </a:p>
          <a:p>
            <a:pPr>
              <a:spcAft>
                <a:spcPts val="600"/>
              </a:spcAft>
              <a:defRPr sz="1150">
                <a:solidFill>
                  <a:srgbClr val="1E293B"/>
                </a:solidFill>
              </a:defRPr>
            </a:pPr>
            <a:r>
              <a:t>• Government officers have to manually check every typo during physical verification.</a:t>
            </a:r>
          </a:p>
          <a:p>
            <a:pPr>
              <a:spcAft>
                <a:spcPts val="600"/>
              </a:spcAft>
              <a:defRPr sz="1150">
                <a:solidFill>
                  <a:srgbClr val="1E293B"/>
                </a:solidFill>
              </a:defRPr>
            </a:pPr>
            <a:r>
              <a:t>• Creates a huge backlog of delayed voter identity cards.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OUR SMART SOLUTION</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Proposed System: How Our Solution Works</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663440" cy="4480560"/>
          </a:xfrm>
          <a:prstGeom prst="rect">
            <a:avLst/>
          </a:prstGeom>
          <a:noFill/>
        </p:spPr>
        <p:txBody>
          <a:bodyPr wrap="square">
            <a:spAutoFit/>
          </a:bodyPr>
          <a:lstStyle/>
          <a:p>
            <a:pPr>
              <a:spcAft>
                <a:spcPts val="1000"/>
              </a:spcAft>
              <a:defRPr sz="1450" b="1">
                <a:solidFill>
                  <a:srgbClr val="2563EB"/>
                </a:solidFill>
              </a:defRPr>
            </a:pPr>
            <a:r>
              <a:t>Key Features of Our System  [Smart &amp; Private]</a:t>
            </a:r>
          </a:p>
          <a:p>
            <a:pPr>
              <a:spcAft>
                <a:spcPts val="600"/>
              </a:spcAft>
              <a:defRPr sz="1150">
                <a:solidFill>
                  <a:srgbClr val="1E293B"/>
                </a:solidFill>
              </a:defRPr>
            </a:pPr>
            <a:r>
              <a:t>• 1. Easy Multi-File Upload: Drag and drop front and back images, or a PDF. Add files one by one or all together.</a:t>
            </a:r>
          </a:p>
          <a:p>
            <a:pPr>
              <a:spcAft>
                <a:spcPts val="600"/>
              </a:spcAft>
              <a:defRPr sz="1150">
                <a:solidFill>
                  <a:srgbClr val="1E293B"/>
                </a:solidFill>
              </a:defRPr>
            </a:pPr>
            <a:r>
              <a:t>• 2. 100% Private (No Cloud): Everything is processed locally on the laptop. No data is sent over the internet.</a:t>
            </a:r>
          </a:p>
          <a:p>
            <a:pPr>
              <a:spcAft>
                <a:spcPts val="600"/>
              </a:spcAft>
              <a:defRPr sz="1150">
                <a:solidFill>
                  <a:srgbClr val="1E293B"/>
                </a:solidFill>
              </a:defRPr>
            </a:pPr>
            <a:r>
              <a:t>• 3. Smart OCR + AI: EasyOCR reads all text; Meta Llama 3.2 AI arranges the text into Name, DOB, Address, etc.</a:t>
            </a:r>
          </a:p>
          <a:p>
            <a:pPr>
              <a:spcAft>
                <a:spcPts val="600"/>
              </a:spcAft>
              <a:defRPr sz="1150">
                <a:solidFill>
                  <a:srgbClr val="1E293B"/>
                </a:solidFill>
              </a:defRPr>
            </a:pPr>
            <a:r>
              <a:t>• 4. Automatic Face Cropping: Deep learning face detector finds the face on the card and crops a perfect passport photo.</a:t>
            </a:r>
          </a:p>
        </p:txBody>
      </p:sp>
      <p:sp>
        <p:nvSpPr>
          <p:cNvPr id="9" name="Rounded Rectangle 8"/>
          <p:cNvSpPr/>
          <p:nvPr/>
        </p:nvSpPr>
        <p:spPr>
          <a:xfrm>
            <a:off x="6217920" y="137160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4754880" cy="4480560"/>
          </a:xfrm>
          <a:prstGeom prst="rect">
            <a:avLst/>
          </a:prstGeom>
          <a:noFill/>
        </p:spPr>
        <p:txBody>
          <a:bodyPr wrap="square">
            <a:spAutoFit/>
          </a:bodyPr>
          <a:lstStyle/>
          <a:p>
            <a:pPr>
              <a:spcAft>
                <a:spcPts val="1000"/>
              </a:spcAft>
              <a:defRPr sz="1450" b="1">
                <a:solidFill>
                  <a:srgbClr val="10B981"/>
                </a:solidFill>
              </a:defRPr>
            </a:pPr>
            <a:r>
              <a:t>Accuracy &amp; Speed Improvements  [Accurate &amp; Fast]</a:t>
            </a:r>
          </a:p>
          <a:p>
            <a:pPr>
              <a:spcAft>
                <a:spcPts val="600"/>
              </a:spcAft>
              <a:defRPr sz="1150">
                <a:solidFill>
                  <a:srgbClr val="1E293B"/>
                </a:solidFill>
              </a:defRPr>
            </a:pPr>
            <a:r>
              <a:t>• 5. Accurate Aadhaar Extraction: Custom rules ensure the 12-digit Aadhaar number is picked, ignoring 14-digit enrolment numbers.</a:t>
            </a:r>
          </a:p>
          <a:p>
            <a:pPr>
              <a:spcAft>
                <a:spcPts val="600"/>
              </a:spcAft>
              <a:defRPr sz="1150">
                <a:solidFill>
                  <a:srgbClr val="1E293B"/>
                </a:solidFill>
              </a:defRPr>
            </a:pPr>
            <a:r>
              <a:t>• 6. Clean Address Parsing: Automatically separates Door No (e.g. 78) from Street Name and removes legal disclaimer text.</a:t>
            </a:r>
          </a:p>
          <a:p>
            <a:pPr>
              <a:spcAft>
                <a:spcPts val="600"/>
              </a:spcAft>
              <a:defRPr sz="1150">
                <a:solidFill>
                  <a:srgbClr val="1E293B"/>
                </a:solidFill>
              </a:defRPr>
            </a:pPr>
            <a:r>
              <a:t>• 7. Automatic Dropdown Selection: Automatically selects 'Father' or 'Husband' in the relationship dropdown.</a:t>
            </a:r>
          </a:p>
          <a:p>
            <a:pPr>
              <a:spcAft>
                <a:spcPts val="600"/>
              </a:spcAft>
              <a:defRPr sz="1150">
                <a:solidFill>
                  <a:srgbClr val="1E293B"/>
                </a:solidFill>
              </a:defRPr>
            </a:pPr>
            <a:r>
              <a:t>• 8. Lightning Fast: Entire process completes in under 25 seconds with a single click.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WORKFLOW</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Proposed Methodology &amp; Step-by-Step Architecture</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25146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2057400" cy="4480560"/>
          </a:xfrm>
          <a:prstGeom prst="rect">
            <a:avLst/>
          </a:prstGeom>
          <a:noFill/>
        </p:spPr>
        <p:txBody>
          <a:bodyPr wrap="square">
            <a:spAutoFit/>
          </a:bodyPr>
          <a:lstStyle/>
          <a:p>
            <a:pPr>
              <a:spcAft>
                <a:spcPts val="1000"/>
              </a:spcAft>
              <a:defRPr sz="1450" b="1">
                <a:solidFill>
                  <a:srgbClr val="0F2B48"/>
                </a:solidFill>
              </a:defRPr>
            </a:pPr>
            <a:r>
              <a:t>Step 1: Upload</a:t>
            </a:r>
          </a:p>
          <a:p>
            <a:pPr>
              <a:spcAft>
                <a:spcPts val="600"/>
              </a:spcAft>
              <a:defRPr sz="1150">
                <a:solidFill>
                  <a:srgbClr val="1E293B"/>
                </a:solidFill>
              </a:defRPr>
            </a:pPr>
            <a:r>
              <a:t>• • User drops Front &amp; Back card images or PDF.</a:t>
            </a:r>
          </a:p>
          <a:p>
            <a:pPr>
              <a:spcAft>
                <a:spcPts val="600"/>
              </a:spcAft>
              <a:defRPr sz="1150">
                <a:solidFill>
                  <a:srgbClr val="1E293B"/>
                </a:solidFill>
              </a:defRPr>
            </a:pPr>
            <a:r>
              <a:t>• • Frontend manages attached file chips.</a:t>
            </a:r>
          </a:p>
          <a:p>
            <a:pPr>
              <a:spcAft>
                <a:spcPts val="600"/>
              </a:spcAft>
              <a:defRPr sz="1150">
                <a:solidFill>
                  <a:srgbClr val="1E293B"/>
                </a:solidFill>
              </a:defRPr>
            </a:pPr>
            <a:r>
              <a:t>• • Sends files to FastAPI backend.</a:t>
            </a:r>
          </a:p>
        </p:txBody>
      </p:sp>
      <p:sp>
        <p:nvSpPr>
          <p:cNvPr id="9" name="Rounded Rectangle 8"/>
          <p:cNvSpPr/>
          <p:nvPr/>
        </p:nvSpPr>
        <p:spPr>
          <a:xfrm>
            <a:off x="3429000" y="1371600"/>
            <a:ext cx="25146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1554480"/>
            <a:ext cx="2057400" cy="4480560"/>
          </a:xfrm>
          <a:prstGeom prst="rect">
            <a:avLst/>
          </a:prstGeom>
          <a:noFill/>
        </p:spPr>
        <p:txBody>
          <a:bodyPr wrap="square">
            <a:spAutoFit/>
          </a:bodyPr>
          <a:lstStyle/>
          <a:p>
            <a:pPr>
              <a:spcAft>
                <a:spcPts val="1000"/>
              </a:spcAft>
              <a:defRPr sz="1450" b="1">
                <a:solidFill>
                  <a:srgbClr val="2563EB"/>
                </a:solidFill>
              </a:defRPr>
            </a:pPr>
            <a:r>
              <a:t>Step 2: Read &amp; Detect</a:t>
            </a:r>
          </a:p>
          <a:p>
            <a:pPr>
              <a:spcAft>
                <a:spcPts val="600"/>
              </a:spcAft>
              <a:defRPr sz="1150">
                <a:solidFill>
                  <a:srgbClr val="1E293B"/>
                </a:solidFill>
              </a:defRPr>
            </a:pPr>
            <a:r>
              <a:t>• • EasyOCR reads all text from the card.</a:t>
            </a:r>
          </a:p>
          <a:p>
            <a:pPr>
              <a:spcAft>
                <a:spcPts val="600"/>
              </a:spcAft>
              <a:defRPr sz="1150">
                <a:solidFill>
                  <a:srgbClr val="1E293B"/>
                </a:solidFill>
              </a:defRPr>
            </a:pPr>
            <a:r>
              <a:t>• • YuNet AI finds the face on the card.</a:t>
            </a:r>
          </a:p>
          <a:p>
            <a:pPr>
              <a:spcAft>
                <a:spcPts val="600"/>
              </a:spcAft>
              <a:defRPr sz="1150">
                <a:solidFill>
                  <a:srgbClr val="1E293B"/>
                </a:solidFill>
              </a:defRPr>
            </a:pPr>
            <a:r>
              <a:t>• • Automatically crops clean passport photo.</a:t>
            </a:r>
          </a:p>
          <a:p>
            <a:pPr>
              <a:spcAft>
                <a:spcPts val="600"/>
              </a:spcAft>
              <a:defRPr sz="1150">
                <a:solidFill>
                  <a:srgbClr val="1E293B"/>
                </a:solidFill>
              </a:defRPr>
            </a:pPr>
            <a:r>
              <a:t>• • Skin-tone filter rejects text crops.</a:t>
            </a:r>
          </a:p>
        </p:txBody>
      </p:sp>
      <p:sp>
        <p:nvSpPr>
          <p:cNvPr id="11" name="Rounded Rectangle 10"/>
          <p:cNvSpPr/>
          <p:nvPr/>
        </p:nvSpPr>
        <p:spPr>
          <a:xfrm>
            <a:off x="6126480" y="1371600"/>
            <a:ext cx="25146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554480"/>
            <a:ext cx="2057400" cy="4480560"/>
          </a:xfrm>
          <a:prstGeom prst="rect">
            <a:avLst/>
          </a:prstGeom>
          <a:noFill/>
        </p:spPr>
        <p:txBody>
          <a:bodyPr wrap="square">
            <a:spAutoFit/>
          </a:bodyPr>
          <a:lstStyle/>
          <a:p>
            <a:pPr>
              <a:spcAft>
                <a:spcPts val="1000"/>
              </a:spcAft>
              <a:defRPr sz="1450" b="1">
                <a:solidFill>
                  <a:srgbClr val="1E293B"/>
                </a:solidFill>
              </a:defRPr>
            </a:pPr>
            <a:r>
              <a:t>Step 3: Understand</a:t>
            </a:r>
          </a:p>
          <a:p>
            <a:pPr>
              <a:spcAft>
                <a:spcPts val="600"/>
              </a:spcAft>
              <a:defRPr sz="1150">
                <a:solidFill>
                  <a:srgbClr val="1E293B"/>
                </a:solidFill>
              </a:defRPr>
            </a:pPr>
            <a:r>
              <a:t>• • Text is sent to local Llama 3.2 AI.</a:t>
            </a:r>
          </a:p>
          <a:p>
            <a:pPr>
              <a:spcAft>
                <a:spcPts val="600"/>
              </a:spcAft>
              <a:defRPr sz="1150">
                <a:solidFill>
                  <a:srgbClr val="1E293B"/>
                </a:solidFill>
              </a:defRPr>
            </a:pPr>
            <a:r>
              <a:t>• • AI sorts text into Name, DOB, Father's Name, and Address.</a:t>
            </a:r>
          </a:p>
          <a:p>
            <a:pPr>
              <a:spcAft>
                <a:spcPts val="600"/>
              </a:spcAft>
              <a:defRPr sz="1150">
                <a:solidFill>
                  <a:srgbClr val="1E293B"/>
                </a:solidFill>
              </a:defRPr>
            </a:pPr>
            <a:r>
              <a:t>• • Runs offline via Ollama (no cloud).</a:t>
            </a:r>
          </a:p>
        </p:txBody>
      </p:sp>
      <p:sp>
        <p:nvSpPr>
          <p:cNvPr id="13" name="Rounded Rectangle 12"/>
          <p:cNvSpPr/>
          <p:nvPr/>
        </p:nvSpPr>
        <p:spPr>
          <a:xfrm>
            <a:off x="8823960" y="1371600"/>
            <a:ext cx="26060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0" y="1554480"/>
            <a:ext cx="2148840" cy="4480560"/>
          </a:xfrm>
          <a:prstGeom prst="rect">
            <a:avLst/>
          </a:prstGeom>
          <a:noFill/>
        </p:spPr>
        <p:txBody>
          <a:bodyPr wrap="square">
            <a:spAutoFit/>
          </a:bodyPr>
          <a:lstStyle/>
          <a:p>
            <a:pPr>
              <a:spcAft>
                <a:spcPts val="1000"/>
              </a:spcAft>
              <a:defRPr sz="1450" b="1">
                <a:solidFill>
                  <a:srgbClr val="10B981"/>
                </a:solidFill>
              </a:defRPr>
            </a:pPr>
            <a:r>
              <a:t>Step 4: Clean &amp; Fill</a:t>
            </a:r>
          </a:p>
          <a:p>
            <a:pPr>
              <a:spcAft>
                <a:spcPts val="600"/>
              </a:spcAft>
              <a:defRPr sz="1150">
                <a:solidFill>
                  <a:srgbClr val="1E293B"/>
                </a:solidFill>
              </a:defRPr>
            </a:pPr>
            <a:r>
              <a:t>• • Cleans 12-digit Aadhaar UID.</a:t>
            </a:r>
          </a:p>
          <a:p>
            <a:pPr>
              <a:spcAft>
                <a:spcPts val="600"/>
              </a:spcAft>
              <a:defRPr sz="1150">
                <a:solidFill>
                  <a:srgbClr val="1E293B"/>
                </a:solidFill>
              </a:defRPr>
            </a:pPr>
            <a:r>
              <a:t>• • Splits Door No &amp; Street clearly.</a:t>
            </a:r>
          </a:p>
          <a:p>
            <a:pPr>
              <a:spcAft>
                <a:spcPts val="600"/>
              </a:spcAft>
              <a:defRPr sz="1150">
                <a:solidFill>
                  <a:srgbClr val="1E293B"/>
                </a:solidFill>
              </a:defRPr>
            </a:pPr>
            <a:r>
              <a:t>• • Converts DOB to YYYY-MM-DD.</a:t>
            </a:r>
          </a:p>
          <a:p>
            <a:pPr>
              <a:spcAft>
                <a:spcPts val="600"/>
              </a:spcAft>
              <a:defRPr sz="1150">
                <a:solidFill>
                  <a:srgbClr val="1E293B"/>
                </a:solidFill>
              </a:defRPr>
            </a:pPr>
            <a:r>
              <a:t>• • Fills all Form 6 boxes instantly!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TECH STACK</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Tools &amp; Technologies Used (Why We Chose Them)</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663440" cy="1965960"/>
          </a:xfrm>
          <a:prstGeom prst="rect">
            <a:avLst/>
          </a:prstGeom>
          <a:noFill/>
        </p:spPr>
        <p:txBody>
          <a:bodyPr wrap="square">
            <a:spAutoFit/>
          </a:bodyPr>
          <a:lstStyle/>
          <a:p>
            <a:pPr>
              <a:spcAft>
                <a:spcPts val="1000"/>
              </a:spcAft>
              <a:defRPr sz="1450" b="1">
                <a:solidFill>
                  <a:srgbClr val="2563EB"/>
                </a:solidFill>
              </a:defRPr>
            </a:pPr>
            <a:r>
              <a:t>1. Backend: Python &amp; FastAPI</a:t>
            </a:r>
          </a:p>
          <a:p>
            <a:pPr>
              <a:spcAft>
                <a:spcPts val="600"/>
              </a:spcAft>
              <a:defRPr sz="1150">
                <a:solidFill>
                  <a:srgbClr val="1E293B"/>
                </a:solidFill>
              </a:defRPr>
            </a:pPr>
            <a:r>
              <a:t>• • Python 3.12: Main programming language.</a:t>
            </a:r>
          </a:p>
          <a:p>
            <a:pPr>
              <a:spcAft>
                <a:spcPts val="600"/>
              </a:spcAft>
              <a:defRPr sz="1150">
                <a:solidFill>
                  <a:srgbClr val="1E293B"/>
                </a:solidFill>
              </a:defRPr>
            </a:pPr>
            <a:r>
              <a:t>• • FastAPI: Very fast and modern web backend framework.</a:t>
            </a:r>
          </a:p>
          <a:p>
            <a:pPr>
              <a:spcAft>
                <a:spcPts val="600"/>
              </a:spcAft>
              <a:defRPr sz="1150">
                <a:solidFill>
                  <a:srgbClr val="1E293B"/>
                </a:solidFill>
              </a:defRPr>
            </a:pPr>
            <a:r>
              <a:t>• • Uvicorn: Runs the local backend server on port 8000.</a:t>
            </a:r>
          </a:p>
          <a:p>
            <a:pPr>
              <a:spcAft>
                <a:spcPts val="600"/>
              </a:spcAft>
              <a:defRPr sz="1150">
                <a:solidFill>
                  <a:srgbClr val="1E293B"/>
                </a:solidFill>
              </a:defRPr>
            </a:pPr>
            <a:r>
              <a:t>• • Why chosen: Fast, handles multiple files easily, and connects with AI libraries.</a:t>
            </a:r>
          </a:p>
        </p:txBody>
      </p:sp>
      <p:sp>
        <p:nvSpPr>
          <p:cNvPr id="9" name="Rounded Rectangle 8"/>
          <p:cNvSpPr/>
          <p:nvPr/>
        </p:nvSpPr>
        <p:spPr>
          <a:xfrm>
            <a:off x="6217920" y="13716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4754880" cy="1965960"/>
          </a:xfrm>
          <a:prstGeom prst="rect">
            <a:avLst/>
          </a:prstGeom>
          <a:noFill/>
        </p:spPr>
        <p:txBody>
          <a:bodyPr wrap="square">
            <a:spAutoFit/>
          </a:bodyPr>
          <a:lstStyle/>
          <a:p>
            <a:pPr>
              <a:spcAft>
                <a:spcPts val="1000"/>
              </a:spcAft>
              <a:defRPr sz="1450" b="1">
                <a:solidFill>
                  <a:srgbClr val="10B981"/>
                </a:solidFill>
              </a:defRPr>
            </a:pPr>
            <a:r>
              <a:t>2. Text Reading: EasyOCR</a:t>
            </a:r>
          </a:p>
          <a:p>
            <a:pPr>
              <a:spcAft>
                <a:spcPts val="600"/>
              </a:spcAft>
              <a:defRPr sz="1150">
                <a:solidFill>
                  <a:srgbClr val="1E293B"/>
                </a:solidFill>
              </a:defRPr>
            </a:pPr>
            <a:r>
              <a:t>• • EasyOCR (PyTorch): Deep learning library to read text from images.</a:t>
            </a:r>
          </a:p>
          <a:p>
            <a:pPr>
              <a:spcAft>
                <a:spcPts val="600"/>
              </a:spcAft>
              <a:defRPr sz="1150">
                <a:solidFill>
                  <a:srgbClr val="1E293B"/>
                </a:solidFill>
              </a:defRPr>
            </a:pPr>
            <a:r>
              <a:t>• • Reads English and Indian regional text (Tamil, etc.).</a:t>
            </a:r>
          </a:p>
          <a:p>
            <a:pPr>
              <a:spcAft>
                <a:spcPts val="600"/>
              </a:spcAft>
              <a:defRPr sz="1150">
                <a:solidFill>
                  <a:srgbClr val="1E293B"/>
                </a:solidFill>
              </a:defRPr>
            </a:pPr>
            <a:r>
              <a:t>• • pypdfium2: Converts PDF pages into high-clarity images.</a:t>
            </a:r>
          </a:p>
          <a:p>
            <a:pPr>
              <a:spcAft>
                <a:spcPts val="600"/>
              </a:spcAft>
              <a:defRPr sz="1150">
                <a:solidFill>
                  <a:srgbClr val="1E293B"/>
                </a:solidFill>
              </a:defRPr>
            </a:pPr>
            <a:r>
              <a:t>• • Why chosen: Much more accurate than old tools like Tesseract.</a:t>
            </a:r>
          </a:p>
        </p:txBody>
      </p:sp>
      <p:sp>
        <p:nvSpPr>
          <p:cNvPr id="11" name="Rounded Rectangle 10"/>
          <p:cNvSpPr/>
          <p:nvPr/>
        </p:nvSpPr>
        <p:spPr>
          <a:xfrm>
            <a:off x="731520" y="388620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69080"/>
            <a:ext cx="4663440" cy="1965960"/>
          </a:xfrm>
          <a:prstGeom prst="rect">
            <a:avLst/>
          </a:prstGeom>
          <a:noFill/>
        </p:spPr>
        <p:txBody>
          <a:bodyPr wrap="square">
            <a:spAutoFit/>
          </a:bodyPr>
          <a:lstStyle/>
          <a:p>
            <a:pPr>
              <a:spcAft>
                <a:spcPts val="1000"/>
              </a:spcAft>
              <a:defRPr sz="1450" b="1">
                <a:solidFill>
                  <a:srgbClr val="1E293B"/>
                </a:solidFill>
              </a:defRPr>
            </a:pPr>
            <a:r>
              <a:t>3. Local AI: Meta Llama 3.2 (3B)</a:t>
            </a:r>
          </a:p>
          <a:p>
            <a:pPr>
              <a:spcAft>
                <a:spcPts val="600"/>
              </a:spcAft>
              <a:defRPr sz="1150">
                <a:solidFill>
                  <a:srgbClr val="1E293B"/>
                </a:solidFill>
              </a:defRPr>
            </a:pPr>
            <a:r>
              <a:t>• • Llama 3.2: Small Language Model created by Meta AI.</a:t>
            </a:r>
          </a:p>
          <a:p>
            <a:pPr>
              <a:spcAft>
                <a:spcPts val="600"/>
              </a:spcAft>
              <a:defRPr sz="1150">
                <a:solidFill>
                  <a:srgbClr val="1E293B"/>
                </a:solidFill>
              </a:defRPr>
            </a:pPr>
            <a:r>
              <a:t>• • Hosted locally using Ollama (free local software).</a:t>
            </a:r>
          </a:p>
          <a:p>
            <a:pPr>
              <a:spcAft>
                <a:spcPts val="600"/>
              </a:spcAft>
              <a:defRPr sz="1150">
                <a:solidFill>
                  <a:srgbClr val="1E293B"/>
                </a:solidFill>
              </a:defRPr>
            </a:pPr>
            <a:r>
              <a:t>• • Converts messy OCR text into clean JSON data.</a:t>
            </a:r>
          </a:p>
          <a:p>
            <a:pPr>
              <a:spcAft>
                <a:spcPts val="600"/>
              </a:spcAft>
              <a:defRPr sz="1150">
                <a:solidFill>
                  <a:srgbClr val="1E293B"/>
                </a:solidFill>
              </a:defRPr>
            </a:pPr>
            <a:r>
              <a:t>• • Why chosen: Works offline without internet, keeping personal data 100% private.</a:t>
            </a:r>
          </a:p>
        </p:txBody>
      </p:sp>
      <p:sp>
        <p:nvSpPr>
          <p:cNvPr id="13" name="Rounded Rectangle 12"/>
          <p:cNvSpPr/>
          <p:nvPr/>
        </p:nvSpPr>
        <p:spPr>
          <a:xfrm>
            <a:off x="6217920" y="38862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069080"/>
            <a:ext cx="4754880" cy="1965960"/>
          </a:xfrm>
          <a:prstGeom prst="rect">
            <a:avLst/>
          </a:prstGeom>
          <a:noFill/>
        </p:spPr>
        <p:txBody>
          <a:bodyPr wrap="square">
            <a:spAutoFit/>
          </a:bodyPr>
          <a:lstStyle/>
          <a:p>
            <a:pPr>
              <a:spcAft>
                <a:spcPts val="1000"/>
              </a:spcAft>
              <a:defRPr sz="1450" b="1">
                <a:solidFill>
                  <a:srgbClr val="0F2B48"/>
                </a:solidFill>
              </a:defRPr>
            </a:pPr>
            <a:r>
              <a:t>4. Face Cropping: OpenCV YuNet</a:t>
            </a:r>
          </a:p>
          <a:p>
            <a:pPr>
              <a:spcAft>
                <a:spcPts val="600"/>
              </a:spcAft>
              <a:defRPr sz="1150">
                <a:solidFill>
                  <a:srgbClr val="1E293B"/>
                </a:solidFill>
              </a:defRPr>
            </a:pPr>
            <a:r>
              <a:t>• • YuNet: Modern AI face detection model built into OpenCV.</a:t>
            </a:r>
          </a:p>
          <a:p>
            <a:pPr>
              <a:spcAft>
                <a:spcPts val="600"/>
              </a:spcAft>
              <a:defRPr sz="1150">
                <a:solidFill>
                  <a:srgbClr val="1E293B"/>
                </a:solidFill>
              </a:defRPr>
            </a:pPr>
            <a:r>
              <a:t>• • Tiny file size (just 232 KB) but achieves over 92% face accuracy.</a:t>
            </a:r>
          </a:p>
          <a:p>
            <a:pPr>
              <a:spcAft>
                <a:spcPts val="600"/>
              </a:spcAft>
              <a:defRPr sz="1150">
                <a:solidFill>
                  <a:srgbClr val="1E293B"/>
                </a:solidFill>
              </a:defRPr>
            </a:pPr>
            <a:r>
              <a:t>• • Frontend: Clean HTML5, CSS3, and JavaScript.</a:t>
            </a:r>
          </a:p>
          <a:p>
            <a:pPr>
              <a:spcAft>
                <a:spcPts val="600"/>
              </a:spcAft>
              <a:defRPr sz="1150">
                <a:solidFill>
                  <a:srgbClr val="1E293B"/>
                </a:solidFill>
              </a:defRPr>
            </a:pPr>
            <a:r>
              <a:t>• • Why chosen: Fast, runs on any laptop, and crops perfect passport photos.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PHASE 1 DELIVERABLES</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Work Completed So Far (Our Working Results)</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663440" cy="1965960"/>
          </a:xfrm>
          <a:prstGeom prst="rect">
            <a:avLst/>
          </a:prstGeom>
          <a:noFill/>
        </p:spPr>
        <p:txBody>
          <a:bodyPr wrap="square">
            <a:spAutoFit/>
          </a:bodyPr>
          <a:lstStyle/>
          <a:p>
            <a:pPr>
              <a:spcAft>
                <a:spcPts val="1000"/>
              </a:spcAft>
              <a:defRPr sz="1450" b="1">
                <a:solidFill>
                  <a:srgbClr val="10B981"/>
                </a:solidFill>
              </a:defRPr>
            </a:pPr>
            <a:r>
              <a:t>1. Multi-Document File Manager</a:t>
            </a:r>
          </a:p>
          <a:p>
            <a:pPr>
              <a:spcAft>
                <a:spcPts val="600"/>
              </a:spcAft>
              <a:defRPr sz="1150">
                <a:solidFill>
                  <a:srgbClr val="1E293B"/>
                </a:solidFill>
              </a:defRPr>
            </a:pPr>
            <a:r>
              <a:t>• • Built an interactive drag-and-drop file uploader.</a:t>
            </a:r>
          </a:p>
          <a:p>
            <a:pPr>
              <a:spcAft>
                <a:spcPts val="600"/>
              </a:spcAft>
              <a:defRPr sz="1150">
                <a:solidFill>
                  <a:srgbClr val="1E293B"/>
                </a:solidFill>
              </a:defRPr>
            </a:pPr>
            <a:r>
              <a:t>• • Users can attach Front PNG, Back PNG, and multi-page PDFs.</a:t>
            </a:r>
          </a:p>
          <a:p>
            <a:pPr>
              <a:spcAft>
                <a:spcPts val="600"/>
              </a:spcAft>
              <a:defRPr sz="1150">
                <a:solidFill>
                  <a:srgbClr val="1E293B"/>
                </a:solidFill>
              </a:defRPr>
            </a:pPr>
            <a:r>
              <a:t>• • Shows file size badges and an 'X' button to remove files.</a:t>
            </a:r>
          </a:p>
          <a:p>
            <a:pPr>
              <a:spcAft>
                <a:spcPts val="600"/>
              </a:spcAft>
              <a:defRPr sz="1150">
                <a:solidFill>
                  <a:srgbClr val="1E293B"/>
                </a:solidFill>
              </a:defRPr>
            </a:pPr>
            <a:r>
              <a:t>• • Status: 100% Completed &amp; Verified.</a:t>
            </a:r>
          </a:p>
        </p:txBody>
      </p:sp>
      <p:sp>
        <p:nvSpPr>
          <p:cNvPr id="9" name="Rounded Rectangle 8"/>
          <p:cNvSpPr/>
          <p:nvPr/>
        </p:nvSpPr>
        <p:spPr>
          <a:xfrm>
            <a:off x="6217920" y="13716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4754880" cy="1965960"/>
          </a:xfrm>
          <a:prstGeom prst="rect">
            <a:avLst/>
          </a:prstGeom>
          <a:noFill/>
        </p:spPr>
        <p:txBody>
          <a:bodyPr wrap="square">
            <a:spAutoFit/>
          </a:bodyPr>
          <a:lstStyle/>
          <a:p>
            <a:pPr>
              <a:spcAft>
                <a:spcPts val="1000"/>
              </a:spcAft>
              <a:defRPr sz="1450" b="1">
                <a:solidFill>
                  <a:srgbClr val="10B981"/>
                </a:solidFill>
              </a:defRPr>
            </a:pPr>
            <a:r>
              <a:t>2. Deep Learning Face Photo Cropping</a:t>
            </a:r>
          </a:p>
          <a:p>
            <a:pPr>
              <a:spcAft>
                <a:spcPts val="600"/>
              </a:spcAft>
              <a:defRPr sz="1150">
                <a:solidFill>
                  <a:srgbClr val="1E293B"/>
                </a:solidFill>
              </a:defRPr>
            </a:pPr>
            <a:r>
              <a:t>• • Integrated OpenCV YuNet neural network (232 KB model).</a:t>
            </a:r>
          </a:p>
          <a:p>
            <a:pPr>
              <a:spcAft>
                <a:spcPts val="600"/>
              </a:spcAft>
              <a:defRPr sz="1150">
                <a:solidFill>
                  <a:srgbClr val="1E293B"/>
                </a:solidFill>
              </a:defRPr>
            </a:pPr>
            <a:r>
              <a:t>• • Finds the applicant's face on the card with over 92% confidence.</a:t>
            </a:r>
          </a:p>
          <a:p>
            <a:pPr>
              <a:spcAft>
                <a:spcPts val="600"/>
              </a:spcAft>
              <a:defRPr sz="1150">
                <a:solidFill>
                  <a:srgbClr val="1E293B"/>
                </a:solidFill>
              </a:defRPr>
            </a:pPr>
            <a:r>
              <a:t>• • Crops a clean 1:1 passport photo with proper margins around head.</a:t>
            </a:r>
          </a:p>
          <a:p>
            <a:pPr>
              <a:spcAft>
                <a:spcPts val="600"/>
              </a:spcAft>
              <a:defRPr sz="1150">
                <a:solidFill>
                  <a:srgbClr val="1E293B"/>
                </a:solidFill>
              </a:defRPr>
            </a:pPr>
            <a:r>
              <a:t>• • Skin-tone filter prevents accidentally cropping text boxes.</a:t>
            </a:r>
          </a:p>
        </p:txBody>
      </p:sp>
      <p:sp>
        <p:nvSpPr>
          <p:cNvPr id="11" name="Rounded Rectangle 10"/>
          <p:cNvSpPr/>
          <p:nvPr/>
        </p:nvSpPr>
        <p:spPr>
          <a:xfrm>
            <a:off x="731520" y="388620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69080"/>
            <a:ext cx="4663440" cy="1965960"/>
          </a:xfrm>
          <a:prstGeom prst="rect">
            <a:avLst/>
          </a:prstGeom>
          <a:noFill/>
        </p:spPr>
        <p:txBody>
          <a:bodyPr wrap="square">
            <a:spAutoFit/>
          </a:bodyPr>
          <a:lstStyle/>
          <a:p>
            <a:pPr>
              <a:spcAft>
                <a:spcPts val="1000"/>
              </a:spcAft>
              <a:defRPr sz="1450" b="1">
                <a:solidFill>
                  <a:srgbClr val="2563EB"/>
                </a:solidFill>
              </a:defRPr>
            </a:pPr>
            <a:r>
              <a:t>3. Accurate Aadhaar Number &amp; Relative Name</a:t>
            </a:r>
          </a:p>
          <a:p>
            <a:pPr>
              <a:spcAft>
                <a:spcPts val="600"/>
              </a:spcAft>
              <a:defRPr sz="1150">
                <a:solidFill>
                  <a:srgbClr val="1E293B"/>
                </a:solidFill>
              </a:defRPr>
            </a:pPr>
            <a:r>
              <a:t>• • Fixed Aadhaar extraction: Picks 12-digit UID (e.g. 6120 9678 1604) and ignores 14-digit enrolment numbers.</a:t>
            </a:r>
          </a:p>
          <a:p>
            <a:pPr>
              <a:spcAft>
                <a:spcPts val="600"/>
              </a:spcAft>
              <a:defRPr sz="1150">
                <a:solidFill>
                  <a:srgbClr val="1E293B"/>
                </a:solidFill>
              </a:defRPr>
            </a:pPr>
            <a:r>
              <a:t>• • Fixed Relative extraction: Handles 'SJO' or 'S/O' and extracts father's name ('Shankar').</a:t>
            </a:r>
          </a:p>
          <a:p>
            <a:pPr>
              <a:spcAft>
                <a:spcPts val="600"/>
              </a:spcAft>
              <a:defRPr sz="1150">
                <a:solidFill>
                  <a:srgbClr val="1E293B"/>
                </a:solidFill>
              </a:defRPr>
            </a:pPr>
            <a:r>
              <a:t>• • Automatically sets 'Father' in the relationship dropdown.</a:t>
            </a:r>
          </a:p>
        </p:txBody>
      </p:sp>
      <p:sp>
        <p:nvSpPr>
          <p:cNvPr id="13" name="Rounded Rectangle 12"/>
          <p:cNvSpPr/>
          <p:nvPr/>
        </p:nvSpPr>
        <p:spPr>
          <a:xfrm>
            <a:off x="6217920" y="38862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069080"/>
            <a:ext cx="4754880" cy="1965960"/>
          </a:xfrm>
          <a:prstGeom prst="rect">
            <a:avLst/>
          </a:prstGeom>
          <a:noFill/>
        </p:spPr>
        <p:txBody>
          <a:bodyPr wrap="square">
            <a:spAutoFit/>
          </a:bodyPr>
          <a:lstStyle/>
          <a:p>
            <a:pPr>
              <a:spcAft>
                <a:spcPts val="1000"/>
              </a:spcAft>
              <a:defRPr sz="1450" b="1">
                <a:solidFill>
                  <a:srgbClr val="2563EB"/>
                </a:solidFill>
              </a:defRPr>
            </a:pPr>
            <a:r>
              <a:t>4. Clean Address Splitting</a:t>
            </a:r>
          </a:p>
          <a:p>
            <a:pPr>
              <a:spcAft>
                <a:spcPts val="600"/>
              </a:spcAft>
              <a:defRPr sz="1150">
                <a:solidFill>
                  <a:srgbClr val="1E293B"/>
                </a:solidFill>
              </a:defRPr>
            </a:pPr>
            <a:r>
              <a:t>• • Filtered out legal warnings ('Documents to support identity...').</a:t>
            </a:r>
          </a:p>
          <a:p>
            <a:pPr>
              <a:spcAft>
                <a:spcPts val="600"/>
              </a:spcAft>
              <a:defRPr sz="1150">
                <a:solidFill>
                  <a:srgbClr val="1E293B"/>
                </a:solidFill>
              </a:defRPr>
            </a:pPr>
            <a:r>
              <a:t>• • Cleanly splits House/Door No ('78') and Street ('2ND STREET, INDRA GANDHI NAGAR').</a:t>
            </a:r>
          </a:p>
          <a:p>
            <a:pPr>
              <a:spcAft>
                <a:spcPts val="600"/>
              </a:spcAft>
              <a:defRPr sz="1150">
                <a:solidFill>
                  <a:srgbClr val="1E293B"/>
                </a:solidFill>
              </a:defRPr>
            </a:pPr>
            <a:r>
              <a:t>• • Converts Date of Birth to HTML date format ('21-02-2006').</a:t>
            </a:r>
          </a:p>
          <a:p>
            <a:pPr>
              <a:spcAft>
                <a:spcPts val="600"/>
              </a:spcAft>
              <a:defRPr sz="1150">
                <a:solidFill>
                  <a:srgbClr val="1E293B"/>
                </a:solidFill>
              </a:defRPr>
            </a:pPr>
            <a:r>
              <a:t>• • Code pushed to GitHub: github.com/deva-2006/govtAutofill.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EXPECTED RESULTS</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Expected Outcomes: Big Benefits for Citizens</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663440" cy="1965960"/>
          </a:xfrm>
          <a:prstGeom prst="rect">
            <a:avLst/>
          </a:prstGeom>
          <a:noFill/>
        </p:spPr>
        <p:txBody>
          <a:bodyPr wrap="square">
            <a:spAutoFit/>
          </a:bodyPr>
          <a:lstStyle/>
          <a:p>
            <a:pPr>
              <a:spcAft>
                <a:spcPts val="1000"/>
              </a:spcAft>
              <a:defRPr sz="1450" b="1">
                <a:solidFill>
                  <a:srgbClr val="10B981"/>
                </a:solidFill>
              </a:defRPr>
            </a:pPr>
            <a:r>
              <a:t>1. 90% Faster Form Filling</a:t>
            </a:r>
          </a:p>
          <a:p>
            <a:pPr>
              <a:spcAft>
                <a:spcPts val="600"/>
              </a:spcAft>
              <a:defRPr sz="1150">
                <a:solidFill>
                  <a:srgbClr val="1E293B"/>
                </a:solidFill>
              </a:defRPr>
            </a:pPr>
            <a:r>
              <a:t>• • Manual time today: 10 to 15 minutes per form.</a:t>
            </a:r>
          </a:p>
          <a:p>
            <a:pPr>
              <a:spcAft>
                <a:spcPts val="600"/>
              </a:spcAft>
              <a:defRPr sz="1150">
                <a:solidFill>
                  <a:srgbClr val="1E293B"/>
                </a:solidFill>
              </a:defRPr>
            </a:pPr>
            <a:r>
              <a:t>• • With our system: Under 25 to 30 seconds.</a:t>
            </a:r>
          </a:p>
          <a:p>
            <a:pPr>
              <a:spcAft>
                <a:spcPts val="600"/>
              </a:spcAft>
              <a:defRPr sz="1150">
                <a:solidFill>
                  <a:srgbClr val="1E293B"/>
                </a:solidFill>
              </a:defRPr>
            </a:pPr>
            <a:r>
              <a:t>• • Saves huge amounts of time for citizens and registration camps.</a:t>
            </a:r>
          </a:p>
        </p:txBody>
      </p:sp>
      <p:sp>
        <p:nvSpPr>
          <p:cNvPr id="9" name="Rounded Rectangle 8"/>
          <p:cNvSpPr/>
          <p:nvPr/>
        </p:nvSpPr>
        <p:spPr>
          <a:xfrm>
            <a:off x="6217920" y="13716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4754880" cy="1965960"/>
          </a:xfrm>
          <a:prstGeom prst="rect">
            <a:avLst/>
          </a:prstGeom>
          <a:noFill/>
        </p:spPr>
        <p:txBody>
          <a:bodyPr wrap="square">
            <a:spAutoFit/>
          </a:bodyPr>
          <a:lstStyle/>
          <a:p>
            <a:pPr>
              <a:spcAft>
                <a:spcPts val="1000"/>
              </a:spcAft>
              <a:defRPr sz="1450" b="1">
                <a:solidFill>
                  <a:srgbClr val="10B981"/>
                </a:solidFill>
              </a:defRPr>
            </a:pPr>
            <a:r>
              <a:t>2. Almost Zero Typing Mistakes</a:t>
            </a:r>
          </a:p>
          <a:p>
            <a:pPr>
              <a:spcAft>
                <a:spcPts val="600"/>
              </a:spcAft>
              <a:defRPr sz="1150">
                <a:solidFill>
                  <a:srgbClr val="1E293B"/>
                </a:solidFill>
              </a:defRPr>
            </a:pPr>
            <a:r>
              <a:t>• • Typing error rate drops from ~20% to less than 2%.</a:t>
            </a:r>
          </a:p>
          <a:p>
            <a:pPr>
              <a:spcAft>
                <a:spcPts val="600"/>
              </a:spcAft>
              <a:defRPr sz="1150">
                <a:solidFill>
                  <a:srgbClr val="1E293B"/>
                </a:solidFill>
              </a:defRPr>
            </a:pPr>
            <a:r>
              <a:t>• • Eliminates wrong date formats and misspelled names.</a:t>
            </a:r>
          </a:p>
          <a:p>
            <a:pPr>
              <a:spcAft>
                <a:spcPts val="600"/>
              </a:spcAft>
              <a:defRPr sz="1150">
                <a:solidFill>
                  <a:srgbClr val="1E293B"/>
                </a:solidFill>
              </a:defRPr>
            </a:pPr>
            <a:r>
              <a:t>• • Applications get approved faster without administrative queries.</a:t>
            </a:r>
          </a:p>
        </p:txBody>
      </p:sp>
      <p:sp>
        <p:nvSpPr>
          <p:cNvPr id="11" name="Rounded Rectangle 10"/>
          <p:cNvSpPr/>
          <p:nvPr/>
        </p:nvSpPr>
        <p:spPr>
          <a:xfrm>
            <a:off x="731520" y="388620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69080"/>
            <a:ext cx="4663440" cy="1965960"/>
          </a:xfrm>
          <a:prstGeom prst="rect">
            <a:avLst/>
          </a:prstGeom>
          <a:noFill/>
        </p:spPr>
        <p:txBody>
          <a:bodyPr wrap="square">
            <a:spAutoFit/>
          </a:bodyPr>
          <a:lstStyle/>
          <a:p>
            <a:pPr>
              <a:spcAft>
                <a:spcPts val="1000"/>
              </a:spcAft>
              <a:defRPr sz="1450" b="1">
                <a:solidFill>
                  <a:srgbClr val="2563EB"/>
                </a:solidFill>
              </a:defRPr>
            </a:pPr>
            <a:r>
              <a:t>3. 100% Data Privacy (Safe for Citizens)</a:t>
            </a:r>
          </a:p>
          <a:p>
            <a:pPr>
              <a:spcAft>
                <a:spcPts val="600"/>
              </a:spcAft>
              <a:defRPr sz="1150">
                <a:solidFill>
                  <a:srgbClr val="1E293B"/>
                </a:solidFill>
              </a:defRPr>
            </a:pPr>
            <a:r>
              <a:t>• • All processing runs locally on the user's computer.</a:t>
            </a:r>
          </a:p>
          <a:p>
            <a:pPr>
              <a:spcAft>
                <a:spcPts val="600"/>
              </a:spcAft>
              <a:defRPr sz="1150">
                <a:solidFill>
                  <a:srgbClr val="1E293B"/>
                </a:solidFill>
              </a:defRPr>
            </a:pPr>
            <a:r>
              <a:t>• • No Aadhaar data is stored or sent to outside servers.</a:t>
            </a:r>
          </a:p>
          <a:p>
            <a:pPr>
              <a:spcAft>
                <a:spcPts val="600"/>
              </a:spcAft>
              <a:defRPr sz="1150">
                <a:solidFill>
                  <a:srgbClr val="1E293B"/>
                </a:solidFill>
              </a:defRPr>
            </a:pPr>
            <a:r>
              <a:t>• • Safe to use even on personal computers.</a:t>
            </a:r>
          </a:p>
        </p:txBody>
      </p:sp>
      <p:sp>
        <p:nvSpPr>
          <p:cNvPr id="13" name="Rounded Rectangle 12"/>
          <p:cNvSpPr/>
          <p:nvPr/>
        </p:nvSpPr>
        <p:spPr>
          <a:xfrm>
            <a:off x="6217920" y="38862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069080"/>
            <a:ext cx="4754880" cy="1965960"/>
          </a:xfrm>
          <a:prstGeom prst="rect">
            <a:avLst/>
          </a:prstGeom>
          <a:noFill/>
        </p:spPr>
        <p:txBody>
          <a:bodyPr wrap="square">
            <a:spAutoFit/>
          </a:bodyPr>
          <a:lstStyle/>
          <a:p>
            <a:pPr>
              <a:spcAft>
                <a:spcPts val="1000"/>
              </a:spcAft>
              <a:defRPr sz="1450" b="1">
                <a:solidFill>
                  <a:srgbClr val="2563EB"/>
                </a:solidFill>
              </a:defRPr>
            </a:pPr>
            <a:r>
              <a:t>4. Reusable for Other Forms</a:t>
            </a:r>
          </a:p>
          <a:p>
            <a:pPr>
              <a:spcAft>
                <a:spcPts val="600"/>
              </a:spcAft>
              <a:defRPr sz="1150">
                <a:solidFill>
                  <a:srgbClr val="1E293B"/>
                </a:solidFill>
              </a:defRPr>
            </a:pPr>
            <a:r>
              <a:t>• • Can be easily adapted for PAN card applications, Driving License forms, or College admissions.</a:t>
            </a:r>
          </a:p>
          <a:p>
            <a:pPr>
              <a:spcAft>
                <a:spcPts val="600"/>
              </a:spcAft>
              <a:defRPr sz="1150">
                <a:solidFill>
                  <a:srgbClr val="1E293B"/>
                </a:solidFill>
              </a:defRPr>
            </a:pPr>
            <a:r>
              <a:t>• • Works on normal 8GB RAM laptops without expensive GPUs.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ROADMAP</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Project Timeline &amp; Work Plan</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512064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663440" cy="1965960"/>
          </a:xfrm>
          <a:prstGeom prst="rect">
            <a:avLst/>
          </a:prstGeom>
          <a:noFill/>
        </p:spPr>
        <p:txBody>
          <a:bodyPr wrap="square">
            <a:spAutoFit/>
          </a:bodyPr>
          <a:lstStyle/>
          <a:p>
            <a:pPr>
              <a:spcAft>
                <a:spcPts val="1000"/>
              </a:spcAft>
              <a:defRPr sz="1450" b="1">
                <a:solidFill>
                  <a:srgbClr val="10B981"/>
                </a:solidFill>
              </a:defRPr>
            </a:pPr>
            <a:r>
              <a:t>Phase 1: Working Prototype [COMPLETED]</a:t>
            </a:r>
          </a:p>
          <a:p>
            <a:pPr>
              <a:spcAft>
                <a:spcPts val="600"/>
              </a:spcAft>
              <a:defRPr sz="1150">
                <a:solidFill>
                  <a:srgbClr val="1E293B"/>
                </a:solidFill>
              </a:defRPr>
            </a:pPr>
            <a:r>
              <a:t>• • Studied Voter ID Form 6 requirements.</a:t>
            </a:r>
          </a:p>
          <a:p>
            <a:pPr>
              <a:spcAft>
                <a:spcPts val="600"/>
              </a:spcAft>
              <a:defRPr sz="1150">
                <a:solidFill>
                  <a:srgbClr val="1E293B"/>
                </a:solidFill>
              </a:defRPr>
            </a:pPr>
            <a:r>
              <a:t>• • Integrated EasyOCR for reading text.</a:t>
            </a:r>
          </a:p>
          <a:p>
            <a:pPr>
              <a:spcAft>
                <a:spcPts val="600"/>
              </a:spcAft>
              <a:defRPr sz="1150">
                <a:solidFill>
                  <a:srgbClr val="1E293B"/>
                </a:solidFill>
              </a:defRPr>
            </a:pPr>
            <a:r>
              <a:t>• • Setup local Meta Llama 3.2 AI via Ollama.</a:t>
            </a:r>
          </a:p>
          <a:p>
            <a:pPr>
              <a:spcAft>
                <a:spcPts val="600"/>
              </a:spcAft>
              <a:defRPr sz="1150">
                <a:solidFill>
                  <a:srgbClr val="1E293B"/>
                </a:solidFill>
              </a:defRPr>
            </a:pPr>
            <a:r>
              <a:t>• • Integrated OpenCV YuNet deep learning face cropping.</a:t>
            </a:r>
          </a:p>
          <a:p>
            <a:pPr>
              <a:spcAft>
                <a:spcPts val="600"/>
              </a:spcAft>
              <a:defRPr sz="1150">
                <a:solidFill>
                  <a:srgbClr val="1E293B"/>
                </a:solidFill>
              </a:defRPr>
            </a:pPr>
            <a:r>
              <a:t>• • Tested and verified on sample Aadhaar cards.</a:t>
            </a:r>
          </a:p>
          <a:p>
            <a:pPr>
              <a:spcAft>
                <a:spcPts val="600"/>
              </a:spcAft>
              <a:defRPr sz="1150">
                <a:solidFill>
                  <a:srgbClr val="1E293B"/>
                </a:solidFill>
              </a:defRPr>
            </a:pPr>
            <a:r>
              <a:t>• • Current Status: Fully working prototype demonstrated in Review 1.</a:t>
            </a:r>
          </a:p>
        </p:txBody>
      </p:sp>
      <p:sp>
        <p:nvSpPr>
          <p:cNvPr id="9" name="Rounded Rectangle 8"/>
          <p:cNvSpPr/>
          <p:nvPr/>
        </p:nvSpPr>
        <p:spPr>
          <a:xfrm>
            <a:off x="6217920" y="13716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4754880" cy="1965960"/>
          </a:xfrm>
          <a:prstGeom prst="rect">
            <a:avLst/>
          </a:prstGeom>
          <a:noFill/>
        </p:spPr>
        <p:txBody>
          <a:bodyPr wrap="square">
            <a:spAutoFit/>
          </a:bodyPr>
          <a:lstStyle/>
          <a:p>
            <a:pPr>
              <a:spcAft>
                <a:spcPts val="1000"/>
              </a:spcAft>
              <a:defRPr sz="1450" b="1">
                <a:solidFill>
                  <a:srgbClr val="2563EB"/>
                </a:solidFill>
              </a:defRPr>
            </a:pPr>
            <a:r>
              <a:t>Phase 2: More Documents &amp; Security [MID REVIEW]</a:t>
            </a:r>
          </a:p>
          <a:p>
            <a:pPr>
              <a:spcAft>
                <a:spcPts val="600"/>
              </a:spcAft>
              <a:defRPr sz="1150">
                <a:solidFill>
                  <a:srgbClr val="1E293B"/>
                </a:solidFill>
              </a:defRPr>
            </a:pPr>
            <a:r>
              <a:t>• • Add support for PAN Card and Driving License uploads.</a:t>
            </a:r>
          </a:p>
          <a:p>
            <a:pPr>
              <a:spcAft>
                <a:spcPts val="600"/>
              </a:spcAft>
              <a:defRPr sz="1150">
                <a:solidFill>
                  <a:srgbClr val="1E293B"/>
                </a:solidFill>
              </a:defRPr>
            </a:pPr>
            <a:r>
              <a:t>• • Cross-verify name and DOB between Aadhaar and PAN card.</a:t>
            </a:r>
          </a:p>
          <a:p>
            <a:pPr>
              <a:spcAft>
                <a:spcPts val="600"/>
              </a:spcAft>
              <a:defRPr sz="1150">
                <a:solidFill>
                  <a:srgbClr val="1E293B"/>
                </a:solidFill>
              </a:defRPr>
            </a:pPr>
            <a:r>
              <a:t>• • Add green checkmarks showing confidence for each filled box.</a:t>
            </a:r>
          </a:p>
          <a:p>
            <a:pPr>
              <a:spcAft>
                <a:spcPts val="600"/>
              </a:spcAft>
              <a:defRPr sz="1150">
                <a:solidFill>
                  <a:srgbClr val="1E293B"/>
                </a:solidFill>
              </a:defRPr>
            </a:pPr>
            <a:r>
              <a:t>• • Automatically wipe uploaded images from memory after form is submitted.</a:t>
            </a:r>
          </a:p>
        </p:txBody>
      </p:sp>
      <p:sp>
        <p:nvSpPr>
          <p:cNvPr id="11" name="Rounded Rectangle 10"/>
          <p:cNvSpPr/>
          <p:nvPr/>
        </p:nvSpPr>
        <p:spPr>
          <a:xfrm>
            <a:off x="731520" y="3886200"/>
            <a:ext cx="106984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69080"/>
            <a:ext cx="10241280" cy="1965960"/>
          </a:xfrm>
          <a:prstGeom prst="rect">
            <a:avLst/>
          </a:prstGeom>
          <a:noFill/>
        </p:spPr>
        <p:txBody>
          <a:bodyPr wrap="square">
            <a:spAutoFit/>
          </a:bodyPr>
          <a:lstStyle/>
          <a:p>
            <a:pPr>
              <a:spcAft>
                <a:spcPts val="1000"/>
              </a:spcAft>
              <a:defRPr sz="1450" b="1">
                <a:solidFill>
                  <a:srgbClr val="1E293B"/>
                </a:solidFill>
              </a:defRPr>
            </a:pPr>
            <a:r>
              <a:t>Phase 3: Browser Extension &amp; Final Testing [FINAL REVIEW]</a:t>
            </a:r>
          </a:p>
          <a:p>
            <a:pPr>
              <a:spcAft>
                <a:spcPts val="600"/>
              </a:spcAft>
              <a:defRPr sz="1150">
                <a:solidFill>
                  <a:srgbClr val="1E293B"/>
                </a:solidFill>
              </a:defRPr>
            </a:pPr>
            <a:r>
              <a:t>• • Package the system as a Chrome / Firefox Browser Extension.</a:t>
            </a:r>
          </a:p>
          <a:p>
            <a:pPr>
              <a:spcAft>
                <a:spcPts val="600"/>
              </a:spcAft>
              <a:defRPr sz="1150">
                <a:solidFill>
                  <a:srgbClr val="1E293B"/>
                </a:solidFill>
              </a:defRPr>
            </a:pPr>
            <a:r>
              <a:t>• • The extension will directly fill the real live government website (voters.eci.gov.in) with 1 click.</a:t>
            </a:r>
          </a:p>
          <a:p>
            <a:pPr>
              <a:spcAft>
                <a:spcPts val="600"/>
              </a:spcAft>
              <a:defRPr sz="1150">
                <a:solidFill>
                  <a:srgbClr val="1E293B"/>
                </a:solidFill>
              </a:defRPr>
            </a:pPr>
            <a:r>
              <a:t>• • Test on 50 different sample cards with different photo qualities.</a:t>
            </a:r>
          </a:p>
          <a:p>
            <a:pPr>
              <a:spcAft>
                <a:spcPts val="600"/>
              </a:spcAft>
              <a:defRPr sz="1150">
                <a:solidFill>
                  <a:srgbClr val="1E293B"/>
                </a:solidFill>
              </a:defRPr>
            </a:pPr>
            <a:r>
              <a:t>• • Complete final project report and documentation.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38BDF8"/>
                </a:solidFill>
              </a:defRPr>
            </a:pPr>
            <a:r>
              <a:t>SUMMARY</a:t>
            </a:r>
          </a:p>
        </p:txBody>
      </p:sp>
      <p:sp>
        <p:nvSpPr>
          <p:cNvPr id="5" name="TextBox 4"/>
          <p:cNvSpPr txBox="1"/>
          <p:nvPr/>
        </p:nvSpPr>
        <p:spPr>
          <a:xfrm>
            <a:off x="731520" y="347472"/>
            <a:ext cx="10698480" cy="594360"/>
          </a:xfrm>
          <a:prstGeom prst="rect">
            <a:avLst/>
          </a:prstGeom>
          <a:noFill/>
        </p:spPr>
        <p:txBody>
          <a:bodyPr wrap="square">
            <a:spAutoFit/>
          </a:bodyPr>
          <a:lstStyle/>
          <a:p>
            <a:pPr>
              <a:defRPr sz="2100" b="1">
                <a:solidFill>
                  <a:srgbClr val="FFFFFF"/>
                </a:solidFill>
              </a:defRPr>
            </a:pPr>
            <a:r>
              <a:t>Conclusion &amp; References</a:t>
            </a:r>
          </a:p>
        </p:txBody>
      </p:sp>
      <p:sp>
        <p:nvSpPr>
          <p:cNvPr id="6" name="TextBox 5"/>
          <p:cNvSpPr txBox="1"/>
          <p:nvPr/>
        </p:nvSpPr>
        <p:spPr>
          <a:xfrm>
            <a:off x="731520" y="6492240"/>
            <a:ext cx="10698480" cy="320040"/>
          </a:xfrm>
          <a:prstGeom prst="rect">
            <a:avLst/>
          </a:prstGeom>
          <a:noFill/>
        </p:spPr>
        <p:txBody>
          <a:bodyPr wrap="none">
            <a:spAutoFit/>
          </a:bodyPr>
          <a:lstStyle/>
          <a:p>
            <a:pPr>
              <a:defRPr sz="950">
                <a:solidFill>
                  <a:srgbClr val="64748B"/>
                </a:solidFill>
              </a:defRPr>
            </a:pPr>
            <a:r>
              <a:t>Dept of CSE | UG Project Review - 1 | Team: Deva S, Athithi A, Arthi S</a:t>
            </a:r>
          </a:p>
        </p:txBody>
      </p:sp>
      <p:sp>
        <p:nvSpPr>
          <p:cNvPr id="7" name="Rounded Rectangle 6"/>
          <p:cNvSpPr/>
          <p:nvPr/>
        </p:nvSpPr>
        <p:spPr>
          <a:xfrm>
            <a:off x="731520" y="137160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4663440" cy="4480560"/>
          </a:xfrm>
          <a:prstGeom prst="rect">
            <a:avLst/>
          </a:prstGeom>
          <a:noFill/>
        </p:spPr>
        <p:txBody>
          <a:bodyPr wrap="square">
            <a:spAutoFit/>
          </a:bodyPr>
          <a:lstStyle/>
          <a:p>
            <a:pPr>
              <a:spcAft>
                <a:spcPts val="1000"/>
              </a:spcAft>
              <a:defRPr sz="1450" b="1">
                <a:solidFill>
                  <a:srgbClr val="1E293B"/>
                </a:solidFill>
              </a:defRPr>
            </a:pPr>
            <a:r>
              <a:t>References Used  [References]</a:t>
            </a:r>
          </a:p>
          <a:p>
            <a:pPr>
              <a:spcAft>
                <a:spcPts val="600"/>
              </a:spcAft>
              <a:defRPr sz="1150">
                <a:solidFill>
                  <a:srgbClr val="1E293B"/>
                </a:solidFill>
              </a:defRPr>
            </a:pPr>
            <a:r>
              <a:t>• 1. Election Commission of India (ECI), 'Voter Registration Form 6 Guidelines', eci.gov.in, 2023.</a:t>
            </a:r>
          </a:p>
          <a:p>
            <a:pPr>
              <a:spcAft>
                <a:spcPts val="600"/>
              </a:spcAft>
              <a:defRPr sz="1150">
                <a:solidFill>
                  <a:srgbClr val="1E293B"/>
                </a:solidFill>
              </a:defRPr>
            </a:pPr>
            <a:r>
              <a:t>• 2. Meta AI, 'Llama 3.2: Lightweight Multilingual Models for Edge Devices', 2024.</a:t>
            </a:r>
          </a:p>
          <a:p>
            <a:pPr>
              <a:spcAft>
                <a:spcPts val="600"/>
              </a:spcAft>
              <a:defRPr sz="1150">
                <a:solidFill>
                  <a:srgbClr val="1E293B"/>
                </a:solidFill>
              </a:defRPr>
            </a:pPr>
            <a:r>
              <a:t>• 3. OpenCV Zoo, 'YuNet: Compact Deep Neural Network for Real-Time Face Detection', 2023.</a:t>
            </a:r>
          </a:p>
          <a:p>
            <a:pPr>
              <a:spcAft>
                <a:spcPts val="600"/>
              </a:spcAft>
              <a:defRPr sz="1150">
                <a:solidFill>
                  <a:srgbClr val="1E293B"/>
                </a:solidFill>
              </a:defRPr>
            </a:pPr>
            <a:r>
              <a:t>• 4. Jaided AI, 'EasyOCR: Python Package for Optical Character Recognition', 2023.</a:t>
            </a:r>
          </a:p>
          <a:p>
            <a:pPr>
              <a:spcAft>
                <a:spcPts val="600"/>
              </a:spcAft>
              <a:defRPr sz="1150">
                <a:solidFill>
                  <a:srgbClr val="1E293B"/>
                </a:solidFill>
              </a:defRPr>
            </a:pPr>
            <a:r>
              <a:t>• 5. Project GitHub Repository: https://github.com/deva-2006/govtAutofill</a:t>
            </a:r>
          </a:p>
        </p:txBody>
      </p:sp>
      <p:sp>
        <p:nvSpPr>
          <p:cNvPr id="9" name="Rounded Rectangle 8"/>
          <p:cNvSpPr/>
          <p:nvPr/>
        </p:nvSpPr>
        <p:spPr>
          <a:xfrm>
            <a:off x="6217920" y="137160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4754880" cy="4480560"/>
          </a:xfrm>
          <a:prstGeom prst="rect">
            <a:avLst/>
          </a:prstGeom>
          <a:noFill/>
        </p:spPr>
        <p:txBody>
          <a:bodyPr wrap="square">
            <a:spAutoFit/>
          </a:bodyPr>
          <a:lstStyle/>
          <a:p>
            <a:pPr>
              <a:spcAft>
                <a:spcPts val="1000"/>
              </a:spcAft>
              <a:defRPr sz="1450" b="1">
                <a:solidFill>
                  <a:srgbClr val="10B981"/>
                </a:solidFill>
              </a:defRPr>
            </a:pPr>
            <a:r>
              <a:t>Conclusion &amp; Summary  [Conclusion]</a:t>
            </a:r>
          </a:p>
          <a:p>
            <a:pPr>
              <a:spcAft>
                <a:spcPts val="600"/>
              </a:spcAft>
              <a:defRPr sz="1150">
                <a:solidFill>
                  <a:srgbClr val="1E293B"/>
                </a:solidFill>
              </a:defRPr>
            </a:pPr>
            <a:r>
              <a:t>• • Solves a Real Problem: Eliminates boring, error-prone typing for citizens applying for government voter cards.</a:t>
            </a:r>
          </a:p>
          <a:p>
            <a:pPr>
              <a:spcAft>
                <a:spcPts val="600"/>
              </a:spcAft>
              <a:defRPr sz="1150">
                <a:solidFill>
                  <a:srgbClr val="1E293B"/>
                </a:solidFill>
              </a:defRPr>
            </a:pPr>
            <a:r>
              <a:t>• • Privacy First: Uses local AI and on-device face detection so no private data leaves the laptop.</a:t>
            </a:r>
          </a:p>
          <a:p>
            <a:pPr>
              <a:spcAft>
                <a:spcPts val="600"/>
              </a:spcAft>
              <a:defRPr sz="1150">
                <a:solidFill>
                  <a:srgbClr val="1E293B"/>
                </a:solidFill>
              </a:defRPr>
            </a:pPr>
            <a:r>
              <a:t>• • High Accuracy: Automatically separates door numbers, picks true Aadhaar numbers, and crops passport photos.</a:t>
            </a:r>
          </a:p>
          <a:p>
            <a:pPr>
              <a:spcAft>
                <a:spcPts val="600"/>
              </a:spcAft>
              <a:defRPr sz="1150">
                <a:solidFill>
                  <a:srgbClr val="1E293B"/>
                </a:solidFill>
              </a:defRPr>
            </a:pPr>
            <a:r>
              <a:t>• • Proven Working System: Already tested and working; strong base ready for Phase 2 expansion.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