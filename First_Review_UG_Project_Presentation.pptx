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SIMPLE EXPLANATION FOR STAFF:</a:t>
            </a:r>
          </a:p>
          <a:p>
            <a:r>
              <a:t>'Good morning staff. We are Deva, Athithi, and Arthi. Our project is 'GovtAutofill AI'. It is a smart web tool that helps citizens fill government registration forms automatically. Instead of typing 25 boxes by hand, the user uploads their Aadhaar card, and our AI reads the details, cuts the passport photo, and fills Voter ID Form 6 in 20 seconds. Everything runs 100% on the laptop with zero cloud cost.'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SIMPLE EXPLANATION FOR STAFF:</a:t>
            </a:r>
          </a:p>
          <a:p>
            <a:r>
              <a:t>'Here is our presentation outline: First, we cover the real-world problem and background of Voter ID Form 6. Next, we explain our system architecture, the tools we used, the working prototype we built, and our plan for the next review.'</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SIMPLE EXPLANATION FOR STAFF:</a:t>
            </a:r>
          </a:p>
          <a:p>
            <a:r>
              <a:t>'Staff, in simple words: Applying for government forms today means typing 20 boxes by hand and struggling to crop passport photos. In our project, the citizen just uploads their Aadhaar card. Our AI reads the text, cuts the photo, and fills Form 6 in 20 seconds. Everything runs locally on the computer so citizen privacy is fully protected.'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SIMPLE EXPLANATION FOR STAFF:</a:t>
            </a:r>
          </a:p>
          <a:p>
            <a:r>
              <a:t>'Every year, more than 2 crore young citizens apply for Voter ID cards. But roughly 1 in 5 applications face delays because people make simple typing mistakes, like writing the wrong date format. Also, rural citizens go to browsing centers and leave copies of their Aadhaar cards on public computers. This is why automated, private form filling is necessary.'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SIMPLE EXPLANATION FOR STAFF:</a:t>
            </a:r>
          </a:p>
          <a:p>
            <a:r>
              <a:t>'Staff, there are four clear problems: 1. Too much typing takes 15 minutes and causes typos. 2. Sending Aadhaar to cloud websites leaks private data. 3. Aadhaar cards have messy text like enrolment numbers that confuse normal scanners. 4. People struggle to crop their passport photo properly.'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SIMPLE EXPLANATION FOR STAFF:</a:t>
            </a:r>
          </a:p>
          <a:p>
            <a:r>
              <a:t>'Our aim is simple: In under 30 seconds, take an ID card, extract all details, crop the photo, and fill Form 6. Our four objectives are: 1. Let users upload front and back images easily. 2. Read the text accurately with OCR. 3. Use local AI to put names and addresses in the right boxes. 4. Automatically find and crop the face photo for the form.'</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SIMPLE EXPLANATION FOR STAFF:</a:t>
            </a:r>
          </a:p>
          <a:p>
            <a:r>
              <a:t>'When looking at previous work: basic tools like Tesseract can read words but don't understand what they mean. Big cloud tools like Google or AWS work well, but they charge money and upload private Aadhaar cards to their servers. So we chose a lightweight approach: running a small AI model called Llama 3.2 and a small face detector called YuNet directly on the computer for free.'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SIMPLE EXPLANATION FOR STAFF:</a:t>
            </a:r>
          </a:p>
          <a:p>
            <a:r>
              <a:t>'Today, the process is completely manual. The user opens the voter portal, reads their card, and types 20 boxes. When they reach the photo section, the portal doesn't crop photos for them. They have to open Paint, cut their face out, save the file, and upload it. It takes 10 to 15 minutes per form.'</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SIMPLE EXPLANATION FOR STAFF:</a:t>
            </a:r>
          </a:p>
          <a:p>
            <a:r>
              <a:t>'To summarize the drawbacks: 1. Lots of spelling and date mistakes. 2. Privacy risks at internet cafes. 3. Wasting 15 minutes per form and paying money to cyber cafes. 4. The website doesn't check if what you typed matches the card. Our project solves all four problems.'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SIMPLE EXPLANATION FOR STAFF:</a:t>
            </a:r>
          </a:p>
          <a:p>
            <a:r>
              <a:t>'In our proposed system, the user just drops their ID card images or PDF on the website. In less than 25 seconds, our Python backend reads the text, local Llama 3.2 AI sorts the fields, YuNet cuts out the passport photo, our cleaning rules fix the address and Aadhaar number, and every field in Form 6 is filled automatically. The user just clicks Submit.'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SIMPLE EXPLANATION FOR STAFF:</a:t>
            </a:r>
          </a:p>
          <a:p>
            <a:r>
              <a:t>'Here is the 6-step flow of our engine: 1. User uploads the card. 2. PDF is converted into sharp 300 DPI images. 3. EasyOCR reads all text. 4. YuNet AI finds and crops the face. 5. Local Llama 3.2 AI arranges the text into Name, DOB, etc. 6. Our Python rules clean up the data and fill Form 6 on the screen.'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SIMPLE EXPLANATION FOR STAFF:</a:t>
            </a:r>
          </a:p>
          <a:p>
            <a:r>
              <a:t>'Staff, for our technologies: We used Python with FastAPI for the backend. We used EasyOCR to read text from cards. We used Meta's Llama 3.2 model running locally via Ollama to sort the words into fields without needing internet. We used OpenCV's YuNet model to detect the face and crop the passport photo. And our frontend uses simple, clean HTML and JavaScript.'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SIMPLE EXPLANATION FOR STAFF:</a:t>
            </a:r>
          </a:p>
          <a:p>
            <a:r>
              <a:t>'For Phase 1, we have already built a fully working prototype! We tested it on real Aadhaar documents. We successfully solved four tough problems: 1. Uploading both front and back images together. 2. Cropping the face photo cleanly without including text. 3. Picking the true 12-digit Aadhaar number instead of the 14-digit enrolment number. And 4. Splitting the door number and street name cleanly while removing legal disclaimer text. All code is committed on GitHub.'</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SIMPLE EXPLANATION FOR STAFF:</a:t>
            </a:r>
          </a:p>
          <a:p>
            <a:r>
              <a:t>'The expected benefits are very clear: 1. 90% time saved—filling a form takes under 30 seconds instead of 15 minutes. 2. Typing mistakes drop to under 2%. 3. Total privacy—no citizen data is sent over the internet. And 4. The same system can be used for PAN cards, Driving Licenses, and college admission forms in the future.'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SIMPLE EXPLANATION FOR STAFF:</a:t>
            </a:r>
          </a:p>
          <a:p>
            <a:r>
              <a:t>'Here is our 3-phase plan: Phase 1 is completed—we built the core working prototype for Aadhaar and Form 6. In Phase 2 for the Mid Review, we will add PAN cards and Driving Licenses, and add green confidence checkmarks. In Phase 3 for the Final Review, we will turn this into a Chrome Extension that directly fills the live government website with one click.'</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SIMPLE EXPLANATION FOR STAFF:</a:t>
            </a:r>
          </a:p>
          <a:p>
            <a:r>
              <a:t>'In conclusion: our project makes filling government forms fast, simple, and completely private. We have already built a working system that takes an ID card, reads the text, crops the photo, and fills Form 6 in 20 seconds. We are ready for Phase 2. Thank you staff, we are happy to answer any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A56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228600"/>
            <a:ext cx="4754880" cy="347472"/>
          </a:xfrm>
          <a:prstGeom prst="roundRect">
            <a:avLst/>
          </a:prstGeom>
          <a:solidFill>
            <a:srgbClr val="EFF6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37744"/>
            <a:ext cx="4572000" cy="320040"/>
          </a:xfrm>
          <a:prstGeom prst="rect">
            <a:avLst/>
          </a:prstGeom>
          <a:noFill/>
        </p:spPr>
        <p:txBody>
          <a:bodyPr wrap="square">
            <a:spAutoFit/>
          </a:bodyPr>
          <a:lstStyle/>
          <a:p>
            <a:pPr>
              <a:defRPr sz="1050" b="1">
                <a:solidFill>
                  <a:srgbClr val="1E40AF"/>
                </a:solidFill>
              </a:defRPr>
            </a:pPr>
            <a:r>
              <a:t>B.E. COMPUTER SCIENCE &amp; ENGINEERING | FIRST REVIEW</a:t>
            </a:r>
          </a:p>
        </p:txBody>
      </p:sp>
      <p:sp>
        <p:nvSpPr>
          <p:cNvPr id="5" name="TextBox 4"/>
          <p:cNvSpPr txBox="1"/>
          <p:nvPr/>
        </p:nvSpPr>
        <p:spPr>
          <a:xfrm>
            <a:off x="9875520" y="228600"/>
            <a:ext cx="1645920" cy="320040"/>
          </a:xfrm>
          <a:prstGeom prst="rect">
            <a:avLst/>
          </a:prstGeom>
          <a:noFill/>
        </p:spPr>
        <p:txBody>
          <a:bodyPr wrap="none">
            <a:spAutoFit/>
          </a:bodyPr>
          <a:lstStyle/>
          <a:p>
            <a:pPr algn="r">
              <a:defRPr sz="1100" b="1">
                <a:solidFill>
                  <a:srgbClr val="64748B"/>
                </a:solidFill>
              </a:defRPr>
            </a:pPr>
            <a:r>
              <a:t>Slide 1 of 16</a:t>
            </a:r>
          </a:p>
        </p:txBody>
      </p:sp>
      <p:sp>
        <p:nvSpPr>
          <p:cNvPr id="6" name="TextBox 5"/>
          <p:cNvSpPr txBox="1"/>
          <p:nvPr/>
        </p:nvSpPr>
        <p:spPr>
          <a:xfrm>
            <a:off x="731520" y="1051560"/>
            <a:ext cx="10728655" cy="2103120"/>
          </a:xfrm>
          <a:prstGeom prst="rect">
            <a:avLst/>
          </a:prstGeom>
          <a:noFill/>
        </p:spPr>
        <p:txBody>
          <a:bodyPr wrap="square">
            <a:spAutoFit/>
          </a:bodyPr>
          <a:lstStyle/>
          <a:p>
            <a:pPr>
              <a:spcAft>
                <a:spcPts val="800"/>
              </a:spcAft>
              <a:defRPr sz="2800" b="1">
                <a:solidFill>
                  <a:srgbClr val="0F172A"/>
                </a:solidFill>
              </a:defRPr>
            </a:pPr>
            <a:r>
              <a:t>GovtAutofill AI: Smart Document Auto-Filling Assistant</a:t>
            </a:r>
          </a:p>
          <a:p>
            <a:pPr>
              <a:defRPr sz="1450">
                <a:solidFill>
                  <a:srgbClr val="64748B"/>
                </a:solidFill>
              </a:defRPr>
            </a:pPr>
            <a:r>
              <a:t>Automatically reading Indian ID cards (Aadhaar / PAN) and filling Voter ID Form 6 using Local AI, OCR, and Deep Learning Face Detection.</a:t>
            </a:r>
          </a:p>
        </p:txBody>
      </p:sp>
      <p:sp>
        <p:nvSpPr>
          <p:cNvPr id="7" name="Rounded Rectangle 6"/>
          <p:cNvSpPr/>
          <p:nvPr/>
        </p:nvSpPr>
        <p:spPr>
          <a:xfrm>
            <a:off x="731520" y="3474720"/>
            <a:ext cx="5120640" cy="2560320"/>
          </a:xfrm>
          <a:prstGeom prst="roundRect">
            <a:avLst/>
          </a:prstGeom>
          <a:solidFill>
            <a:srgbClr val="F0F7FF"/>
          </a:solidFill>
          <a:ln w="1524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0120" y="3657600"/>
            <a:ext cx="4663440" cy="2194560"/>
          </a:xfrm>
          <a:prstGeom prst="rect">
            <a:avLst/>
          </a:prstGeom>
          <a:noFill/>
        </p:spPr>
        <p:txBody>
          <a:bodyPr wrap="square">
            <a:spAutoFit/>
          </a:bodyPr>
          <a:lstStyle/>
          <a:p>
            <a:pPr>
              <a:spcAft>
                <a:spcPts val="800"/>
              </a:spcAft>
              <a:defRPr sz="1300" b="1">
                <a:solidFill>
                  <a:srgbClr val="1E40AF"/>
                </a:solidFill>
              </a:defRPr>
            </a:pPr>
            <a:r>
              <a:t>🎓  PROJECT DETAILS</a:t>
            </a:r>
          </a:p>
          <a:p>
            <a:pPr>
              <a:spcAft>
                <a:spcPts val="600"/>
              </a:spcAft>
              <a:defRPr sz="1800" b="1">
                <a:solidFill>
                  <a:srgbClr val="0F172A"/>
                </a:solidFill>
              </a:defRPr>
            </a:pPr>
            <a:r>
              <a:t>GovtAutofill Engine</a:t>
            </a:r>
          </a:p>
          <a:p>
            <a:pPr>
              <a:spcAft>
                <a:spcPts val="300"/>
              </a:spcAft>
              <a:defRPr sz="1100">
                <a:solidFill>
                  <a:srgbClr val="1E293B"/>
                </a:solidFill>
              </a:defRPr>
            </a:pPr>
            <a:r>
              <a:t>• Department of Computer Science &amp; Engineering</a:t>
            </a:r>
          </a:p>
          <a:p>
            <a:pPr>
              <a:spcAft>
                <a:spcPts val="300"/>
              </a:spcAft>
              <a:defRPr sz="1100">
                <a:solidFill>
                  <a:srgbClr val="1E293B"/>
                </a:solidFill>
              </a:defRPr>
            </a:pPr>
            <a:r>
              <a:t>• Target Portal: ECI NVSP Voter Registration (Form 6)</a:t>
            </a:r>
          </a:p>
          <a:p>
            <a:pPr>
              <a:spcAft>
                <a:spcPts val="300"/>
              </a:spcAft>
              <a:defRPr sz="1100">
                <a:solidFill>
                  <a:srgbClr val="1E293B"/>
                </a:solidFill>
              </a:defRPr>
            </a:pPr>
            <a:r>
              <a:t>• Zero Cloud Processing (100% On-Device &amp; Private)</a:t>
            </a:r>
          </a:p>
        </p:txBody>
      </p:sp>
      <p:sp>
        <p:nvSpPr>
          <p:cNvPr id="9" name="Rounded Rectangle 8"/>
          <p:cNvSpPr/>
          <p:nvPr/>
        </p:nvSpPr>
        <p:spPr>
          <a:xfrm>
            <a:off x="6217920" y="3474720"/>
            <a:ext cx="5242255" cy="2560320"/>
          </a:xfrm>
          <a:prstGeom prst="roundRect">
            <a:avLst/>
          </a:prstGeom>
          <a:solidFill>
            <a:srgbClr val="F0F7FF"/>
          </a:solidFill>
          <a:ln w="1524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46520" y="3657600"/>
            <a:ext cx="4754880" cy="2194560"/>
          </a:xfrm>
          <a:prstGeom prst="rect">
            <a:avLst/>
          </a:prstGeom>
          <a:noFill/>
        </p:spPr>
        <p:txBody>
          <a:bodyPr wrap="square">
            <a:spAutoFit/>
          </a:bodyPr>
          <a:lstStyle/>
          <a:p>
            <a:pPr>
              <a:spcAft>
                <a:spcPts val="800"/>
              </a:spcAft>
              <a:defRPr sz="1300" b="1">
                <a:solidFill>
                  <a:srgbClr val="1E40AF"/>
                </a:solidFill>
              </a:defRPr>
            </a:pPr>
            <a:r>
              <a:t>👥  PROJECT MEMBERS</a:t>
            </a:r>
          </a:p>
          <a:p>
            <a:pPr>
              <a:spcAft>
                <a:spcPts val="600"/>
              </a:spcAft>
              <a:defRPr sz="1400" b="1">
                <a:solidFill>
                  <a:srgbClr val="0F172A"/>
                </a:solidFill>
              </a:defRPr>
            </a:pPr>
            <a:r>
              <a:t>Deva S   (2117230070025)</a:t>
            </a:r>
          </a:p>
          <a:p>
            <a:pPr>
              <a:spcAft>
                <a:spcPts val="600"/>
              </a:spcAft>
              <a:defRPr sz="1400" b="1">
                <a:solidFill>
                  <a:srgbClr val="0F172A"/>
                </a:solidFill>
              </a:defRPr>
            </a:pPr>
            <a:r>
              <a:t>Athithi A   (2117230070004)</a:t>
            </a:r>
          </a:p>
          <a:p>
            <a:pPr>
              <a:spcAft>
                <a:spcPts val="600"/>
              </a:spcAft>
              <a:defRPr sz="1400" b="1">
                <a:solidFill>
                  <a:srgbClr val="0F172A"/>
                </a:solidFill>
              </a:defRPr>
            </a:pPr>
            <a:r>
              <a:t>Arthi S   (2117230070016)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A56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228600"/>
            <a:ext cx="4754880" cy="347472"/>
          </a:xfrm>
          <a:prstGeom prst="roundRect">
            <a:avLst/>
          </a:prstGeom>
          <a:solidFill>
            <a:srgbClr val="EFF6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37744"/>
            <a:ext cx="4572000" cy="320040"/>
          </a:xfrm>
          <a:prstGeom prst="rect">
            <a:avLst/>
          </a:prstGeom>
          <a:noFill/>
        </p:spPr>
        <p:txBody>
          <a:bodyPr wrap="square">
            <a:spAutoFit/>
          </a:bodyPr>
          <a:lstStyle/>
          <a:p>
            <a:pPr>
              <a:defRPr sz="1050" b="1">
                <a:solidFill>
                  <a:srgbClr val="1E40AF"/>
                </a:solidFill>
              </a:defRPr>
            </a:pPr>
            <a:r>
              <a:t>B.E. COMPUTER SCIENCE &amp; ENGINEERING | FIRST REVIEW</a:t>
            </a:r>
          </a:p>
        </p:txBody>
      </p:sp>
      <p:sp>
        <p:nvSpPr>
          <p:cNvPr id="5" name="TextBox 4"/>
          <p:cNvSpPr txBox="1"/>
          <p:nvPr/>
        </p:nvSpPr>
        <p:spPr>
          <a:xfrm>
            <a:off x="9875520" y="228600"/>
            <a:ext cx="1645920" cy="320040"/>
          </a:xfrm>
          <a:prstGeom prst="rect">
            <a:avLst/>
          </a:prstGeom>
          <a:noFill/>
        </p:spPr>
        <p:txBody>
          <a:bodyPr wrap="none">
            <a:spAutoFit/>
          </a:bodyPr>
          <a:lstStyle/>
          <a:p>
            <a:pPr algn="r">
              <a:defRPr sz="1100" b="1">
                <a:solidFill>
                  <a:srgbClr val="64748B"/>
                </a:solidFill>
              </a:defRPr>
            </a:pPr>
            <a:r>
              <a:t>Slide 2 of 16</a:t>
            </a:r>
          </a:p>
        </p:txBody>
      </p:sp>
      <p:sp>
        <p:nvSpPr>
          <p:cNvPr id="6" name="TextBox 5"/>
          <p:cNvSpPr txBox="1"/>
          <p:nvPr/>
        </p:nvSpPr>
        <p:spPr>
          <a:xfrm>
            <a:off x="731520" y="658368"/>
            <a:ext cx="10728655" cy="685800"/>
          </a:xfrm>
          <a:prstGeom prst="rect">
            <a:avLst/>
          </a:prstGeom>
          <a:noFill/>
        </p:spPr>
        <p:txBody>
          <a:bodyPr wrap="square">
            <a:spAutoFit/>
          </a:bodyPr>
          <a:lstStyle/>
          <a:p>
            <a:pPr>
              <a:defRPr sz="2200" b="1">
                <a:solidFill>
                  <a:srgbClr val="0F172A"/>
                </a:solidFill>
              </a:defRPr>
            </a:pPr>
            <a:r>
              <a:t>Table of Contents</a:t>
            </a:r>
          </a:p>
          <a:p>
            <a:pPr>
              <a:defRPr sz="1150">
                <a:solidFill>
                  <a:srgbClr val="64748B"/>
                </a:solidFill>
              </a:defRPr>
            </a:pPr>
            <a:r>
              <a:t>Overview of today's presentation</a:t>
            </a:r>
          </a:p>
        </p:txBody>
      </p:sp>
      <p:sp>
        <p:nvSpPr>
          <p:cNvPr id="7" name="Rounded Rectangle 6"/>
          <p:cNvSpPr/>
          <p:nvPr/>
        </p:nvSpPr>
        <p:spPr>
          <a:xfrm>
            <a:off x="731520" y="1463040"/>
            <a:ext cx="5120640" cy="4754880"/>
          </a:xfrm>
          <a:prstGeom prst="roundRect">
            <a:avLst/>
          </a:prstGeom>
          <a:solidFill>
            <a:srgbClr val="F0F7FF"/>
          </a:solidFill>
          <a:ln w="1524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0120" y="1645920"/>
            <a:ext cx="4663440" cy="4389120"/>
          </a:xfrm>
          <a:prstGeom prst="rect">
            <a:avLst/>
          </a:prstGeom>
          <a:noFill/>
        </p:spPr>
        <p:txBody>
          <a:bodyPr wrap="square">
            <a:spAutoFit/>
          </a:bodyPr>
          <a:lstStyle/>
          <a:p>
            <a:pPr>
              <a:spcAft>
                <a:spcPts val="800"/>
              </a:spcAft>
              <a:defRPr sz="1400" b="1">
                <a:solidFill>
                  <a:srgbClr val="0F172A"/>
                </a:solidFill>
              </a:defRPr>
            </a:pPr>
            <a:r>
              <a:t>📋  Part 1: Problem &amp; Literature</a:t>
            </a:r>
          </a:p>
          <a:p>
            <a:pPr>
              <a:spcAft>
                <a:spcPts val="600"/>
              </a:spcAft>
              <a:defRPr sz="1150">
                <a:solidFill>
                  <a:srgbClr val="1E293B"/>
                </a:solidFill>
              </a:defRPr>
            </a:pPr>
            <a:r>
              <a:t>•  1. Introduction</a:t>
            </a:r>
          </a:p>
          <a:p>
            <a:pPr>
              <a:spcAft>
                <a:spcPts val="600"/>
              </a:spcAft>
              <a:defRPr sz="1150">
                <a:solidFill>
                  <a:srgbClr val="1E293B"/>
                </a:solidFill>
              </a:defRPr>
            </a:pPr>
            <a:r>
              <a:t>•  2. Background of the Project</a:t>
            </a:r>
          </a:p>
          <a:p>
            <a:pPr>
              <a:spcAft>
                <a:spcPts val="600"/>
              </a:spcAft>
              <a:defRPr sz="1150">
                <a:solidFill>
                  <a:srgbClr val="1E293B"/>
                </a:solidFill>
              </a:defRPr>
            </a:pPr>
            <a:r>
              <a:t>•  3. Problem Statement</a:t>
            </a:r>
          </a:p>
          <a:p>
            <a:pPr>
              <a:spcAft>
                <a:spcPts val="600"/>
              </a:spcAft>
              <a:defRPr sz="1150">
                <a:solidFill>
                  <a:srgbClr val="1E293B"/>
                </a:solidFill>
              </a:defRPr>
            </a:pPr>
            <a:r>
              <a:t>•  4. Aim and Objectives</a:t>
            </a:r>
          </a:p>
          <a:p>
            <a:pPr>
              <a:spcAft>
                <a:spcPts val="600"/>
              </a:spcAft>
              <a:defRPr sz="1150">
                <a:solidFill>
                  <a:srgbClr val="1E293B"/>
                </a:solidFill>
              </a:defRPr>
            </a:pPr>
            <a:r>
              <a:t>•  5. Literature Review</a:t>
            </a:r>
          </a:p>
          <a:p>
            <a:pPr>
              <a:spcAft>
                <a:spcPts val="600"/>
              </a:spcAft>
              <a:defRPr sz="1150">
                <a:solidFill>
                  <a:srgbClr val="1E293B"/>
                </a:solidFill>
              </a:defRPr>
            </a:pPr>
            <a:r>
              <a:t>•  6. Existing System</a:t>
            </a:r>
          </a:p>
          <a:p>
            <a:pPr>
              <a:spcAft>
                <a:spcPts val="600"/>
              </a:spcAft>
              <a:defRPr sz="1150">
                <a:solidFill>
                  <a:srgbClr val="1E293B"/>
                </a:solidFill>
              </a:defRPr>
            </a:pPr>
            <a:r>
              <a:t>•  7. Limitations of the Existing System</a:t>
            </a:r>
          </a:p>
        </p:txBody>
      </p:sp>
      <p:sp>
        <p:nvSpPr>
          <p:cNvPr id="9" name="Rounded Rectangle 8"/>
          <p:cNvSpPr/>
          <p:nvPr/>
        </p:nvSpPr>
        <p:spPr>
          <a:xfrm>
            <a:off x="6217920" y="1463040"/>
            <a:ext cx="5242255" cy="4754880"/>
          </a:xfrm>
          <a:prstGeom prst="roundRect">
            <a:avLst/>
          </a:prstGeom>
          <a:solidFill>
            <a:srgbClr val="F0FDF4"/>
          </a:solidFill>
          <a:ln w="15240">
            <a:solidFill>
              <a:srgbClr val="BBF7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46520" y="1645920"/>
            <a:ext cx="4785055" cy="4389120"/>
          </a:xfrm>
          <a:prstGeom prst="rect">
            <a:avLst/>
          </a:prstGeom>
          <a:noFill/>
        </p:spPr>
        <p:txBody>
          <a:bodyPr wrap="square">
            <a:spAutoFit/>
          </a:bodyPr>
          <a:lstStyle/>
          <a:p>
            <a:pPr>
              <a:spcAft>
                <a:spcPts val="800"/>
              </a:spcAft>
              <a:defRPr sz="1400" b="1">
                <a:solidFill>
                  <a:srgbClr val="0F172A"/>
                </a:solidFill>
              </a:defRPr>
            </a:pPr>
            <a:r>
              <a:t>🚀  Part 2: Solution, Prototype &amp; Plan</a:t>
            </a:r>
          </a:p>
          <a:p>
            <a:pPr>
              <a:spcAft>
                <a:spcPts val="600"/>
              </a:spcAft>
              <a:defRPr sz="1150">
                <a:solidFill>
                  <a:srgbClr val="1E293B"/>
                </a:solidFill>
              </a:defRPr>
            </a:pPr>
            <a:r>
              <a:t>•  8. Proposed System</a:t>
            </a:r>
          </a:p>
          <a:p>
            <a:pPr>
              <a:spcAft>
                <a:spcPts val="600"/>
              </a:spcAft>
              <a:defRPr sz="1150">
                <a:solidFill>
                  <a:srgbClr val="1E293B"/>
                </a:solidFill>
              </a:defRPr>
            </a:pPr>
            <a:r>
              <a:t>•  9. Proposed Methodology &amp; Architecture</a:t>
            </a:r>
          </a:p>
          <a:p>
            <a:pPr>
              <a:spcAft>
                <a:spcPts val="600"/>
              </a:spcAft>
              <a:defRPr sz="1150">
                <a:solidFill>
                  <a:srgbClr val="1E293B"/>
                </a:solidFill>
              </a:defRPr>
            </a:pPr>
            <a:r>
              <a:t>•  10. Tools &amp; Technologies Used</a:t>
            </a:r>
          </a:p>
          <a:p>
            <a:pPr>
              <a:spcAft>
                <a:spcPts val="600"/>
              </a:spcAft>
              <a:defRPr sz="1150">
                <a:solidFill>
                  <a:srgbClr val="1E293B"/>
                </a:solidFill>
              </a:defRPr>
            </a:pPr>
            <a:r>
              <a:t>•  11. Work Completed So Far (Our Results)</a:t>
            </a:r>
          </a:p>
          <a:p>
            <a:pPr>
              <a:spcAft>
                <a:spcPts val="600"/>
              </a:spcAft>
              <a:defRPr sz="1150">
                <a:solidFill>
                  <a:srgbClr val="1E293B"/>
                </a:solidFill>
              </a:defRPr>
            </a:pPr>
            <a:r>
              <a:t>•  12. What We Have Built (Key Features)</a:t>
            </a:r>
          </a:p>
          <a:p>
            <a:pPr>
              <a:spcAft>
                <a:spcPts val="600"/>
              </a:spcAft>
              <a:defRPr sz="1150">
                <a:solidFill>
                  <a:srgbClr val="1E293B"/>
                </a:solidFill>
              </a:defRPr>
            </a:pPr>
            <a:r>
              <a:t>•  13. Expected Outcomes &amp; Benefits</a:t>
            </a:r>
          </a:p>
          <a:p>
            <a:pPr>
              <a:spcAft>
                <a:spcPts val="600"/>
              </a:spcAft>
              <a:defRPr sz="1150">
                <a:solidFill>
                  <a:srgbClr val="1E293B"/>
                </a:solidFill>
              </a:defRPr>
            </a:pPr>
            <a:r>
              <a:t>•  14. Project Timeline &amp; Next Steps</a:t>
            </a:r>
          </a:p>
          <a:p>
            <a:pPr>
              <a:spcAft>
                <a:spcPts val="600"/>
              </a:spcAft>
              <a:defRPr sz="1150">
                <a:solidFill>
                  <a:srgbClr val="1E293B"/>
                </a:solidFill>
              </a:defRPr>
            </a:pPr>
            <a:r>
              <a:t>•  15. References &amp; Conclusion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A56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228600"/>
            <a:ext cx="4754880" cy="347472"/>
          </a:xfrm>
          <a:prstGeom prst="roundRect">
            <a:avLst/>
          </a:prstGeom>
          <a:solidFill>
            <a:srgbClr val="EFF6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37744"/>
            <a:ext cx="4572000" cy="320040"/>
          </a:xfrm>
          <a:prstGeom prst="rect">
            <a:avLst/>
          </a:prstGeom>
          <a:noFill/>
        </p:spPr>
        <p:txBody>
          <a:bodyPr wrap="square">
            <a:spAutoFit/>
          </a:bodyPr>
          <a:lstStyle/>
          <a:p>
            <a:pPr>
              <a:defRPr sz="1050" b="1">
                <a:solidFill>
                  <a:srgbClr val="1E40AF"/>
                </a:solidFill>
              </a:defRPr>
            </a:pPr>
            <a:r>
              <a:t>B.E. COMPUTER SCIENCE &amp; ENGINEERING | FIRST REVIEW</a:t>
            </a:r>
          </a:p>
        </p:txBody>
      </p:sp>
      <p:sp>
        <p:nvSpPr>
          <p:cNvPr id="5" name="TextBox 4"/>
          <p:cNvSpPr txBox="1"/>
          <p:nvPr/>
        </p:nvSpPr>
        <p:spPr>
          <a:xfrm>
            <a:off x="9875520" y="228600"/>
            <a:ext cx="1645920" cy="320040"/>
          </a:xfrm>
          <a:prstGeom prst="rect">
            <a:avLst/>
          </a:prstGeom>
          <a:noFill/>
        </p:spPr>
        <p:txBody>
          <a:bodyPr wrap="none">
            <a:spAutoFit/>
          </a:bodyPr>
          <a:lstStyle/>
          <a:p>
            <a:pPr algn="r">
              <a:defRPr sz="1100" b="1">
                <a:solidFill>
                  <a:srgbClr val="64748B"/>
                </a:solidFill>
              </a:defRPr>
            </a:pPr>
            <a:r>
              <a:t>Slide 3 of 16</a:t>
            </a:r>
          </a:p>
        </p:txBody>
      </p:sp>
      <p:sp>
        <p:nvSpPr>
          <p:cNvPr id="6" name="TextBox 5"/>
          <p:cNvSpPr txBox="1"/>
          <p:nvPr/>
        </p:nvSpPr>
        <p:spPr>
          <a:xfrm>
            <a:off x="731520" y="658368"/>
            <a:ext cx="10728655" cy="685800"/>
          </a:xfrm>
          <a:prstGeom prst="rect">
            <a:avLst/>
          </a:prstGeom>
          <a:noFill/>
        </p:spPr>
        <p:txBody>
          <a:bodyPr wrap="square">
            <a:spAutoFit/>
          </a:bodyPr>
          <a:lstStyle/>
          <a:p>
            <a:pPr>
              <a:defRPr sz="2200" b="1">
                <a:solidFill>
                  <a:srgbClr val="0F172A"/>
                </a:solidFill>
              </a:defRPr>
            </a:pPr>
            <a:r>
              <a:t>Introduction: What is this Project About?</a:t>
            </a:r>
          </a:p>
          <a:p>
            <a:pPr>
              <a:defRPr sz="1150">
                <a:solidFill>
                  <a:srgbClr val="64748B"/>
                </a:solidFill>
              </a:defRPr>
            </a:pPr>
            <a:r>
              <a:t>Real-world context and our core idea</a:t>
            </a:r>
          </a:p>
        </p:txBody>
      </p:sp>
      <p:sp>
        <p:nvSpPr>
          <p:cNvPr id="7" name="Rounded Rectangle 6"/>
          <p:cNvSpPr/>
          <p:nvPr/>
        </p:nvSpPr>
        <p:spPr>
          <a:xfrm>
            <a:off x="731520" y="1463040"/>
            <a:ext cx="5120640" cy="4754880"/>
          </a:xfrm>
          <a:prstGeom prst="roundRect">
            <a:avLst/>
          </a:prstGeom>
          <a:solidFill>
            <a:srgbClr val="F0F7FF"/>
          </a:solidFill>
          <a:ln w="1524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0120" y="1645920"/>
            <a:ext cx="4663440" cy="4389120"/>
          </a:xfrm>
          <a:prstGeom prst="rect">
            <a:avLst/>
          </a:prstGeom>
          <a:noFill/>
        </p:spPr>
        <p:txBody>
          <a:bodyPr wrap="square">
            <a:spAutoFit/>
          </a:bodyPr>
          <a:lstStyle/>
          <a:p>
            <a:pPr>
              <a:spcAft>
                <a:spcPts val="800"/>
              </a:spcAft>
              <a:defRPr sz="1400" b="1">
                <a:solidFill>
                  <a:srgbClr val="0F172A"/>
                </a:solidFill>
              </a:defRPr>
            </a:pPr>
            <a:r>
              <a:t>📝  The Citizen Experience Today</a:t>
            </a:r>
          </a:p>
          <a:p>
            <a:pPr>
              <a:spcAft>
                <a:spcPts val="600"/>
              </a:spcAft>
              <a:defRPr sz="1150">
                <a:solidFill>
                  <a:srgbClr val="1E293B"/>
                </a:solidFill>
              </a:defRPr>
            </a:pPr>
            <a:r>
              <a:t>•  Citizens frequently fill statutory government web forms like Voter ID Form 6, PAN, and Ration Card applications.</a:t>
            </a:r>
          </a:p>
          <a:p>
            <a:pPr>
              <a:spcAft>
                <a:spcPts val="600"/>
              </a:spcAft>
              <a:defRPr sz="1150">
                <a:solidFill>
                  <a:srgbClr val="1E293B"/>
                </a:solidFill>
              </a:defRPr>
            </a:pPr>
            <a:r>
              <a:t>•  Form 6 requires typing more than 20 separate boxes by hand from an Aadhaar card.</a:t>
            </a:r>
          </a:p>
          <a:p>
            <a:pPr>
              <a:spcAft>
                <a:spcPts val="600"/>
              </a:spcAft>
              <a:defRPr sz="1150">
                <a:solidFill>
                  <a:srgbClr val="1E293B"/>
                </a:solidFill>
              </a:defRPr>
            </a:pPr>
            <a:r>
              <a:t>•  Applicants must enter Name, Father's Name, DOB, Gender, Mobile, and manually break their address into Door No, Street, City, and PIN code.</a:t>
            </a:r>
          </a:p>
          <a:p>
            <a:pPr>
              <a:spcAft>
                <a:spcPts val="600"/>
              </a:spcAft>
              <a:defRPr sz="1150">
                <a:solidFill>
                  <a:srgbClr val="1E293B"/>
                </a:solidFill>
              </a:defRPr>
            </a:pPr>
            <a:r>
              <a:t>•  They also have to crop and resize a separate passport photo to match website rules.</a:t>
            </a:r>
          </a:p>
        </p:txBody>
      </p:sp>
      <p:sp>
        <p:nvSpPr>
          <p:cNvPr id="9" name="Rounded Rectangle 8"/>
          <p:cNvSpPr/>
          <p:nvPr/>
        </p:nvSpPr>
        <p:spPr>
          <a:xfrm>
            <a:off x="6217920" y="1463040"/>
            <a:ext cx="5242255" cy="4754880"/>
          </a:xfrm>
          <a:prstGeom prst="roundRect">
            <a:avLst/>
          </a:prstGeom>
          <a:solidFill>
            <a:srgbClr val="F0FDF4"/>
          </a:solidFill>
          <a:ln w="15240">
            <a:solidFill>
              <a:srgbClr val="BBF7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46520" y="1645920"/>
            <a:ext cx="4785055" cy="4389120"/>
          </a:xfrm>
          <a:prstGeom prst="rect">
            <a:avLst/>
          </a:prstGeom>
          <a:noFill/>
        </p:spPr>
        <p:txBody>
          <a:bodyPr wrap="square">
            <a:spAutoFit/>
          </a:bodyPr>
          <a:lstStyle/>
          <a:p>
            <a:pPr>
              <a:spcAft>
                <a:spcPts val="800"/>
              </a:spcAft>
              <a:defRPr sz="1400" b="1">
                <a:solidFill>
                  <a:srgbClr val="0F172A"/>
                </a:solidFill>
              </a:defRPr>
            </a:pPr>
            <a:r>
              <a:t>💡  Our Smart Auto-Filling Approach</a:t>
            </a:r>
          </a:p>
          <a:p>
            <a:pPr>
              <a:spcAft>
                <a:spcPts val="600"/>
              </a:spcAft>
              <a:defRPr sz="1150">
                <a:solidFill>
                  <a:srgbClr val="1E293B"/>
                </a:solidFill>
              </a:defRPr>
            </a:pPr>
            <a:r>
              <a:t>•  Our Solution: An automatic web assistant that reads the ID card and fills Form 6 instantly.</a:t>
            </a:r>
          </a:p>
          <a:p>
            <a:pPr>
              <a:spcAft>
                <a:spcPts val="600"/>
              </a:spcAft>
              <a:defRPr sz="1150">
                <a:solidFill>
                  <a:srgbClr val="1E293B"/>
                </a:solidFill>
              </a:defRPr>
            </a:pPr>
            <a:r>
              <a:t>•  User simply uploads their Aadhaar card (PDF or images).</a:t>
            </a:r>
          </a:p>
          <a:p>
            <a:pPr>
              <a:spcAft>
                <a:spcPts val="600"/>
              </a:spcAft>
              <a:defRPr sz="1150">
                <a:solidFill>
                  <a:srgbClr val="1E293B"/>
                </a:solidFill>
              </a:defRPr>
            </a:pPr>
            <a:r>
              <a:t>•  Our AI reads the words, cuts out the passport photo, and fills all boxes in 20 seconds.</a:t>
            </a:r>
          </a:p>
          <a:p>
            <a:pPr>
              <a:spcAft>
                <a:spcPts val="600"/>
              </a:spcAft>
              <a:defRPr sz="1150">
                <a:solidFill>
                  <a:srgbClr val="1E293B"/>
                </a:solidFill>
              </a:defRPr>
            </a:pPr>
            <a:r>
              <a:t>•  100% Private: Everything runs on the user's laptop. No data is sent to external cloud servers, keeping Aadhaar details safe.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A56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228600"/>
            <a:ext cx="4754880" cy="347472"/>
          </a:xfrm>
          <a:prstGeom prst="roundRect">
            <a:avLst/>
          </a:prstGeom>
          <a:solidFill>
            <a:srgbClr val="EFF6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37744"/>
            <a:ext cx="4572000" cy="320040"/>
          </a:xfrm>
          <a:prstGeom prst="rect">
            <a:avLst/>
          </a:prstGeom>
          <a:noFill/>
        </p:spPr>
        <p:txBody>
          <a:bodyPr wrap="square">
            <a:spAutoFit/>
          </a:bodyPr>
          <a:lstStyle/>
          <a:p>
            <a:pPr>
              <a:defRPr sz="1050" b="1">
                <a:solidFill>
                  <a:srgbClr val="1E40AF"/>
                </a:solidFill>
              </a:defRPr>
            </a:pPr>
            <a:r>
              <a:t>B.E. COMPUTER SCIENCE &amp; ENGINEERING | FIRST REVIEW</a:t>
            </a:r>
          </a:p>
        </p:txBody>
      </p:sp>
      <p:sp>
        <p:nvSpPr>
          <p:cNvPr id="5" name="TextBox 4"/>
          <p:cNvSpPr txBox="1"/>
          <p:nvPr/>
        </p:nvSpPr>
        <p:spPr>
          <a:xfrm>
            <a:off x="9875520" y="228600"/>
            <a:ext cx="1645920" cy="320040"/>
          </a:xfrm>
          <a:prstGeom prst="rect">
            <a:avLst/>
          </a:prstGeom>
          <a:noFill/>
        </p:spPr>
        <p:txBody>
          <a:bodyPr wrap="none">
            <a:spAutoFit/>
          </a:bodyPr>
          <a:lstStyle/>
          <a:p>
            <a:pPr algn="r">
              <a:defRPr sz="1100" b="1">
                <a:solidFill>
                  <a:srgbClr val="64748B"/>
                </a:solidFill>
              </a:defRPr>
            </a:pPr>
            <a:r>
              <a:t>Slide 4 of 16</a:t>
            </a:r>
          </a:p>
        </p:txBody>
      </p:sp>
      <p:sp>
        <p:nvSpPr>
          <p:cNvPr id="6" name="TextBox 5"/>
          <p:cNvSpPr txBox="1"/>
          <p:nvPr/>
        </p:nvSpPr>
        <p:spPr>
          <a:xfrm>
            <a:off x="731520" y="658368"/>
            <a:ext cx="10728655" cy="685800"/>
          </a:xfrm>
          <a:prstGeom prst="rect">
            <a:avLst/>
          </a:prstGeom>
          <a:noFill/>
        </p:spPr>
        <p:txBody>
          <a:bodyPr wrap="square">
            <a:spAutoFit/>
          </a:bodyPr>
          <a:lstStyle/>
          <a:p>
            <a:pPr>
              <a:defRPr sz="2200" b="1">
                <a:solidFill>
                  <a:srgbClr val="0F172A"/>
                </a:solidFill>
              </a:defRPr>
            </a:pPr>
            <a:r>
              <a:t>Background: The Voter Registration Process</a:t>
            </a:r>
          </a:p>
          <a:p>
            <a:pPr>
              <a:defRPr sz="1150">
                <a:solidFill>
                  <a:srgbClr val="64748B"/>
                </a:solidFill>
              </a:defRPr>
            </a:pPr>
            <a:r>
              <a:t>Understanding ECI Form 6 and user difficulties</a:t>
            </a:r>
          </a:p>
        </p:txBody>
      </p:sp>
      <p:sp>
        <p:nvSpPr>
          <p:cNvPr id="7" name="Rounded Rectangle 6"/>
          <p:cNvSpPr/>
          <p:nvPr/>
        </p:nvSpPr>
        <p:spPr>
          <a:xfrm>
            <a:off x="731520" y="1463040"/>
            <a:ext cx="5120640" cy="4754880"/>
          </a:xfrm>
          <a:prstGeom prst="roundRect">
            <a:avLst/>
          </a:prstGeom>
          <a:solidFill>
            <a:srgbClr val="F0F7FF"/>
          </a:solidFill>
          <a:ln w="1524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0120" y="1645920"/>
            <a:ext cx="4663440" cy="4389120"/>
          </a:xfrm>
          <a:prstGeom prst="rect">
            <a:avLst/>
          </a:prstGeom>
          <a:noFill/>
        </p:spPr>
        <p:txBody>
          <a:bodyPr wrap="square">
            <a:spAutoFit/>
          </a:bodyPr>
          <a:lstStyle/>
          <a:p>
            <a:pPr>
              <a:spcAft>
                <a:spcPts val="800"/>
              </a:spcAft>
              <a:defRPr sz="1400" b="1">
                <a:solidFill>
                  <a:srgbClr val="0F172A"/>
                </a:solidFill>
              </a:defRPr>
            </a:pPr>
            <a:r>
              <a:t>📊  Scale of Voter Registration</a:t>
            </a:r>
          </a:p>
          <a:p>
            <a:pPr>
              <a:spcAft>
                <a:spcPts val="600"/>
              </a:spcAft>
              <a:defRPr sz="1150">
                <a:solidFill>
                  <a:srgbClr val="1E293B"/>
                </a:solidFill>
              </a:defRPr>
            </a:pPr>
            <a:r>
              <a:t>•  Form 6 is the official form of the Election Commission of India (ECI) for enrolling new voters.</a:t>
            </a:r>
          </a:p>
          <a:p>
            <a:pPr>
              <a:spcAft>
                <a:spcPts val="600"/>
              </a:spcAft>
              <a:defRPr sz="1150">
                <a:solidFill>
                  <a:srgbClr val="1E293B"/>
                </a:solidFill>
              </a:defRPr>
            </a:pPr>
            <a:r>
              <a:t>•  Over 2 Crore (20 Million) citizens apply for Voter ID cards every single year across India.</a:t>
            </a:r>
          </a:p>
          <a:p>
            <a:pPr>
              <a:spcAft>
                <a:spcPts val="600"/>
              </a:spcAft>
              <a:defRPr sz="1150">
                <a:solidFill>
                  <a:srgbClr val="1E293B"/>
                </a:solidFill>
              </a:defRPr>
            </a:pPr>
            <a:r>
              <a:t>•  Every applicant must upload valid proof documents—most commonly e-Aadhaar cards, PAN cards, or Birth Certificates.</a:t>
            </a:r>
          </a:p>
          <a:p>
            <a:pPr>
              <a:spcAft>
                <a:spcPts val="600"/>
              </a:spcAft>
              <a:defRPr sz="1150">
                <a:solidFill>
                  <a:srgbClr val="1E293B"/>
                </a:solidFill>
              </a:defRPr>
            </a:pPr>
            <a:r>
              <a:t>•  Applicants must also select family relationships correctly (Father, Mother, Husband, or Legal Guardian).</a:t>
            </a:r>
          </a:p>
        </p:txBody>
      </p:sp>
      <p:sp>
        <p:nvSpPr>
          <p:cNvPr id="9" name="Rounded Rectangle 8"/>
          <p:cNvSpPr/>
          <p:nvPr/>
        </p:nvSpPr>
        <p:spPr>
          <a:xfrm>
            <a:off x="6217920" y="1463040"/>
            <a:ext cx="5242255" cy="4754880"/>
          </a:xfrm>
          <a:prstGeom prst="roundRect">
            <a:avLst/>
          </a:prstGeom>
          <a:solidFill>
            <a:srgbClr val="FFF1F2"/>
          </a:solidFill>
          <a:ln w="15240">
            <a:solidFill>
              <a:srgbClr val="FECDD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46520" y="1645920"/>
            <a:ext cx="4785055" cy="4389120"/>
          </a:xfrm>
          <a:prstGeom prst="rect">
            <a:avLst/>
          </a:prstGeom>
          <a:noFill/>
        </p:spPr>
        <p:txBody>
          <a:bodyPr wrap="square">
            <a:spAutoFit/>
          </a:bodyPr>
          <a:lstStyle/>
          <a:p>
            <a:pPr>
              <a:spcAft>
                <a:spcPts val="800"/>
              </a:spcAft>
              <a:defRPr sz="1400" b="1">
                <a:solidFill>
                  <a:srgbClr val="0F172A"/>
                </a:solidFill>
              </a:defRPr>
            </a:pPr>
            <a:r>
              <a:t>⚠️  Why Applications Face Rejections</a:t>
            </a:r>
          </a:p>
          <a:p>
            <a:pPr>
              <a:spcAft>
                <a:spcPts val="600"/>
              </a:spcAft>
              <a:defRPr sz="1150">
                <a:solidFill>
                  <a:srgbClr val="1E293B"/>
                </a:solidFill>
              </a:defRPr>
            </a:pPr>
            <a:r>
              <a:t>•  High Rejection Rate: Nearly 18% to 24% of applications get delayed or rejected due to simple typing errors.</a:t>
            </a:r>
          </a:p>
          <a:p>
            <a:pPr>
              <a:spcAft>
                <a:spcPts val="600"/>
              </a:spcAft>
              <a:defRPr sz="1150">
                <a:solidFill>
                  <a:srgbClr val="1E293B"/>
                </a:solidFill>
              </a:defRPr>
            </a:pPr>
            <a:r>
              <a:t>•  Common mistakes: swapping day and month in birth date, misspelling names, or missing door numbers in addresses.</a:t>
            </a:r>
          </a:p>
          <a:p>
            <a:pPr>
              <a:spcAft>
                <a:spcPts val="600"/>
              </a:spcAft>
              <a:defRPr sz="1150">
                <a:solidFill>
                  <a:srgbClr val="1E293B"/>
                </a:solidFill>
              </a:defRPr>
            </a:pPr>
            <a:r>
              <a:t>•  Cyber Cafe Risk: People without home computers visit internet cafes, pay Rs. 50-100, and leave private Aadhaar cards on public desktops.</a:t>
            </a:r>
          </a:p>
          <a:p>
            <a:pPr>
              <a:spcAft>
                <a:spcPts val="600"/>
              </a:spcAft>
              <a:defRPr sz="1150">
                <a:solidFill>
                  <a:srgbClr val="1E293B"/>
                </a:solidFill>
              </a:defRPr>
            </a:pPr>
            <a:r>
              <a:t>•  Conclusion: We need an easy, automated tool that helps common citizens fill forms without mistakes.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A56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228600"/>
            <a:ext cx="4754880" cy="347472"/>
          </a:xfrm>
          <a:prstGeom prst="roundRect">
            <a:avLst/>
          </a:prstGeom>
          <a:solidFill>
            <a:srgbClr val="EFF6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37744"/>
            <a:ext cx="4572000" cy="320040"/>
          </a:xfrm>
          <a:prstGeom prst="rect">
            <a:avLst/>
          </a:prstGeom>
          <a:noFill/>
        </p:spPr>
        <p:txBody>
          <a:bodyPr wrap="square">
            <a:spAutoFit/>
          </a:bodyPr>
          <a:lstStyle/>
          <a:p>
            <a:pPr>
              <a:defRPr sz="1050" b="1">
                <a:solidFill>
                  <a:srgbClr val="1E40AF"/>
                </a:solidFill>
              </a:defRPr>
            </a:pPr>
            <a:r>
              <a:t>B.E. COMPUTER SCIENCE &amp; ENGINEERING | FIRST REVIEW</a:t>
            </a:r>
          </a:p>
        </p:txBody>
      </p:sp>
      <p:sp>
        <p:nvSpPr>
          <p:cNvPr id="5" name="TextBox 4"/>
          <p:cNvSpPr txBox="1"/>
          <p:nvPr/>
        </p:nvSpPr>
        <p:spPr>
          <a:xfrm>
            <a:off x="9875520" y="228600"/>
            <a:ext cx="1645920" cy="320040"/>
          </a:xfrm>
          <a:prstGeom prst="rect">
            <a:avLst/>
          </a:prstGeom>
          <a:noFill/>
        </p:spPr>
        <p:txBody>
          <a:bodyPr wrap="none">
            <a:spAutoFit/>
          </a:bodyPr>
          <a:lstStyle/>
          <a:p>
            <a:pPr algn="r">
              <a:defRPr sz="1100" b="1">
                <a:solidFill>
                  <a:srgbClr val="64748B"/>
                </a:solidFill>
              </a:defRPr>
            </a:pPr>
            <a:r>
              <a:t>Slide 5 of 16</a:t>
            </a:r>
          </a:p>
        </p:txBody>
      </p:sp>
      <p:sp>
        <p:nvSpPr>
          <p:cNvPr id="6" name="TextBox 5"/>
          <p:cNvSpPr txBox="1"/>
          <p:nvPr/>
        </p:nvSpPr>
        <p:spPr>
          <a:xfrm>
            <a:off x="731520" y="658368"/>
            <a:ext cx="10728655" cy="685800"/>
          </a:xfrm>
          <a:prstGeom prst="rect">
            <a:avLst/>
          </a:prstGeom>
          <a:noFill/>
        </p:spPr>
        <p:txBody>
          <a:bodyPr wrap="square">
            <a:spAutoFit/>
          </a:bodyPr>
          <a:lstStyle/>
          <a:p>
            <a:pPr>
              <a:defRPr sz="2200" b="1">
                <a:solidFill>
                  <a:srgbClr val="0F172A"/>
                </a:solidFill>
              </a:defRPr>
            </a:pPr>
            <a:r>
              <a:t>Problem Statement: 4 Major Challenges</a:t>
            </a:r>
          </a:p>
          <a:p>
            <a:pPr>
              <a:defRPr sz="1150">
                <a:solidFill>
                  <a:srgbClr val="64748B"/>
                </a:solidFill>
              </a:defRPr>
            </a:pPr>
            <a:r>
              <a:t>Key friction points in manual form submission</a:t>
            </a:r>
          </a:p>
        </p:txBody>
      </p:sp>
      <p:sp>
        <p:nvSpPr>
          <p:cNvPr id="7" name="Rounded Rectangle 6"/>
          <p:cNvSpPr/>
          <p:nvPr/>
        </p:nvSpPr>
        <p:spPr>
          <a:xfrm>
            <a:off x="731520" y="1463040"/>
            <a:ext cx="5120640" cy="2331720"/>
          </a:xfrm>
          <a:prstGeom prst="roundRect">
            <a:avLst/>
          </a:prstGeom>
          <a:solidFill>
            <a:srgbClr val="FFF1F2"/>
          </a:solidFill>
          <a:ln w="15240">
            <a:solidFill>
              <a:srgbClr val="FECDD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0120" y="1645920"/>
            <a:ext cx="4663440" cy="1965960"/>
          </a:xfrm>
          <a:prstGeom prst="rect">
            <a:avLst/>
          </a:prstGeom>
          <a:noFill/>
        </p:spPr>
        <p:txBody>
          <a:bodyPr wrap="square">
            <a:spAutoFit/>
          </a:bodyPr>
          <a:lstStyle/>
          <a:p>
            <a:pPr>
              <a:spcAft>
                <a:spcPts val="800"/>
              </a:spcAft>
              <a:defRPr sz="1400" b="1">
                <a:solidFill>
                  <a:srgbClr val="0F172A"/>
                </a:solidFill>
              </a:defRPr>
            </a:pPr>
            <a:r>
              <a:t>⏱️  1. Repetitive Manual Typing</a:t>
            </a:r>
          </a:p>
          <a:p>
            <a:pPr>
              <a:spcAft>
                <a:spcPts val="600"/>
              </a:spcAft>
              <a:defRPr sz="1150">
                <a:solidFill>
                  <a:srgbClr val="1E293B"/>
                </a:solidFill>
              </a:defRPr>
            </a:pPr>
            <a:r>
              <a:t>•  Typing 20+ fields by hand takes 10 to 15 minutes.</a:t>
            </a:r>
          </a:p>
          <a:p>
            <a:pPr>
              <a:spcAft>
                <a:spcPts val="600"/>
              </a:spcAft>
              <a:defRPr sz="1150">
                <a:solidFill>
                  <a:srgbClr val="1E293B"/>
                </a:solidFill>
              </a:defRPr>
            </a:pPr>
            <a:r>
              <a:t>•  Long 12-digit Aadhaar numbers are easy to mistype.</a:t>
            </a:r>
          </a:p>
          <a:p>
            <a:pPr>
              <a:spcAft>
                <a:spcPts val="600"/>
              </a:spcAft>
              <a:defRPr sz="1150">
                <a:solidFill>
                  <a:srgbClr val="1E293B"/>
                </a:solidFill>
              </a:defRPr>
            </a:pPr>
            <a:r>
              <a:t>•  Manually splitting door number, street, and district is confusing.</a:t>
            </a:r>
          </a:p>
        </p:txBody>
      </p:sp>
      <p:sp>
        <p:nvSpPr>
          <p:cNvPr id="9" name="Rounded Rectangle 8"/>
          <p:cNvSpPr/>
          <p:nvPr/>
        </p:nvSpPr>
        <p:spPr>
          <a:xfrm>
            <a:off x="6217920" y="1463040"/>
            <a:ext cx="5242255" cy="2331720"/>
          </a:xfrm>
          <a:prstGeom prst="roundRect">
            <a:avLst/>
          </a:prstGeom>
          <a:solidFill>
            <a:srgbClr val="FFF1F2"/>
          </a:solidFill>
          <a:ln w="15240">
            <a:solidFill>
              <a:srgbClr val="FECDD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46520" y="1645920"/>
            <a:ext cx="4785055" cy="1965960"/>
          </a:xfrm>
          <a:prstGeom prst="rect">
            <a:avLst/>
          </a:prstGeom>
          <a:noFill/>
        </p:spPr>
        <p:txBody>
          <a:bodyPr wrap="square">
            <a:spAutoFit/>
          </a:bodyPr>
          <a:lstStyle/>
          <a:p>
            <a:pPr>
              <a:spcAft>
                <a:spcPts val="800"/>
              </a:spcAft>
              <a:defRPr sz="1400" b="1">
                <a:solidFill>
                  <a:srgbClr val="0F172A"/>
                </a:solidFill>
              </a:defRPr>
            </a:pPr>
            <a:r>
              <a:t>🔒  2. Citizen Data Privacy Risks</a:t>
            </a:r>
          </a:p>
          <a:p>
            <a:pPr>
              <a:spcAft>
                <a:spcPts val="600"/>
              </a:spcAft>
              <a:defRPr sz="1150">
                <a:solidFill>
                  <a:srgbClr val="1E293B"/>
                </a:solidFill>
              </a:defRPr>
            </a:pPr>
            <a:r>
              <a:t>•  Sending ID cards to commercial cloud APIs risks data leaks.</a:t>
            </a:r>
          </a:p>
          <a:p>
            <a:pPr>
              <a:spcAft>
                <a:spcPts val="600"/>
              </a:spcAft>
              <a:defRPr sz="1150">
                <a:solidFill>
                  <a:srgbClr val="1E293B"/>
                </a:solidFill>
              </a:defRPr>
            </a:pPr>
            <a:r>
              <a:t>•  Cyber cafes keep unencrypted Aadhaar scans on shared computers.</a:t>
            </a:r>
          </a:p>
          <a:p>
            <a:pPr>
              <a:spcAft>
                <a:spcPts val="600"/>
              </a:spcAft>
              <a:defRPr sz="1150">
                <a:solidFill>
                  <a:srgbClr val="1E293B"/>
                </a:solidFill>
              </a:defRPr>
            </a:pPr>
            <a:r>
              <a:t>•  Commercial cloud OCR charges recurring fees per scan.</a:t>
            </a:r>
          </a:p>
        </p:txBody>
      </p:sp>
      <p:sp>
        <p:nvSpPr>
          <p:cNvPr id="11" name="Rounded Rectangle 10"/>
          <p:cNvSpPr/>
          <p:nvPr/>
        </p:nvSpPr>
        <p:spPr>
          <a:xfrm>
            <a:off x="731520" y="3931920"/>
            <a:ext cx="5120640" cy="233172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60120" y="4114800"/>
            <a:ext cx="4663440" cy="1965960"/>
          </a:xfrm>
          <a:prstGeom prst="rect">
            <a:avLst/>
          </a:prstGeom>
          <a:noFill/>
        </p:spPr>
        <p:txBody>
          <a:bodyPr wrap="square">
            <a:spAutoFit/>
          </a:bodyPr>
          <a:lstStyle/>
          <a:p>
            <a:pPr>
              <a:spcAft>
                <a:spcPts val="800"/>
              </a:spcAft>
              <a:defRPr sz="1400" b="1">
                <a:solidFill>
                  <a:srgbClr val="0F172A"/>
                </a:solidFill>
              </a:defRPr>
            </a:pPr>
            <a:r>
              <a:t>📄  3. Messy Text on Indian ID Cards</a:t>
            </a:r>
          </a:p>
          <a:p>
            <a:pPr>
              <a:spcAft>
                <a:spcPts val="600"/>
              </a:spcAft>
              <a:defRPr sz="1150">
                <a:solidFill>
                  <a:srgbClr val="1E293B"/>
                </a:solidFill>
              </a:defRPr>
            </a:pPr>
            <a:r>
              <a:t>•  Aadhaar cards print 14-digit enrolment numbers that look like Aadhaar numbers.</a:t>
            </a:r>
          </a:p>
          <a:p>
            <a:pPr>
              <a:spcAft>
                <a:spcPts val="600"/>
              </a:spcAft>
              <a:defRPr sz="1150">
                <a:solidFill>
                  <a:srgbClr val="1E293B"/>
                </a:solidFill>
              </a:defRPr>
            </a:pPr>
            <a:r>
              <a:t>•  Cards have long legal disclaimers that confuse generic scanning tools.</a:t>
            </a:r>
          </a:p>
          <a:p>
            <a:pPr>
              <a:spcAft>
                <a:spcPts val="600"/>
              </a:spcAft>
              <a:defRPr sz="1150">
                <a:solidFill>
                  <a:srgbClr val="1E293B"/>
                </a:solidFill>
              </a:defRPr>
            </a:pPr>
            <a:r>
              <a:t>•  Scanned photos can be faint or low-contrast.</a:t>
            </a:r>
          </a:p>
        </p:txBody>
      </p:sp>
      <p:sp>
        <p:nvSpPr>
          <p:cNvPr id="13" name="Rounded Rectangle 12"/>
          <p:cNvSpPr/>
          <p:nvPr/>
        </p:nvSpPr>
        <p:spPr>
          <a:xfrm>
            <a:off x="6217920" y="3931920"/>
            <a:ext cx="5242255" cy="233172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46520" y="4114800"/>
            <a:ext cx="4785055" cy="1965960"/>
          </a:xfrm>
          <a:prstGeom prst="rect">
            <a:avLst/>
          </a:prstGeom>
          <a:noFill/>
        </p:spPr>
        <p:txBody>
          <a:bodyPr wrap="square">
            <a:spAutoFit/>
          </a:bodyPr>
          <a:lstStyle/>
          <a:p>
            <a:pPr>
              <a:spcAft>
                <a:spcPts val="800"/>
              </a:spcAft>
              <a:defRPr sz="1400" b="1">
                <a:solidFill>
                  <a:srgbClr val="0F172A"/>
                </a:solidFill>
              </a:defRPr>
            </a:pPr>
            <a:r>
              <a:t>🖼️  4. Photo Cropping Frustration</a:t>
            </a:r>
          </a:p>
          <a:p>
            <a:pPr>
              <a:spcAft>
                <a:spcPts val="600"/>
              </a:spcAft>
              <a:defRPr sz="1150">
                <a:solidFill>
                  <a:srgbClr val="1E293B"/>
                </a:solidFill>
              </a:defRPr>
            </a:pPr>
            <a:r>
              <a:t>•  Government websites require a separate passport-size photo under 2MB.</a:t>
            </a:r>
          </a:p>
          <a:p>
            <a:pPr>
              <a:spcAft>
                <a:spcPts val="600"/>
              </a:spcAft>
              <a:defRPr sz="1150">
                <a:solidFill>
                  <a:srgbClr val="1E293B"/>
                </a:solidFill>
              </a:defRPr>
            </a:pPr>
            <a:r>
              <a:t>•  Normal citizens do not know how to crop images properly in Paint.</a:t>
            </a:r>
          </a:p>
          <a:p>
            <a:pPr>
              <a:spcAft>
                <a:spcPts val="600"/>
              </a:spcAft>
              <a:defRPr sz="1150">
                <a:solidFill>
                  <a:srgbClr val="1E293B"/>
                </a:solidFill>
              </a:defRPr>
            </a:pPr>
            <a:r>
              <a:t>•  Forces users to pay money at internet cafes for simple cropping.</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A56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228600"/>
            <a:ext cx="4754880" cy="347472"/>
          </a:xfrm>
          <a:prstGeom prst="roundRect">
            <a:avLst/>
          </a:prstGeom>
          <a:solidFill>
            <a:srgbClr val="EFF6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37744"/>
            <a:ext cx="4572000" cy="320040"/>
          </a:xfrm>
          <a:prstGeom prst="rect">
            <a:avLst/>
          </a:prstGeom>
          <a:noFill/>
        </p:spPr>
        <p:txBody>
          <a:bodyPr wrap="square">
            <a:spAutoFit/>
          </a:bodyPr>
          <a:lstStyle/>
          <a:p>
            <a:pPr>
              <a:defRPr sz="1050" b="1">
                <a:solidFill>
                  <a:srgbClr val="1E40AF"/>
                </a:solidFill>
              </a:defRPr>
            </a:pPr>
            <a:r>
              <a:t>B.E. COMPUTER SCIENCE &amp; ENGINEERING | FIRST REVIEW</a:t>
            </a:r>
          </a:p>
        </p:txBody>
      </p:sp>
      <p:sp>
        <p:nvSpPr>
          <p:cNvPr id="5" name="TextBox 4"/>
          <p:cNvSpPr txBox="1"/>
          <p:nvPr/>
        </p:nvSpPr>
        <p:spPr>
          <a:xfrm>
            <a:off x="9875520" y="228600"/>
            <a:ext cx="1645920" cy="320040"/>
          </a:xfrm>
          <a:prstGeom prst="rect">
            <a:avLst/>
          </a:prstGeom>
          <a:noFill/>
        </p:spPr>
        <p:txBody>
          <a:bodyPr wrap="none">
            <a:spAutoFit/>
          </a:bodyPr>
          <a:lstStyle/>
          <a:p>
            <a:pPr algn="r">
              <a:defRPr sz="1100" b="1">
                <a:solidFill>
                  <a:srgbClr val="64748B"/>
                </a:solidFill>
              </a:defRPr>
            </a:pPr>
            <a:r>
              <a:t>Slide 6 of 16</a:t>
            </a:r>
          </a:p>
        </p:txBody>
      </p:sp>
      <p:sp>
        <p:nvSpPr>
          <p:cNvPr id="6" name="TextBox 5"/>
          <p:cNvSpPr txBox="1"/>
          <p:nvPr/>
        </p:nvSpPr>
        <p:spPr>
          <a:xfrm>
            <a:off x="731520" y="658368"/>
            <a:ext cx="10728655" cy="685800"/>
          </a:xfrm>
          <a:prstGeom prst="rect">
            <a:avLst/>
          </a:prstGeom>
          <a:noFill/>
        </p:spPr>
        <p:txBody>
          <a:bodyPr wrap="square">
            <a:spAutoFit/>
          </a:bodyPr>
          <a:lstStyle/>
          <a:p>
            <a:pPr>
              <a:defRPr sz="2200" b="1">
                <a:solidFill>
                  <a:srgbClr val="0F172A"/>
                </a:solidFill>
              </a:defRPr>
            </a:pPr>
            <a:r>
              <a:t>Aim &amp; Specific Objectives</a:t>
            </a:r>
          </a:p>
          <a:p>
            <a:pPr>
              <a:defRPr sz="1150">
                <a:solidFill>
                  <a:srgbClr val="64748B"/>
                </a:solidFill>
              </a:defRPr>
            </a:pPr>
            <a:r>
              <a:t>What we set out to achieve</a:t>
            </a:r>
          </a:p>
        </p:txBody>
      </p:sp>
      <p:sp>
        <p:nvSpPr>
          <p:cNvPr id="7" name="Rounded Rectangle 6"/>
          <p:cNvSpPr/>
          <p:nvPr/>
        </p:nvSpPr>
        <p:spPr>
          <a:xfrm>
            <a:off x="731520" y="1463040"/>
            <a:ext cx="10728655" cy="1234440"/>
          </a:xfrm>
          <a:prstGeom prst="roundRect">
            <a:avLst/>
          </a:prstGeom>
          <a:solidFill>
            <a:srgbClr val="F0F7FF"/>
          </a:solidFill>
          <a:ln w="1524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0120" y="1645920"/>
            <a:ext cx="10271455" cy="868680"/>
          </a:xfrm>
          <a:prstGeom prst="rect">
            <a:avLst/>
          </a:prstGeom>
          <a:noFill/>
        </p:spPr>
        <p:txBody>
          <a:bodyPr wrap="square">
            <a:spAutoFit/>
          </a:bodyPr>
          <a:lstStyle/>
          <a:p>
            <a:pPr>
              <a:spcAft>
                <a:spcPts val="800"/>
              </a:spcAft>
              <a:defRPr sz="1400" b="1">
                <a:solidFill>
                  <a:srgbClr val="0F172A"/>
                </a:solidFill>
              </a:defRPr>
            </a:pPr>
            <a:r>
              <a:t>🎯  PROJECT AIM</a:t>
            </a:r>
          </a:p>
          <a:p>
            <a:pPr>
              <a:spcAft>
                <a:spcPts val="600"/>
              </a:spcAft>
              <a:defRPr sz="1150">
                <a:solidFill>
                  <a:srgbClr val="1E293B"/>
                </a:solidFill>
              </a:defRPr>
            </a:pPr>
            <a:r>
              <a:t>•  To build a fast, free, and completely private web application that reads Indian ID cards (Aadhaar / PAN), automatically detects and crops the applicant's passport photo, and fills Voter ID Form 6 in under 30 seconds with zero cloud dependency.</a:t>
            </a:r>
          </a:p>
        </p:txBody>
      </p:sp>
      <p:sp>
        <p:nvSpPr>
          <p:cNvPr id="9" name="Rounded Rectangle 8"/>
          <p:cNvSpPr/>
          <p:nvPr/>
        </p:nvSpPr>
        <p:spPr>
          <a:xfrm>
            <a:off x="731520" y="2834640"/>
            <a:ext cx="5120640" cy="338328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0120" y="3017520"/>
            <a:ext cx="4663440" cy="3017520"/>
          </a:xfrm>
          <a:prstGeom prst="rect">
            <a:avLst/>
          </a:prstGeom>
          <a:noFill/>
        </p:spPr>
        <p:txBody>
          <a:bodyPr wrap="square">
            <a:spAutoFit/>
          </a:bodyPr>
          <a:lstStyle/>
          <a:p>
            <a:pPr>
              <a:spcAft>
                <a:spcPts val="800"/>
              </a:spcAft>
              <a:defRPr sz="1400" b="1">
                <a:solidFill>
                  <a:srgbClr val="0F172A"/>
                </a:solidFill>
              </a:defRPr>
            </a:pPr>
            <a:r>
              <a:t>📥  Objectives (1 &amp; 2): Ingestion &amp; OCR</a:t>
            </a:r>
          </a:p>
          <a:p>
            <a:pPr>
              <a:spcAft>
                <a:spcPts val="600"/>
              </a:spcAft>
              <a:defRPr sz="1150">
                <a:solidFill>
                  <a:srgbClr val="1E293B"/>
                </a:solidFill>
              </a:defRPr>
            </a:pPr>
            <a:r>
              <a:t>•  Objective 1: Multi-Document Upload</a:t>
            </a:r>
          </a:p>
          <a:p>
            <a:pPr>
              <a:spcAft>
                <a:spcPts val="600"/>
              </a:spcAft>
              <a:defRPr sz="1150">
                <a:solidFill>
                  <a:srgbClr val="1E293B"/>
                </a:solidFill>
              </a:defRPr>
            </a:pPr>
            <a:r>
              <a:t>•    • Allow users to upload Front and Back card images, or a PDF.</a:t>
            </a:r>
          </a:p>
          <a:p>
            <a:pPr>
              <a:spcAft>
                <a:spcPts val="600"/>
              </a:spcAft>
              <a:defRPr sz="1150">
                <a:solidFill>
                  <a:srgbClr val="1E293B"/>
                </a:solidFill>
              </a:defRPr>
            </a:pPr>
            <a:r>
              <a:t>•    • Show file chips with size info and an easy remove button.</a:t>
            </a:r>
          </a:p>
          <a:p>
            <a:pPr>
              <a:spcAft>
                <a:spcPts val="600"/>
              </a:spcAft>
              <a:defRPr sz="1150">
                <a:solidFill>
                  <a:srgbClr val="1E293B"/>
                </a:solidFill>
              </a:defRPr>
            </a:pPr>
            <a:r>
              <a:t>•  Objective 2: Accurate Text Reading (OCR)</a:t>
            </a:r>
          </a:p>
          <a:p>
            <a:pPr>
              <a:spcAft>
                <a:spcPts val="600"/>
              </a:spcAft>
              <a:defRPr sz="1150">
                <a:solidFill>
                  <a:srgbClr val="1E293B"/>
                </a:solidFill>
              </a:defRPr>
            </a:pPr>
            <a:r>
              <a:t>•    • Use EasyOCR to read English and Indian regional text.</a:t>
            </a:r>
          </a:p>
          <a:p>
            <a:pPr>
              <a:spcAft>
                <a:spcPts val="600"/>
              </a:spcAft>
              <a:defRPr sz="1150">
                <a:solidFill>
                  <a:srgbClr val="1E293B"/>
                </a:solidFill>
              </a:defRPr>
            </a:pPr>
            <a:r>
              <a:t>•    • Convert PDFs to high-clarity 300 DPI images for easy reading.</a:t>
            </a:r>
          </a:p>
        </p:txBody>
      </p:sp>
      <p:sp>
        <p:nvSpPr>
          <p:cNvPr id="11" name="Rounded Rectangle 10"/>
          <p:cNvSpPr/>
          <p:nvPr/>
        </p:nvSpPr>
        <p:spPr>
          <a:xfrm>
            <a:off x="6217920" y="2834640"/>
            <a:ext cx="5242255" cy="3383280"/>
          </a:xfrm>
          <a:prstGeom prst="roundRect">
            <a:avLst/>
          </a:prstGeom>
          <a:solidFill>
            <a:srgbClr val="F0FDF4"/>
          </a:solidFill>
          <a:ln w="15240">
            <a:solidFill>
              <a:srgbClr val="BBF7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46520" y="3017520"/>
            <a:ext cx="4785055" cy="3017520"/>
          </a:xfrm>
          <a:prstGeom prst="rect">
            <a:avLst/>
          </a:prstGeom>
          <a:noFill/>
        </p:spPr>
        <p:txBody>
          <a:bodyPr wrap="square">
            <a:spAutoFit/>
          </a:bodyPr>
          <a:lstStyle/>
          <a:p>
            <a:pPr>
              <a:spcAft>
                <a:spcPts val="800"/>
              </a:spcAft>
              <a:defRPr sz="1400" b="1">
                <a:solidFill>
                  <a:srgbClr val="0F172A"/>
                </a:solidFill>
              </a:defRPr>
            </a:pPr>
            <a:r>
              <a:t>🤖  Objectives (3 &amp; 4): AI &amp; Biometrics</a:t>
            </a:r>
          </a:p>
          <a:p>
            <a:pPr>
              <a:spcAft>
                <a:spcPts val="600"/>
              </a:spcAft>
              <a:defRPr sz="1150">
                <a:solidFill>
                  <a:srgbClr val="1E293B"/>
                </a:solidFill>
              </a:defRPr>
            </a:pPr>
            <a:r>
              <a:t>•  Objective 3: Smart Field Sorting (Local AI)</a:t>
            </a:r>
          </a:p>
          <a:p>
            <a:pPr>
              <a:spcAft>
                <a:spcPts val="600"/>
              </a:spcAft>
              <a:defRPr sz="1150">
                <a:solidFill>
                  <a:srgbClr val="1E293B"/>
                </a:solidFill>
              </a:defRPr>
            </a:pPr>
            <a:r>
              <a:t>•    • Use Meta Llama 3.2 AI running on the laptop to sort text into Name, DOB, etc.</a:t>
            </a:r>
          </a:p>
          <a:p>
            <a:pPr>
              <a:spcAft>
                <a:spcPts val="600"/>
              </a:spcAft>
              <a:defRPr sz="1150">
                <a:solidFill>
                  <a:srgbClr val="1E293B"/>
                </a:solidFill>
              </a:defRPr>
            </a:pPr>
            <a:r>
              <a:t>•    • Automatically identify Father's or Husband's name from 'S/O' or 'W/O'.</a:t>
            </a:r>
          </a:p>
          <a:p>
            <a:pPr>
              <a:spcAft>
                <a:spcPts val="600"/>
              </a:spcAft>
              <a:defRPr sz="1150">
                <a:solidFill>
                  <a:srgbClr val="1E293B"/>
                </a:solidFill>
              </a:defRPr>
            </a:pPr>
            <a:r>
              <a:t>•  Objective 4: Automatic Face Photo Cropping</a:t>
            </a:r>
          </a:p>
          <a:p>
            <a:pPr>
              <a:spcAft>
                <a:spcPts val="600"/>
              </a:spcAft>
              <a:defRPr sz="1150">
                <a:solidFill>
                  <a:srgbClr val="1E293B"/>
                </a:solidFill>
              </a:defRPr>
            </a:pPr>
            <a:r>
              <a:t>•    • Use OpenCV YuNet face detector to locate the face on the card.</a:t>
            </a:r>
          </a:p>
          <a:p>
            <a:pPr>
              <a:spcAft>
                <a:spcPts val="600"/>
              </a:spcAft>
              <a:defRPr sz="1150">
                <a:solidFill>
                  <a:srgbClr val="1E293B"/>
                </a:solidFill>
              </a:defRPr>
            </a:pPr>
            <a:r>
              <a:t>•    • Automatically crop a clean passport-size photo without any text.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A56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228600"/>
            <a:ext cx="4754880" cy="347472"/>
          </a:xfrm>
          <a:prstGeom prst="roundRect">
            <a:avLst/>
          </a:prstGeom>
          <a:solidFill>
            <a:srgbClr val="EFF6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37744"/>
            <a:ext cx="4572000" cy="320040"/>
          </a:xfrm>
          <a:prstGeom prst="rect">
            <a:avLst/>
          </a:prstGeom>
          <a:noFill/>
        </p:spPr>
        <p:txBody>
          <a:bodyPr wrap="square">
            <a:spAutoFit/>
          </a:bodyPr>
          <a:lstStyle/>
          <a:p>
            <a:pPr>
              <a:defRPr sz="1050" b="1">
                <a:solidFill>
                  <a:srgbClr val="1E40AF"/>
                </a:solidFill>
              </a:defRPr>
            </a:pPr>
            <a:r>
              <a:t>B.E. COMPUTER SCIENCE &amp; ENGINEERING | FIRST REVIEW</a:t>
            </a:r>
          </a:p>
        </p:txBody>
      </p:sp>
      <p:sp>
        <p:nvSpPr>
          <p:cNvPr id="5" name="TextBox 4"/>
          <p:cNvSpPr txBox="1"/>
          <p:nvPr/>
        </p:nvSpPr>
        <p:spPr>
          <a:xfrm>
            <a:off x="9875520" y="228600"/>
            <a:ext cx="1645920" cy="320040"/>
          </a:xfrm>
          <a:prstGeom prst="rect">
            <a:avLst/>
          </a:prstGeom>
          <a:noFill/>
        </p:spPr>
        <p:txBody>
          <a:bodyPr wrap="none">
            <a:spAutoFit/>
          </a:bodyPr>
          <a:lstStyle/>
          <a:p>
            <a:pPr algn="r">
              <a:defRPr sz="1100" b="1">
                <a:solidFill>
                  <a:srgbClr val="64748B"/>
                </a:solidFill>
              </a:defRPr>
            </a:pPr>
            <a:r>
              <a:t>Slide 7 of 16</a:t>
            </a:r>
          </a:p>
        </p:txBody>
      </p:sp>
      <p:sp>
        <p:nvSpPr>
          <p:cNvPr id="6" name="TextBox 5"/>
          <p:cNvSpPr txBox="1"/>
          <p:nvPr/>
        </p:nvSpPr>
        <p:spPr>
          <a:xfrm>
            <a:off x="731520" y="658368"/>
            <a:ext cx="10728655" cy="685800"/>
          </a:xfrm>
          <a:prstGeom prst="rect">
            <a:avLst/>
          </a:prstGeom>
          <a:noFill/>
        </p:spPr>
        <p:txBody>
          <a:bodyPr wrap="square">
            <a:spAutoFit/>
          </a:bodyPr>
          <a:lstStyle/>
          <a:p>
            <a:pPr>
              <a:defRPr sz="2200" b="1">
                <a:solidFill>
                  <a:srgbClr val="0F172A"/>
                </a:solidFill>
              </a:defRPr>
            </a:pPr>
            <a:r>
              <a:t>Literature Review: What Existing Tools Do</a:t>
            </a:r>
          </a:p>
          <a:p>
            <a:pPr>
              <a:defRPr sz="1150">
                <a:solidFill>
                  <a:srgbClr val="64748B"/>
                </a:solidFill>
              </a:defRPr>
            </a:pPr>
            <a:r>
              <a:t>Comparison of existing technologies and our approach</a:t>
            </a:r>
          </a:p>
        </p:txBody>
      </p:sp>
      <p:sp>
        <p:nvSpPr>
          <p:cNvPr id="7" name="Rounded Rectangle 6"/>
          <p:cNvSpPr/>
          <p:nvPr/>
        </p:nvSpPr>
        <p:spPr>
          <a:xfrm>
            <a:off x="731520" y="1463040"/>
            <a:ext cx="5120640" cy="233172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0120" y="1645920"/>
            <a:ext cx="4663440" cy="1965960"/>
          </a:xfrm>
          <a:prstGeom prst="rect">
            <a:avLst/>
          </a:prstGeom>
          <a:noFill/>
        </p:spPr>
        <p:txBody>
          <a:bodyPr wrap="square">
            <a:spAutoFit/>
          </a:bodyPr>
          <a:lstStyle/>
          <a:p>
            <a:pPr>
              <a:spcAft>
                <a:spcPts val="800"/>
              </a:spcAft>
              <a:defRPr sz="1400" b="1">
                <a:solidFill>
                  <a:srgbClr val="0F172A"/>
                </a:solidFill>
              </a:defRPr>
            </a:pPr>
            <a:r>
              <a:t>📖  1. Standard OCR (Tesseract)</a:t>
            </a:r>
          </a:p>
          <a:p>
            <a:pPr>
              <a:spcAft>
                <a:spcPts val="600"/>
              </a:spcAft>
              <a:defRPr sz="1150">
                <a:solidFill>
                  <a:srgbClr val="1E293B"/>
                </a:solidFill>
              </a:defRPr>
            </a:pPr>
            <a:r>
              <a:t>•  What it does: Reads words from simple scanned papers.</a:t>
            </a:r>
          </a:p>
          <a:p>
            <a:pPr>
              <a:spcAft>
                <a:spcPts val="600"/>
              </a:spcAft>
              <a:defRPr sz="1150">
                <a:solidFill>
                  <a:srgbClr val="1E293B"/>
                </a:solidFill>
              </a:defRPr>
            </a:pPr>
            <a:r>
              <a:t>•  Drawback: Just outputs a raw list of words; does not know which word is 'Name' or 'Address'. Fails on Indian regional scripts.</a:t>
            </a:r>
          </a:p>
        </p:txBody>
      </p:sp>
      <p:sp>
        <p:nvSpPr>
          <p:cNvPr id="9" name="Rounded Rectangle 8"/>
          <p:cNvSpPr/>
          <p:nvPr/>
        </p:nvSpPr>
        <p:spPr>
          <a:xfrm>
            <a:off x="6217920" y="1463040"/>
            <a:ext cx="5242255" cy="2331720"/>
          </a:xfrm>
          <a:prstGeom prst="roundRect">
            <a:avLst/>
          </a:prstGeom>
          <a:solidFill>
            <a:srgbClr val="FFF1F2"/>
          </a:solidFill>
          <a:ln w="15240">
            <a:solidFill>
              <a:srgbClr val="FECDD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46520" y="1645920"/>
            <a:ext cx="4785055" cy="1965960"/>
          </a:xfrm>
          <a:prstGeom prst="rect">
            <a:avLst/>
          </a:prstGeom>
          <a:noFill/>
        </p:spPr>
        <p:txBody>
          <a:bodyPr wrap="square">
            <a:spAutoFit/>
          </a:bodyPr>
          <a:lstStyle/>
          <a:p>
            <a:pPr>
              <a:spcAft>
                <a:spcPts val="800"/>
              </a:spcAft>
              <a:defRPr sz="1400" b="1">
                <a:solidFill>
                  <a:srgbClr val="0F172A"/>
                </a:solidFill>
              </a:defRPr>
            </a:pPr>
            <a:r>
              <a:t>☁️  2. Paid Cloud APIs (Google / AWS)</a:t>
            </a:r>
          </a:p>
          <a:p>
            <a:pPr>
              <a:spcAft>
                <a:spcPts val="600"/>
              </a:spcAft>
              <a:defRPr sz="1150">
                <a:solidFill>
                  <a:srgbClr val="1E293B"/>
                </a:solidFill>
              </a:defRPr>
            </a:pPr>
            <a:r>
              <a:t>•  What they do: Very accurate at reading documents and forms.</a:t>
            </a:r>
          </a:p>
          <a:p>
            <a:pPr>
              <a:spcAft>
                <a:spcPts val="600"/>
              </a:spcAft>
              <a:defRPr sz="1150">
                <a:solidFill>
                  <a:srgbClr val="1E293B"/>
                </a:solidFill>
              </a:defRPr>
            </a:pPr>
            <a:r>
              <a:t>•  Drawback: Charges money for every single scan, needs internet, and uploads private citizen data to third-party servers.</a:t>
            </a:r>
          </a:p>
        </p:txBody>
      </p:sp>
      <p:sp>
        <p:nvSpPr>
          <p:cNvPr id="11" name="Rounded Rectangle 10"/>
          <p:cNvSpPr/>
          <p:nvPr/>
        </p:nvSpPr>
        <p:spPr>
          <a:xfrm>
            <a:off x="731520" y="3931920"/>
            <a:ext cx="5120640" cy="233172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60120" y="4114800"/>
            <a:ext cx="4663440" cy="1965960"/>
          </a:xfrm>
          <a:prstGeom prst="rect">
            <a:avLst/>
          </a:prstGeom>
          <a:noFill/>
        </p:spPr>
        <p:txBody>
          <a:bodyPr wrap="square">
            <a:spAutoFit/>
          </a:bodyPr>
          <a:lstStyle/>
          <a:p>
            <a:pPr>
              <a:spcAft>
                <a:spcPts val="800"/>
              </a:spcAft>
              <a:defRPr sz="1400" b="1">
                <a:solidFill>
                  <a:srgbClr val="0F172A"/>
                </a:solidFill>
              </a:defRPr>
            </a:pPr>
            <a:r>
              <a:t>💻  3. Big AI Models (ChatGPT / Claude)</a:t>
            </a:r>
          </a:p>
          <a:p>
            <a:pPr>
              <a:spcAft>
                <a:spcPts val="600"/>
              </a:spcAft>
              <a:defRPr sz="1150">
                <a:solidFill>
                  <a:srgbClr val="1E293B"/>
                </a:solidFill>
              </a:defRPr>
            </a:pPr>
            <a:r>
              <a:t>•  What they do: Can understand forms and text very well.</a:t>
            </a:r>
          </a:p>
          <a:p>
            <a:pPr>
              <a:spcAft>
                <a:spcPts val="600"/>
              </a:spcAft>
              <a:defRPr sz="1150">
                <a:solidFill>
                  <a:srgbClr val="1E293B"/>
                </a:solidFill>
              </a:defRPr>
            </a:pPr>
            <a:r>
              <a:t>•  Drawback: Too large to run locally on a normal laptop; requires expensive graphic cards (GPUs) or paid internet subscriptions.</a:t>
            </a:r>
          </a:p>
        </p:txBody>
      </p:sp>
      <p:sp>
        <p:nvSpPr>
          <p:cNvPr id="13" name="Rounded Rectangle 12"/>
          <p:cNvSpPr/>
          <p:nvPr/>
        </p:nvSpPr>
        <p:spPr>
          <a:xfrm>
            <a:off x="6217920" y="3931920"/>
            <a:ext cx="5242255" cy="2331720"/>
          </a:xfrm>
          <a:prstGeom prst="roundRect">
            <a:avLst/>
          </a:prstGeom>
          <a:solidFill>
            <a:srgbClr val="F0FDF4"/>
          </a:solidFill>
          <a:ln w="15240">
            <a:solidFill>
              <a:srgbClr val="BBF7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46520" y="4114800"/>
            <a:ext cx="4785055" cy="1965960"/>
          </a:xfrm>
          <a:prstGeom prst="rect">
            <a:avLst/>
          </a:prstGeom>
          <a:noFill/>
        </p:spPr>
        <p:txBody>
          <a:bodyPr wrap="square">
            <a:spAutoFit/>
          </a:bodyPr>
          <a:lstStyle/>
          <a:p>
            <a:pPr>
              <a:spcAft>
                <a:spcPts val="800"/>
              </a:spcAft>
              <a:defRPr sz="1400" b="1">
                <a:solidFill>
                  <a:srgbClr val="0F172A"/>
                </a:solidFill>
              </a:defRPr>
            </a:pPr>
            <a:r>
              <a:t>⭐  4. Our Choice: Lightweight Local AI</a:t>
            </a:r>
          </a:p>
          <a:p>
            <a:pPr>
              <a:spcAft>
                <a:spcPts val="600"/>
              </a:spcAft>
              <a:defRPr sz="1150">
                <a:solidFill>
                  <a:srgbClr val="1E293B"/>
                </a:solidFill>
              </a:defRPr>
            </a:pPr>
            <a:r>
              <a:t>•  What we do: We use EasyOCR for reading + Meta Llama 3.2 (small 3B model) for sorting + YuNet for face detection.</a:t>
            </a:r>
          </a:p>
          <a:p>
            <a:pPr>
              <a:spcAft>
                <a:spcPts val="600"/>
              </a:spcAft>
              <a:defRPr sz="1150">
                <a:solidFill>
                  <a:srgbClr val="1E293B"/>
                </a:solidFill>
              </a:defRPr>
            </a:pPr>
            <a:r>
              <a:t>•  Advantage: 100% Free, runs on any normal laptop, zero internet cost, and zero data leakage.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A56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228600"/>
            <a:ext cx="4754880" cy="347472"/>
          </a:xfrm>
          <a:prstGeom prst="roundRect">
            <a:avLst/>
          </a:prstGeom>
          <a:solidFill>
            <a:srgbClr val="EFF6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37744"/>
            <a:ext cx="4572000" cy="320040"/>
          </a:xfrm>
          <a:prstGeom prst="rect">
            <a:avLst/>
          </a:prstGeom>
          <a:noFill/>
        </p:spPr>
        <p:txBody>
          <a:bodyPr wrap="square">
            <a:spAutoFit/>
          </a:bodyPr>
          <a:lstStyle/>
          <a:p>
            <a:pPr>
              <a:defRPr sz="1050" b="1">
                <a:solidFill>
                  <a:srgbClr val="1E40AF"/>
                </a:solidFill>
              </a:defRPr>
            </a:pPr>
            <a:r>
              <a:t>B.E. COMPUTER SCIENCE &amp; ENGINEERING | FIRST REVIEW</a:t>
            </a:r>
          </a:p>
        </p:txBody>
      </p:sp>
      <p:sp>
        <p:nvSpPr>
          <p:cNvPr id="5" name="TextBox 4"/>
          <p:cNvSpPr txBox="1"/>
          <p:nvPr/>
        </p:nvSpPr>
        <p:spPr>
          <a:xfrm>
            <a:off x="9875520" y="228600"/>
            <a:ext cx="1645920" cy="320040"/>
          </a:xfrm>
          <a:prstGeom prst="rect">
            <a:avLst/>
          </a:prstGeom>
          <a:noFill/>
        </p:spPr>
        <p:txBody>
          <a:bodyPr wrap="none">
            <a:spAutoFit/>
          </a:bodyPr>
          <a:lstStyle/>
          <a:p>
            <a:pPr algn="r">
              <a:defRPr sz="1100" b="1">
                <a:solidFill>
                  <a:srgbClr val="64748B"/>
                </a:solidFill>
              </a:defRPr>
            </a:pPr>
            <a:r>
              <a:t>Slide 8 of 16</a:t>
            </a:r>
          </a:p>
        </p:txBody>
      </p:sp>
      <p:sp>
        <p:nvSpPr>
          <p:cNvPr id="6" name="TextBox 5"/>
          <p:cNvSpPr txBox="1"/>
          <p:nvPr/>
        </p:nvSpPr>
        <p:spPr>
          <a:xfrm>
            <a:off x="731520" y="658368"/>
            <a:ext cx="10728655" cy="685800"/>
          </a:xfrm>
          <a:prstGeom prst="rect">
            <a:avLst/>
          </a:prstGeom>
          <a:noFill/>
        </p:spPr>
        <p:txBody>
          <a:bodyPr wrap="square">
            <a:spAutoFit/>
          </a:bodyPr>
          <a:lstStyle/>
          <a:p>
            <a:pPr>
              <a:defRPr sz="2200" b="1">
                <a:solidFill>
                  <a:srgbClr val="0F172A"/>
                </a:solidFill>
              </a:defRPr>
            </a:pPr>
            <a:r>
              <a:t>Existing System: How People Fill Forms Today</a:t>
            </a:r>
          </a:p>
          <a:p>
            <a:pPr>
              <a:defRPr sz="1150">
                <a:solidFill>
                  <a:srgbClr val="64748B"/>
                </a:solidFill>
              </a:defRPr>
            </a:pPr>
            <a:r>
              <a:t>The manual multi-step process</a:t>
            </a:r>
          </a:p>
        </p:txBody>
      </p:sp>
      <p:sp>
        <p:nvSpPr>
          <p:cNvPr id="7" name="Rounded Rectangle 6"/>
          <p:cNvSpPr/>
          <p:nvPr/>
        </p:nvSpPr>
        <p:spPr>
          <a:xfrm>
            <a:off x="731520" y="1463040"/>
            <a:ext cx="5120640" cy="4754880"/>
          </a:xfrm>
          <a:prstGeom prst="roundRect">
            <a:avLst/>
          </a:prstGeom>
          <a:solidFill>
            <a:srgbClr val="F0F7FF"/>
          </a:solidFill>
          <a:ln w="1524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0120" y="1645920"/>
            <a:ext cx="4663440" cy="4389120"/>
          </a:xfrm>
          <a:prstGeom prst="rect">
            <a:avLst/>
          </a:prstGeom>
          <a:noFill/>
        </p:spPr>
        <p:txBody>
          <a:bodyPr wrap="square">
            <a:spAutoFit/>
          </a:bodyPr>
          <a:lstStyle/>
          <a:p>
            <a:pPr>
              <a:spcAft>
                <a:spcPts val="800"/>
              </a:spcAft>
              <a:defRPr sz="1400" b="1">
                <a:solidFill>
                  <a:srgbClr val="0F172A"/>
                </a:solidFill>
              </a:defRPr>
            </a:pPr>
            <a:r>
              <a:t>⌨️  Typing Details (Steps 1 to 4)</a:t>
            </a:r>
          </a:p>
          <a:p>
            <a:pPr>
              <a:spcAft>
                <a:spcPts val="600"/>
              </a:spcAft>
              <a:defRPr sz="1150">
                <a:solidFill>
                  <a:srgbClr val="1E293B"/>
                </a:solidFill>
              </a:defRPr>
            </a:pPr>
            <a:r>
              <a:t>•  Step 1: The user opens the government website (NVSP Voter Portal).</a:t>
            </a:r>
          </a:p>
          <a:p>
            <a:pPr>
              <a:spcAft>
                <a:spcPts val="600"/>
              </a:spcAft>
              <a:defRPr sz="1150">
                <a:solidFill>
                  <a:srgbClr val="1E293B"/>
                </a:solidFill>
              </a:defRPr>
            </a:pPr>
            <a:r>
              <a:t>•  Step 2: They look at their Aadhaar card in one hand (or a PDF window on screen).</a:t>
            </a:r>
          </a:p>
          <a:p>
            <a:pPr>
              <a:spcAft>
                <a:spcPts val="600"/>
              </a:spcAft>
              <a:defRPr sz="1150">
                <a:solidFill>
                  <a:srgbClr val="1E293B"/>
                </a:solidFill>
              </a:defRPr>
            </a:pPr>
            <a:r>
              <a:t>•  Step 3: They type each detail manually: Name, Father's Name, Mobile Number, Email, Gender, and Date of Birth.</a:t>
            </a:r>
          </a:p>
          <a:p>
            <a:pPr>
              <a:spcAft>
                <a:spcPts val="600"/>
              </a:spcAft>
              <a:defRPr sz="1150">
                <a:solidFill>
                  <a:srgbClr val="1E293B"/>
                </a:solidFill>
              </a:defRPr>
            </a:pPr>
            <a:r>
              <a:t>•  Step 4: They manually split their address into House No, Street, Village, Post Office, District, and PIN code.</a:t>
            </a:r>
          </a:p>
        </p:txBody>
      </p:sp>
      <p:sp>
        <p:nvSpPr>
          <p:cNvPr id="9" name="Rounded Rectangle 8"/>
          <p:cNvSpPr/>
          <p:nvPr/>
        </p:nvSpPr>
        <p:spPr>
          <a:xfrm>
            <a:off x="6217920" y="1463040"/>
            <a:ext cx="5242255" cy="4754880"/>
          </a:xfrm>
          <a:prstGeom prst="roundRect">
            <a:avLst/>
          </a:prstGeom>
          <a:solidFill>
            <a:srgbClr val="F0F7FF"/>
          </a:solidFill>
          <a:ln w="1524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46520" y="1645920"/>
            <a:ext cx="4785055" cy="4389120"/>
          </a:xfrm>
          <a:prstGeom prst="rect">
            <a:avLst/>
          </a:prstGeom>
          <a:noFill/>
        </p:spPr>
        <p:txBody>
          <a:bodyPr wrap="square">
            <a:spAutoFit/>
          </a:bodyPr>
          <a:lstStyle/>
          <a:p>
            <a:pPr>
              <a:spcAft>
                <a:spcPts val="800"/>
              </a:spcAft>
              <a:defRPr sz="1400" b="1">
                <a:solidFill>
                  <a:srgbClr val="0F172A"/>
                </a:solidFill>
              </a:defRPr>
            </a:pPr>
            <a:r>
              <a:t>✂️  Cropping Photo &amp; Upload (Steps 5 to 8)</a:t>
            </a:r>
          </a:p>
          <a:p>
            <a:pPr>
              <a:spcAft>
                <a:spcPts val="600"/>
              </a:spcAft>
              <a:defRPr sz="1150">
                <a:solidFill>
                  <a:srgbClr val="1E293B"/>
                </a:solidFill>
              </a:defRPr>
            </a:pPr>
            <a:r>
              <a:t>•  Step 5: The user takes a screenshot of their ID card and opens MS Paint or a mobile cropping app.</a:t>
            </a:r>
          </a:p>
          <a:p>
            <a:pPr>
              <a:spcAft>
                <a:spcPts val="600"/>
              </a:spcAft>
              <a:defRPr sz="1150">
                <a:solidFill>
                  <a:srgbClr val="1E293B"/>
                </a:solidFill>
              </a:defRPr>
            </a:pPr>
            <a:r>
              <a:t>•  Step 6: They manually crop around their face and try to resize the file to be under 2MB.</a:t>
            </a:r>
          </a:p>
          <a:p>
            <a:pPr>
              <a:spcAft>
                <a:spcPts val="600"/>
              </a:spcAft>
              <a:defRPr sz="1150">
                <a:solidFill>
                  <a:srgbClr val="1E293B"/>
                </a:solidFill>
              </a:defRPr>
            </a:pPr>
            <a:r>
              <a:t>•  Step 7: They upload the photo and identity documents one-by-one.</a:t>
            </a:r>
          </a:p>
          <a:p>
            <a:pPr>
              <a:spcAft>
                <a:spcPts val="600"/>
              </a:spcAft>
              <a:defRPr sz="1150">
                <a:solidFill>
                  <a:srgbClr val="1E293B"/>
                </a:solidFill>
              </a:defRPr>
            </a:pPr>
            <a:r>
              <a:t>•  Step 8: The entire process takes 10 to 15 minutes of slow, frustrating manual effort.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A56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228600"/>
            <a:ext cx="4754880" cy="347472"/>
          </a:xfrm>
          <a:prstGeom prst="roundRect">
            <a:avLst/>
          </a:prstGeom>
          <a:solidFill>
            <a:srgbClr val="EFF6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37744"/>
            <a:ext cx="4572000" cy="320040"/>
          </a:xfrm>
          <a:prstGeom prst="rect">
            <a:avLst/>
          </a:prstGeom>
          <a:noFill/>
        </p:spPr>
        <p:txBody>
          <a:bodyPr wrap="square">
            <a:spAutoFit/>
          </a:bodyPr>
          <a:lstStyle/>
          <a:p>
            <a:pPr>
              <a:defRPr sz="1050" b="1">
                <a:solidFill>
                  <a:srgbClr val="1E40AF"/>
                </a:solidFill>
              </a:defRPr>
            </a:pPr>
            <a:r>
              <a:t>B.E. COMPUTER SCIENCE &amp; ENGINEERING | FIRST REVIEW</a:t>
            </a:r>
          </a:p>
        </p:txBody>
      </p:sp>
      <p:sp>
        <p:nvSpPr>
          <p:cNvPr id="5" name="TextBox 4"/>
          <p:cNvSpPr txBox="1"/>
          <p:nvPr/>
        </p:nvSpPr>
        <p:spPr>
          <a:xfrm>
            <a:off x="9875520" y="228600"/>
            <a:ext cx="1645920" cy="320040"/>
          </a:xfrm>
          <a:prstGeom prst="rect">
            <a:avLst/>
          </a:prstGeom>
          <a:noFill/>
        </p:spPr>
        <p:txBody>
          <a:bodyPr wrap="none">
            <a:spAutoFit/>
          </a:bodyPr>
          <a:lstStyle/>
          <a:p>
            <a:pPr algn="r">
              <a:defRPr sz="1100" b="1">
                <a:solidFill>
                  <a:srgbClr val="64748B"/>
                </a:solidFill>
              </a:defRPr>
            </a:pPr>
            <a:r>
              <a:t>Slide 9 of 16</a:t>
            </a:r>
          </a:p>
        </p:txBody>
      </p:sp>
      <p:sp>
        <p:nvSpPr>
          <p:cNvPr id="6" name="TextBox 5"/>
          <p:cNvSpPr txBox="1"/>
          <p:nvPr/>
        </p:nvSpPr>
        <p:spPr>
          <a:xfrm>
            <a:off x="731520" y="658368"/>
            <a:ext cx="10728655" cy="685800"/>
          </a:xfrm>
          <a:prstGeom prst="rect">
            <a:avLst/>
          </a:prstGeom>
          <a:noFill/>
        </p:spPr>
        <p:txBody>
          <a:bodyPr wrap="square">
            <a:spAutoFit/>
          </a:bodyPr>
          <a:lstStyle/>
          <a:p>
            <a:pPr>
              <a:defRPr sz="2200" b="1">
                <a:solidFill>
                  <a:srgbClr val="0F172A"/>
                </a:solidFill>
              </a:defRPr>
            </a:pPr>
            <a:r>
              <a:t>Limitations of the Existing System</a:t>
            </a:r>
          </a:p>
          <a:p>
            <a:pPr>
              <a:defRPr sz="1150">
                <a:solidFill>
                  <a:srgbClr val="64748B"/>
                </a:solidFill>
              </a:defRPr>
            </a:pPr>
            <a:r>
              <a:t>Why the current manual system fails</a:t>
            </a:r>
          </a:p>
        </p:txBody>
      </p:sp>
      <p:sp>
        <p:nvSpPr>
          <p:cNvPr id="7" name="Rounded Rectangle 6"/>
          <p:cNvSpPr/>
          <p:nvPr/>
        </p:nvSpPr>
        <p:spPr>
          <a:xfrm>
            <a:off x="731520" y="1463040"/>
            <a:ext cx="5120640" cy="2331720"/>
          </a:xfrm>
          <a:prstGeom prst="roundRect">
            <a:avLst/>
          </a:prstGeom>
          <a:solidFill>
            <a:srgbClr val="FFF1F2"/>
          </a:solidFill>
          <a:ln w="15240">
            <a:solidFill>
              <a:srgbClr val="FECDD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0120" y="1645920"/>
            <a:ext cx="4663440" cy="1965960"/>
          </a:xfrm>
          <a:prstGeom prst="rect">
            <a:avLst/>
          </a:prstGeom>
          <a:noFill/>
        </p:spPr>
        <p:txBody>
          <a:bodyPr wrap="square">
            <a:spAutoFit/>
          </a:bodyPr>
          <a:lstStyle/>
          <a:p>
            <a:pPr>
              <a:spcAft>
                <a:spcPts val="800"/>
              </a:spcAft>
              <a:defRPr sz="1400" b="1">
                <a:solidFill>
                  <a:srgbClr val="0F172A"/>
                </a:solidFill>
              </a:defRPr>
            </a:pPr>
            <a:r>
              <a:t>❌  1. High Chance of Mistakes</a:t>
            </a:r>
          </a:p>
          <a:p>
            <a:pPr>
              <a:spcAft>
                <a:spcPts val="600"/>
              </a:spcAft>
              <a:defRPr sz="1150">
                <a:solidFill>
                  <a:srgbClr val="1E293B"/>
                </a:solidFill>
              </a:defRPr>
            </a:pPr>
            <a:r>
              <a:t>•  People often type birth dates in the wrong format (swapping day and month).</a:t>
            </a:r>
          </a:p>
          <a:p>
            <a:pPr>
              <a:spcAft>
                <a:spcPts val="600"/>
              </a:spcAft>
              <a:defRPr sz="1150">
                <a:solidFill>
                  <a:srgbClr val="1E293B"/>
                </a:solidFill>
              </a:defRPr>
            </a:pPr>
            <a:r>
              <a:t>•  Accidentally typing 'S/O Shankar' into the applicant name box.</a:t>
            </a:r>
          </a:p>
          <a:p>
            <a:pPr>
              <a:spcAft>
                <a:spcPts val="600"/>
              </a:spcAft>
              <a:defRPr sz="1150">
                <a:solidFill>
                  <a:srgbClr val="1E293B"/>
                </a:solidFill>
              </a:defRPr>
            </a:pPr>
            <a:r>
              <a:t>•  Mistyping digits in the 12-digit Aadhaar UID leading to rejection.</a:t>
            </a:r>
          </a:p>
        </p:txBody>
      </p:sp>
      <p:sp>
        <p:nvSpPr>
          <p:cNvPr id="9" name="Rounded Rectangle 8"/>
          <p:cNvSpPr/>
          <p:nvPr/>
        </p:nvSpPr>
        <p:spPr>
          <a:xfrm>
            <a:off x="6217920" y="1463040"/>
            <a:ext cx="5242255" cy="2331720"/>
          </a:xfrm>
          <a:prstGeom prst="roundRect">
            <a:avLst/>
          </a:prstGeom>
          <a:solidFill>
            <a:srgbClr val="FFF1F2"/>
          </a:solidFill>
          <a:ln w="15240">
            <a:solidFill>
              <a:srgbClr val="FECDD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46520" y="1645920"/>
            <a:ext cx="4785055" cy="1965960"/>
          </a:xfrm>
          <a:prstGeom prst="rect">
            <a:avLst/>
          </a:prstGeom>
          <a:noFill/>
        </p:spPr>
        <p:txBody>
          <a:bodyPr wrap="square">
            <a:spAutoFit/>
          </a:bodyPr>
          <a:lstStyle/>
          <a:p>
            <a:pPr>
              <a:spcAft>
                <a:spcPts val="800"/>
              </a:spcAft>
              <a:defRPr sz="1400" b="1">
                <a:solidFill>
                  <a:srgbClr val="0F172A"/>
                </a:solidFill>
              </a:defRPr>
            </a:pPr>
            <a:r>
              <a:t>⚠️  2. Privacy &amp; Security Risks</a:t>
            </a:r>
          </a:p>
          <a:p>
            <a:pPr>
              <a:spcAft>
                <a:spcPts val="600"/>
              </a:spcAft>
              <a:defRPr sz="1150">
                <a:solidFill>
                  <a:srgbClr val="1E293B"/>
                </a:solidFill>
              </a:defRPr>
            </a:pPr>
            <a:r>
              <a:t>•  Citizens leave Aadhaar copies in download folders at cyber cafes.</a:t>
            </a:r>
          </a:p>
          <a:p>
            <a:pPr>
              <a:spcAft>
                <a:spcPts val="600"/>
              </a:spcAft>
              <a:defRPr sz="1150">
                <a:solidFill>
                  <a:srgbClr val="1E293B"/>
                </a:solidFill>
              </a:defRPr>
            </a:pPr>
            <a:r>
              <a:t>•  Normal browser autofill saves sensitive identity data unencrypted.</a:t>
            </a:r>
          </a:p>
          <a:p>
            <a:pPr>
              <a:spcAft>
                <a:spcPts val="600"/>
              </a:spcAft>
              <a:defRPr sz="1150">
                <a:solidFill>
                  <a:srgbClr val="1E293B"/>
                </a:solidFill>
              </a:defRPr>
            </a:pPr>
            <a:r>
              <a:t>•  High risk of identity theft for rural and non-technical citizens.</a:t>
            </a:r>
          </a:p>
        </p:txBody>
      </p:sp>
      <p:sp>
        <p:nvSpPr>
          <p:cNvPr id="11" name="Rounded Rectangle 10"/>
          <p:cNvSpPr/>
          <p:nvPr/>
        </p:nvSpPr>
        <p:spPr>
          <a:xfrm>
            <a:off x="731520" y="3931920"/>
            <a:ext cx="5120640" cy="2331720"/>
          </a:xfrm>
          <a:prstGeom prst="roundRect">
            <a:avLst/>
          </a:prstGeom>
          <a:solidFill>
            <a:srgbClr val="FFF1F2"/>
          </a:solidFill>
          <a:ln w="15240">
            <a:solidFill>
              <a:srgbClr val="FECDD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60120" y="4114800"/>
            <a:ext cx="4663440" cy="1965960"/>
          </a:xfrm>
          <a:prstGeom prst="rect">
            <a:avLst/>
          </a:prstGeom>
          <a:noFill/>
        </p:spPr>
        <p:txBody>
          <a:bodyPr wrap="square">
            <a:spAutoFit/>
          </a:bodyPr>
          <a:lstStyle/>
          <a:p>
            <a:pPr>
              <a:spcAft>
                <a:spcPts val="800"/>
              </a:spcAft>
              <a:defRPr sz="1400" b="1">
                <a:solidFill>
                  <a:srgbClr val="0F172A"/>
                </a:solidFill>
              </a:defRPr>
            </a:pPr>
            <a:r>
              <a:t>⏳  3. Waste of Time &amp; Money</a:t>
            </a:r>
          </a:p>
          <a:p>
            <a:pPr>
              <a:spcAft>
                <a:spcPts val="600"/>
              </a:spcAft>
              <a:defRPr sz="1150">
                <a:solidFill>
                  <a:srgbClr val="1E293B"/>
                </a:solidFill>
              </a:defRPr>
            </a:pPr>
            <a:r>
              <a:t>•  Takes 10–15 minutes per person; long queues at registration camps.</a:t>
            </a:r>
          </a:p>
          <a:p>
            <a:pPr>
              <a:spcAft>
                <a:spcPts val="600"/>
              </a:spcAft>
              <a:defRPr sz="1150">
                <a:solidFill>
                  <a:srgbClr val="1E293B"/>
                </a:solidFill>
              </a:defRPr>
            </a:pPr>
            <a:r>
              <a:t>•  Citizens pay Rs. 50 to Rs. 100 at internet centers just for basic typing.</a:t>
            </a:r>
          </a:p>
          <a:p>
            <a:pPr>
              <a:spcAft>
                <a:spcPts val="600"/>
              </a:spcAft>
              <a:defRPr sz="1150">
                <a:solidFill>
                  <a:srgbClr val="1E293B"/>
                </a:solidFill>
              </a:defRPr>
            </a:pPr>
            <a:r>
              <a:t>•  Many first-time voters give up halfway because of photo size errors.</a:t>
            </a:r>
          </a:p>
        </p:txBody>
      </p:sp>
      <p:sp>
        <p:nvSpPr>
          <p:cNvPr id="13" name="Rounded Rectangle 12"/>
          <p:cNvSpPr/>
          <p:nvPr/>
        </p:nvSpPr>
        <p:spPr>
          <a:xfrm>
            <a:off x="6217920" y="3931920"/>
            <a:ext cx="5242255" cy="2331720"/>
          </a:xfrm>
          <a:prstGeom prst="roundRect">
            <a:avLst/>
          </a:prstGeom>
          <a:solidFill>
            <a:srgbClr val="FFF1F2"/>
          </a:solidFill>
          <a:ln w="15240">
            <a:solidFill>
              <a:srgbClr val="FECDD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46520" y="4114800"/>
            <a:ext cx="4785055" cy="1965960"/>
          </a:xfrm>
          <a:prstGeom prst="rect">
            <a:avLst/>
          </a:prstGeom>
          <a:noFill/>
        </p:spPr>
        <p:txBody>
          <a:bodyPr wrap="square">
            <a:spAutoFit/>
          </a:bodyPr>
          <a:lstStyle/>
          <a:p>
            <a:pPr>
              <a:spcAft>
                <a:spcPts val="800"/>
              </a:spcAft>
              <a:defRPr sz="1400" b="1">
                <a:solidFill>
                  <a:srgbClr val="0F172A"/>
                </a:solidFill>
              </a:defRPr>
            </a:pPr>
            <a:r>
              <a:t>🔍  4. Zero Document Checking</a:t>
            </a:r>
          </a:p>
          <a:p>
            <a:pPr>
              <a:spcAft>
                <a:spcPts val="600"/>
              </a:spcAft>
              <a:defRPr sz="1150">
                <a:solidFill>
                  <a:srgbClr val="1E293B"/>
                </a:solidFill>
              </a:defRPr>
            </a:pPr>
            <a:r>
              <a:t>•  The website does not verify if the typed name matches the uploaded document.</a:t>
            </a:r>
          </a:p>
          <a:p>
            <a:pPr>
              <a:spcAft>
                <a:spcPts val="600"/>
              </a:spcAft>
              <a:defRPr sz="1150">
                <a:solidFill>
                  <a:srgbClr val="1E293B"/>
                </a:solidFill>
              </a:defRPr>
            </a:pPr>
            <a:r>
              <a:t>•  Government officers have to manually check every typo during field verification.</a:t>
            </a:r>
          </a:p>
          <a:p>
            <a:pPr>
              <a:spcAft>
                <a:spcPts val="600"/>
              </a:spcAft>
              <a:defRPr sz="1150">
                <a:solidFill>
                  <a:srgbClr val="1E293B"/>
                </a:solidFill>
              </a:defRPr>
            </a:pPr>
            <a:r>
              <a:t>•  Creates a huge backlog of delayed voter identity cards.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A56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228600"/>
            <a:ext cx="4754880" cy="347472"/>
          </a:xfrm>
          <a:prstGeom prst="roundRect">
            <a:avLst/>
          </a:prstGeom>
          <a:solidFill>
            <a:srgbClr val="EFF6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37744"/>
            <a:ext cx="4572000" cy="320040"/>
          </a:xfrm>
          <a:prstGeom prst="rect">
            <a:avLst/>
          </a:prstGeom>
          <a:noFill/>
        </p:spPr>
        <p:txBody>
          <a:bodyPr wrap="square">
            <a:spAutoFit/>
          </a:bodyPr>
          <a:lstStyle/>
          <a:p>
            <a:pPr>
              <a:defRPr sz="1050" b="1">
                <a:solidFill>
                  <a:srgbClr val="1E40AF"/>
                </a:solidFill>
              </a:defRPr>
            </a:pPr>
            <a:r>
              <a:t>B.E. COMPUTER SCIENCE &amp; ENGINEERING | FIRST REVIEW</a:t>
            </a:r>
          </a:p>
        </p:txBody>
      </p:sp>
      <p:sp>
        <p:nvSpPr>
          <p:cNvPr id="5" name="TextBox 4"/>
          <p:cNvSpPr txBox="1"/>
          <p:nvPr/>
        </p:nvSpPr>
        <p:spPr>
          <a:xfrm>
            <a:off x="9875520" y="228600"/>
            <a:ext cx="1645920" cy="320040"/>
          </a:xfrm>
          <a:prstGeom prst="rect">
            <a:avLst/>
          </a:prstGeom>
          <a:noFill/>
        </p:spPr>
        <p:txBody>
          <a:bodyPr wrap="none">
            <a:spAutoFit/>
          </a:bodyPr>
          <a:lstStyle/>
          <a:p>
            <a:pPr algn="r">
              <a:defRPr sz="1100" b="1">
                <a:solidFill>
                  <a:srgbClr val="64748B"/>
                </a:solidFill>
              </a:defRPr>
            </a:pPr>
            <a:r>
              <a:t>Slide 10 of 16</a:t>
            </a:r>
          </a:p>
        </p:txBody>
      </p:sp>
      <p:sp>
        <p:nvSpPr>
          <p:cNvPr id="6" name="TextBox 5"/>
          <p:cNvSpPr txBox="1"/>
          <p:nvPr/>
        </p:nvSpPr>
        <p:spPr>
          <a:xfrm>
            <a:off x="731520" y="658368"/>
            <a:ext cx="10728655" cy="685800"/>
          </a:xfrm>
          <a:prstGeom prst="rect">
            <a:avLst/>
          </a:prstGeom>
          <a:noFill/>
        </p:spPr>
        <p:txBody>
          <a:bodyPr wrap="square">
            <a:spAutoFit/>
          </a:bodyPr>
          <a:lstStyle/>
          <a:p>
            <a:pPr>
              <a:defRPr sz="2200" b="1">
                <a:solidFill>
                  <a:srgbClr val="0F172A"/>
                </a:solidFill>
              </a:defRPr>
            </a:pPr>
            <a:r>
              <a:t>Proposed System: How Our Solution Works</a:t>
            </a:r>
          </a:p>
          <a:p>
            <a:pPr>
              <a:defRPr sz="1150">
                <a:solidFill>
                  <a:srgbClr val="64748B"/>
                </a:solidFill>
              </a:defRPr>
            </a:pPr>
            <a:r>
              <a:t>Overview of what we built</a:t>
            </a:r>
          </a:p>
        </p:txBody>
      </p:sp>
      <p:sp>
        <p:nvSpPr>
          <p:cNvPr id="7" name="Rounded Rectangle 6"/>
          <p:cNvSpPr/>
          <p:nvPr/>
        </p:nvSpPr>
        <p:spPr>
          <a:xfrm>
            <a:off x="731520" y="1463040"/>
            <a:ext cx="5120640" cy="4754880"/>
          </a:xfrm>
          <a:prstGeom prst="roundRect">
            <a:avLst/>
          </a:prstGeom>
          <a:solidFill>
            <a:srgbClr val="F0F7FF"/>
          </a:solidFill>
          <a:ln w="1524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0120" y="1645920"/>
            <a:ext cx="4663440" cy="4389120"/>
          </a:xfrm>
          <a:prstGeom prst="rect">
            <a:avLst/>
          </a:prstGeom>
          <a:noFill/>
        </p:spPr>
        <p:txBody>
          <a:bodyPr wrap="square">
            <a:spAutoFit/>
          </a:bodyPr>
          <a:lstStyle/>
          <a:p>
            <a:pPr>
              <a:spcAft>
                <a:spcPts val="800"/>
              </a:spcAft>
              <a:defRPr sz="1400" b="1">
                <a:solidFill>
                  <a:srgbClr val="0F172A"/>
                </a:solidFill>
              </a:defRPr>
            </a:pPr>
            <a:r>
              <a:t>✨  Key Features of Our System</a:t>
            </a:r>
          </a:p>
          <a:p>
            <a:pPr>
              <a:spcAft>
                <a:spcPts val="600"/>
              </a:spcAft>
              <a:defRPr sz="1150">
                <a:solidFill>
                  <a:srgbClr val="1E293B"/>
                </a:solidFill>
              </a:defRPr>
            </a:pPr>
            <a:r>
              <a:t>•  1. Easy Multi-File Upload: Drag and drop front and back images, or a PDF. Add files one by one or all together.</a:t>
            </a:r>
          </a:p>
          <a:p>
            <a:pPr>
              <a:spcAft>
                <a:spcPts val="600"/>
              </a:spcAft>
              <a:defRPr sz="1150">
                <a:solidFill>
                  <a:srgbClr val="1E293B"/>
                </a:solidFill>
              </a:defRPr>
            </a:pPr>
            <a:r>
              <a:t>•  2. 100% Private (No Cloud): Everything is processed locally on the laptop. No data is sent over the internet.</a:t>
            </a:r>
          </a:p>
          <a:p>
            <a:pPr>
              <a:spcAft>
                <a:spcPts val="600"/>
              </a:spcAft>
              <a:defRPr sz="1150">
                <a:solidFill>
                  <a:srgbClr val="1E293B"/>
                </a:solidFill>
              </a:defRPr>
            </a:pPr>
            <a:r>
              <a:t>•  3. Smart OCR + AI: EasyOCR reads all text; Meta Llama 3.2 AI arranges the text into Name, DOB, Address, etc.</a:t>
            </a:r>
          </a:p>
          <a:p>
            <a:pPr>
              <a:spcAft>
                <a:spcPts val="600"/>
              </a:spcAft>
              <a:defRPr sz="1150">
                <a:solidFill>
                  <a:srgbClr val="1E293B"/>
                </a:solidFill>
              </a:defRPr>
            </a:pPr>
            <a:r>
              <a:t>•  4. Automatic Face Cropping: Deep learning face detector finds the face on the card and crops a perfect passport photo.</a:t>
            </a:r>
          </a:p>
        </p:txBody>
      </p:sp>
      <p:sp>
        <p:nvSpPr>
          <p:cNvPr id="9" name="Rounded Rectangle 8"/>
          <p:cNvSpPr/>
          <p:nvPr/>
        </p:nvSpPr>
        <p:spPr>
          <a:xfrm>
            <a:off x="6217920" y="1463040"/>
            <a:ext cx="5242255" cy="4754880"/>
          </a:xfrm>
          <a:prstGeom prst="roundRect">
            <a:avLst/>
          </a:prstGeom>
          <a:solidFill>
            <a:srgbClr val="F0FDF4"/>
          </a:solidFill>
          <a:ln w="15240">
            <a:solidFill>
              <a:srgbClr val="BBF7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46520" y="1645920"/>
            <a:ext cx="4785055" cy="4389120"/>
          </a:xfrm>
          <a:prstGeom prst="rect">
            <a:avLst/>
          </a:prstGeom>
          <a:noFill/>
        </p:spPr>
        <p:txBody>
          <a:bodyPr wrap="square">
            <a:spAutoFit/>
          </a:bodyPr>
          <a:lstStyle/>
          <a:p>
            <a:pPr>
              <a:spcAft>
                <a:spcPts val="800"/>
              </a:spcAft>
              <a:defRPr sz="1400" b="1">
                <a:solidFill>
                  <a:srgbClr val="0F172A"/>
                </a:solidFill>
              </a:defRPr>
            </a:pPr>
            <a:r>
              <a:t>⚡  Accuracy &amp; Speed Improvements</a:t>
            </a:r>
          </a:p>
          <a:p>
            <a:pPr>
              <a:spcAft>
                <a:spcPts val="600"/>
              </a:spcAft>
              <a:defRPr sz="1150">
                <a:solidFill>
                  <a:srgbClr val="1E293B"/>
                </a:solidFill>
              </a:defRPr>
            </a:pPr>
            <a:r>
              <a:t>•  5. Accurate Aadhaar Extraction: Custom rules ensure the 12-digit Aadhaar number is picked, ignoring 14-digit enrolment numbers.</a:t>
            </a:r>
          </a:p>
          <a:p>
            <a:pPr>
              <a:spcAft>
                <a:spcPts val="600"/>
              </a:spcAft>
              <a:defRPr sz="1150">
                <a:solidFill>
                  <a:srgbClr val="1E293B"/>
                </a:solidFill>
              </a:defRPr>
            </a:pPr>
            <a:r>
              <a:t>•  6. Clean Address Parsing: Automatically separates Door No (e.g. 78) from Street Name and removes legal disclaimer text.</a:t>
            </a:r>
          </a:p>
          <a:p>
            <a:pPr>
              <a:spcAft>
                <a:spcPts val="600"/>
              </a:spcAft>
              <a:defRPr sz="1150">
                <a:solidFill>
                  <a:srgbClr val="1E293B"/>
                </a:solidFill>
              </a:defRPr>
            </a:pPr>
            <a:r>
              <a:t>•  7. Automatic Dropdown Selection: Automatically selects 'Father' or 'Husband' in the relationship dropdown.</a:t>
            </a:r>
          </a:p>
          <a:p>
            <a:pPr>
              <a:spcAft>
                <a:spcPts val="600"/>
              </a:spcAft>
              <a:defRPr sz="1150">
                <a:solidFill>
                  <a:srgbClr val="1E293B"/>
                </a:solidFill>
              </a:defRPr>
            </a:pPr>
            <a:r>
              <a:t>•  8. Lightning Fast: Entire process completes in under 25 seconds with a single click.</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A56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228600"/>
            <a:ext cx="4754880" cy="347472"/>
          </a:xfrm>
          <a:prstGeom prst="roundRect">
            <a:avLst/>
          </a:prstGeom>
          <a:solidFill>
            <a:srgbClr val="EFF6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37744"/>
            <a:ext cx="4572000" cy="320040"/>
          </a:xfrm>
          <a:prstGeom prst="rect">
            <a:avLst/>
          </a:prstGeom>
          <a:noFill/>
        </p:spPr>
        <p:txBody>
          <a:bodyPr wrap="square">
            <a:spAutoFit/>
          </a:bodyPr>
          <a:lstStyle/>
          <a:p>
            <a:pPr>
              <a:defRPr sz="1050" b="1">
                <a:solidFill>
                  <a:srgbClr val="1E40AF"/>
                </a:solidFill>
              </a:defRPr>
            </a:pPr>
            <a:r>
              <a:t>B.E. COMPUTER SCIENCE &amp; ENGINEERING | FIRST REVIEW</a:t>
            </a:r>
          </a:p>
        </p:txBody>
      </p:sp>
      <p:sp>
        <p:nvSpPr>
          <p:cNvPr id="5" name="TextBox 4"/>
          <p:cNvSpPr txBox="1"/>
          <p:nvPr/>
        </p:nvSpPr>
        <p:spPr>
          <a:xfrm>
            <a:off x="9875520" y="228600"/>
            <a:ext cx="1645920" cy="320040"/>
          </a:xfrm>
          <a:prstGeom prst="rect">
            <a:avLst/>
          </a:prstGeom>
          <a:noFill/>
        </p:spPr>
        <p:txBody>
          <a:bodyPr wrap="none">
            <a:spAutoFit/>
          </a:bodyPr>
          <a:lstStyle/>
          <a:p>
            <a:pPr algn="r">
              <a:defRPr sz="1100" b="1">
                <a:solidFill>
                  <a:srgbClr val="64748B"/>
                </a:solidFill>
              </a:defRPr>
            </a:pPr>
            <a:r>
              <a:t>Slide 11 of 16</a:t>
            </a:r>
          </a:p>
        </p:txBody>
      </p:sp>
      <p:sp>
        <p:nvSpPr>
          <p:cNvPr id="6" name="TextBox 5"/>
          <p:cNvSpPr txBox="1"/>
          <p:nvPr/>
        </p:nvSpPr>
        <p:spPr>
          <a:xfrm>
            <a:off x="731520" y="658368"/>
            <a:ext cx="10728655" cy="685800"/>
          </a:xfrm>
          <a:prstGeom prst="rect">
            <a:avLst/>
          </a:prstGeom>
          <a:noFill/>
        </p:spPr>
        <p:txBody>
          <a:bodyPr wrap="square">
            <a:spAutoFit/>
          </a:bodyPr>
          <a:lstStyle/>
          <a:p>
            <a:pPr>
              <a:defRPr sz="2200" b="1">
                <a:solidFill>
                  <a:srgbClr val="0F172A"/>
                </a:solidFill>
              </a:defRPr>
            </a:pPr>
            <a:r>
              <a:t>Proposed Methodology &amp; System Architecture</a:t>
            </a:r>
          </a:p>
          <a:p>
            <a:pPr>
              <a:defRPr sz="1150">
                <a:solidFill>
                  <a:srgbClr val="64748B"/>
                </a:solidFill>
              </a:defRPr>
            </a:pPr>
            <a:r>
              <a:t>Step-by-step pipeline of our engine</a:t>
            </a:r>
          </a:p>
        </p:txBody>
      </p:sp>
      <p:sp>
        <p:nvSpPr>
          <p:cNvPr id="7" name="Rounded Rectangle 6"/>
          <p:cNvSpPr/>
          <p:nvPr/>
        </p:nvSpPr>
        <p:spPr>
          <a:xfrm>
            <a:off x="731520" y="1463040"/>
            <a:ext cx="3328416" cy="2240280"/>
          </a:xfrm>
          <a:prstGeom prst="roundRect">
            <a:avLst/>
          </a:prstGeom>
          <a:solidFill>
            <a:srgbClr val="F0F7FF"/>
          </a:solidFill>
          <a:ln w="1524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1600200"/>
            <a:ext cx="3054096" cy="1920240"/>
          </a:xfrm>
          <a:prstGeom prst="rect">
            <a:avLst/>
          </a:prstGeom>
          <a:noFill/>
        </p:spPr>
        <p:txBody>
          <a:bodyPr wrap="square">
            <a:spAutoFit/>
          </a:bodyPr>
          <a:lstStyle/>
          <a:p>
            <a:pPr>
              <a:spcAft>
                <a:spcPts val="400"/>
              </a:spcAft>
              <a:defRPr sz="1100" b="1">
                <a:solidFill>
                  <a:srgbClr val="1A56DB"/>
                </a:solidFill>
              </a:defRPr>
            </a:pPr>
            <a:r>
              <a:t>STEP 01</a:t>
            </a:r>
          </a:p>
          <a:p>
            <a:pPr>
              <a:spcAft>
                <a:spcPts val="600"/>
              </a:spcAft>
              <a:defRPr sz="1400" b="1">
                <a:solidFill>
                  <a:srgbClr val="0F172A"/>
                </a:solidFill>
              </a:defRPr>
            </a:pPr>
            <a:r>
              <a:t>Upload Document</a:t>
            </a:r>
          </a:p>
          <a:p>
            <a:pPr>
              <a:defRPr sz="1100">
                <a:solidFill>
                  <a:srgbClr val="1E293B"/>
                </a:solidFill>
              </a:defRPr>
            </a:pPr>
            <a:r>
              <a:t>User drops Front/Back card images or PDF file on website.</a:t>
            </a:r>
          </a:p>
        </p:txBody>
      </p:sp>
      <p:sp>
        <p:nvSpPr>
          <p:cNvPr id="9" name="Rounded Rectangle 8"/>
          <p:cNvSpPr/>
          <p:nvPr/>
        </p:nvSpPr>
        <p:spPr>
          <a:xfrm>
            <a:off x="4425696" y="1463040"/>
            <a:ext cx="3328416" cy="2240280"/>
          </a:xfrm>
          <a:prstGeom prst="roundRect">
            <a:avLst/>
          </a:prstGeom>
          <a:solidFill>
            <a:srgbClr val="F0F7FF"/>
          </a:solidFill>
          <a:ln w="1524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62856" y="1600200"/>
            <a:ext cx="3054096" cy="1920240"/>
          </a:xfrm>
          <a:prstGeom prst="rect">
            <a:avLst/>
          </a:prstGeom>
          <a:noFill/>
        </p:spPr>
        <p:txBody>
          <a:bodyPr wrap="square">
            <a:spAutoFit/>
          </a:bodyPr>
          <a:lstStyle/>
          <a:p>
            <a:pPr>
              <a:spcAft>
                <a:spcPts val="400"/>
              </a:spcAft>
              <a:defRPr sz="1100" b="1">
                <a:solidFill>
                  <a:srgbClr val="1A56DB"/>
                </a:solidFill>
              </a:defRPr>
            </a:pPr>
            <a:r>
              <a:t>STEP 02</a:t>
            </a:r>
          </a:p>
          <a:p>
            <a:pPr>
              <a:spcAft>
                <a:spcPts val="600"/>
              </a:spcAft>
              <a:defRPr sz="1400" b="1">
                <a:solidFill>
                  <a:srgbClr val="0F172A"/>
                </a:solidFill>
              </a:defRPr>
            </a:pPr>
            <a:r>
              <a:t>300 DPI Rendering</a:t>
            </a:r>
          </a:p>
          <a:p>
            <a:pPr>
              <a:defRPr sz="1100">
                <a:solidFill>
                  <a:srgbClr val="1E293B"/>
                </a:solidFill>
              </a:defRPr>
            </a:pPr>
            <a:r>
              <a:t>pypdfium2 converts PDF pages to sharp images for clear OCR.</a:t>
            </a:r>
          </a:p>
        </p:txBody>
      </p:sp>
      <p:sp>
        <p:nvSpPr>
          <p:cNvPr id="11" name="Rounded Rectangle 10"/>
          <p:cNvSpPr/>
          <p:nvPr/>
        </p:nvSpPr>
        <p:spPr>
          <a:xfrm>
            <a:off x="8119872" y="1463040"/>
            <a:ext cx="3328416" cy="2240280"/>
          </a:xfrm>
          <a:prstGeom prst="roundRect">
            <a:avLst/>
          </a:prstGeom>
          <a:solidFill>
            <a:srgbClr val="F0F7FF"/>
          </a:solidFill>
          <a:ln w="1524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57031" y="1600200"/>
            <a:ext cx="3054096" cy="1920240"/>
          </a:xfrm>
          <a:prstGeom prst="rect">
            <a:avLst/>
          </a:prstGeom>
          <a:noFill/>
        </p:spPr>
        <p:txBody>
          <a:bodyPr wrap="square">
            <a:spAutoFit/>
          </a:bodyPr>
          <a:lstStyle/>
          <a:p>
            <a:pPr>
              <a:spcAft>
                <a:spcPts val="400"/>
              </a:spcAft>
              <a:defRPr sz="1100" b="1">
                <a:solidFill>
                  <a:srgbClr val="1A56DB"/>
                </a:solidFill>
              </a:defRPr>
            </a:pPr>
            <a:r>
              <a:t>STEP 03</a:t>
            </a:r>
          </a:p>
          <a:p>
            <a:pPr>
              <a:spcAft>
                <a:spcPts val="600"/>
              </a:spcAft>
              <a:defRPr sz="1400" b="1">
                <a:solidFill>
                  <a:srgbClr val="0F172A"/>
                </a:solidFill>
              </a:defRPr>
            </a:pPr>
            <a:r>
              <a:t>Text Reading (OCR)</a:t>
            </a:r>
          </a:p>
          <a:p>
            <a:pPr>
              <a:defRPr sz="1100">
                <a:solidFill>
                  <a:srgbClr val="1E293B"/>
                </a:solidFill>
              </a:defRPr>
            </a:pPr>
            <a:r>
              <a:t>EasyOCR extracts all text lines across English &amp; Indian scripts.</a:t>
            </a:r>
          </a:p>
        </p:txBody>
      </p:sp>
      <p:sp>
        <p:nvSpPr>
          <p:cNvPr id="13" name="Rounded Rectangle 12"/>
          <p:cNvSpPr/>
          <p:nvPr/>
        </p:nvSpPr>
        <p:spPr>
          <a:xfrm>
            <a:off x="731520" y="3977639"/>
            <a:ext cx="3328416" cy="2240280"/>
          </a:xfrm>
          <a:prstGeom prst="roundRect">
            <a:avLst/>
          </a:prstGeom>
          <a:solidFill>
            <a:srgbClr val="F0FDF4"/>
          </a:solidFill>
          <a:ln w="15240">
            <a:solidFill>
              <a:srgbClr val="BBF7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8680" y="4114800"/>
            <a:ext cx="3054096" cy="1920240"/>
          </a:xfrm>
          <a:prstGeom prst="rect">
            <a:avLst/>
          </a:prstGeom>
          <a:noFill/>
        </p:spPr>
        <p:txBody>
          <a:bodyPr wrap="square">
            <a:spAutoFit/>
          </a:bodyPr>
          <a:lstStyle/>
          <a:p>
            <a:pPr>
              <a:spcAft>
                <a:spcPts val="400"/>
              </a:spcAft>
              <a:defRPr sz="1100" b="1">
                <a:solidFill>
                  <a:srgbClr val="10B981"/>
                </a:solidFill>
              </a:defRPr>
            </a:pPr>
            <a:r>
              <a:t>STEP 04</a:t>
            </a:r>
          </a:p>
          <a:p>
            <a:pPr>
              <a:spcAft>
                <a:spcPts val="600"/>
              </a:spcAft>
              <a:defRPr sz="1400" b="1">
                <a:solidFill>
                  <a:srgbClr val="0F172A"/>
                </a:solidFill>
              </a:defRPr>
            </a:pPr>
            <a:r>
              <a:t>Face Cropping</a:t>
            </a:r>
          </a:p>
          <a:p>
            <a:pPr>
              <a:defRPr sz="1100">
                <a:solidFill>
                  <a:srgbClr val="1E293B"/>
                </a:solidFill>
              </a:defRPr>
            </a:pPr>
            <a:r>
              <a:t>OpenCV YuNet AI finds the face and cuts out a 1:1 passport photo.</a:t>
            </a:r>
          </a:p>
        </p:txBody>
      </p:sp>
      <p:sp>
        <p:nvSpPr>
          <p:cNvPr id="15" name="Rounded Rectangle 14"/>
          <p:cNvSpPr/>
          <p:nvPr/>
        </p:nvSpPr>
        <p:spPr>
          <a:xfrm>
            <a:off x="4425696" y="3977639"/>
            <a:ext cx="3328416" cy="2240280"/>
          </a:xfrm>
          <a:prstGeom prst="roundRect">
            <a:avLst/>
          </a:prstGeom>
          <a:solidFill>
            <a:srgbClr val="F0FDF4"/>
          </a:solidFill>
          <a:ln w="15240">
            <a:solidFill>
              <a:srgbClr val="BBF7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62856" y="4114800"/>
            <a:ext cx="3054096" cy="1920240"/>
          </a:xfrm>
          <a:prstGeom prst="rect">
            <a:avLst/>
          </a:prstGeom>
          <a:noFill/>
        </p:spPr>
        <p:txBody>
          <a:bodyPr wrap="square">
            <a:spAutoFit/>
          </a:bodyPr>
          <a:lstStyle/>
          <a:p>
            <a:pPr>
              <a:spcAft>
                <a:spcPts val="400"/>
              </a:spcAft>
              <a:defRPr sz="1100" b="1">
                <a:solidFill>
                  <a:srgbClr val="10B981"/>
                </a:solidFill>
              </a:defRPr>
            </a:pPr>
            <a:r>
              <a:t>STEP 05</a:t>
            </a:r>
          </a:p>
          <a:p>
            <a:pPr>
              <a:spcAft>
                <a:spcPts val="600"/>
              </a:spcAft>
              <a:defRPr sz="1400" b="1">
                <a:solidFill>
                  <a:srgbClr val="0F172A"/>
                </a:solidFill>
              </a:defRPr>
            </a:pPr>
            <a:r>
              <a:t>Local AI Sorting</a:t>
            </a:r>
          </a:p>
          <a:p>
            <a:pPr>
              <a:defRPr sz="1100">
                <a:solidFill>
                  <a:srgbClr val="1E293B"/>
                </a:solidFill>
              </a:defRPr>
            </a:pPr>
            <a:r>
              <a:t>Meta Llama 3.2 AI sorts text into Name, DOB, Father Name &amp; Address.</a:t>
            </a:r>
          </a:p>
        </p:txBody>
      </p:sp>
      <p:sp>
        <p:nvSpPr>
          <p:cNvPr id="17" name="Rounded Rectangle 16"/>
          <p:cNvSpPr/>
          <p:nvPr/>
        </p:nvSpPr>
        <p:spPr>
          <a:xfrm>
            <a:off x="8119872" y="3977639"/>
            <a:ext cx="3328416" cy="2240280"/>
          </a:xfrm>
          <a:prstGeom prst="roundRect">
            <a:avLst/>
          </a:prstGeom>
          <a:solidFill>
            <a:srgbClr val="F0FDF4"/>
          </a:solidFill>
          <a:ln w="15240">
            <a:solidFill>
              <a:srgbClr val="BBF7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57031" y="4114800"/>
            <a:ext cx="3054096" cy="1920240"/>
          </a:xfrm>
          <a:prstGeom prst="rect">
            <a:avLst/>
          </a:prstGeom>
          <a:noFill/>
        </p:spPr>
        <p:txBody>
          <a:bodyPr wrap="square">
            <a:spAutoFit/>
          </a:bodyPr>
          <a:lstStyle/>
          <a:p>
            <a:pPr>
              <a:spcAft>
                <a:spcPts val="400"/>
              </a:spcAft>
              <a:defRPr sz="1100" b="1">
                <a:solidFill>
                  <a:srgbClr val="10B981"/>
                </a:solidFill>
              </a:defRPr>
            </a:pPr>
            <a:r>
              <a:t>STEP 06</a:t>
            </a:r>
          </a:p>
          <a:p>
            <a:pPr>
              <a:spcAft>
                <a:spcPts val="600"/>
              </a:spcAft>
              <a:defRPr sz="1400" b="1">
                <a:solidFill>
                  <a:srgbClr val="0F172A"/>
                </a:solidFill>
              </a:defRPr>
            </a:pPr>
            <a:r>
              <a:t>Rules &amp; Autofill</a:t>
            </a:r>
          </a:p>
          <a:p>
            <a:pPr>
              <a:defRPr sz="1100">
                <a:solidFill>
                  <a:srgbClr val="1E293B"/>
                </a:solidFill>
              </a:defRPr>
            </a:pPr>
            <a:r>
              <a:t>Python cleans Aadhaar UID and fills Form 6 inputs automatically!</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A56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228600"/>
            <a:ext cx="4754880" cy="347472"/>
          </a:xfrm>
          <a:prstGeom prst="roundRect">
            <a:avLst/>
          </a:prstGeom>
          <a:solidFill>
            <a:srgbClr val="EFF6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37744"/>
            <a:ext cx="4572000" cy="320040"/>
          </a:xfrm>
          <a:prstGeom prst="rect">
            <a:avLst/>
          </a:prstGeom>
          <a:noFill/>
        </p:spPr>
        <p:txBody>
          <a:bodyPr wrap="square">
            <a:spAutoFit/>
          </a:bodyPr>
          <a:lstStyle/>
          <a:p>
            <a:pPr>
              <a:defRPr sz="1050" b="1">
                <a:solidFill>
                  <a:srgbClr val="1E40AF"/>
                </a:solidFill>
              </a:defRPr>
            </a:pPr>
            <a:r>
              <a:t>B.E. COMPUTER SCIENCE &amp; ENGINEERING | FIRST REVIEW</a:t>
            </a:r>
          </a:p>
        </p:txBody>
      </p:sp>
      <p:sp>
        <p:nvSpPr>
          <p:cNvPr id="5" name="TextBox 4"/>
          <p:cNvSpPr txBox="1"/>
          <p:nvPr/>
        </p:nvSpPr>
        <p:spPr>
          <a:xfrm>
            <a:off x="9875520" y="228600"/>
            <a:ext cx="1645920" cy="320040"/>
          </a:xfrm>
          <a:prstGeom prst="rect">
            <a:avLst/>
          </a:prstGeom>
          <a:noFill/>
        </p:spPr>
        <p:txBody>
          <a:bodyPr wrap="none">
            <a:spAutoFit/>
          </a:bodyPr>
          <a:lstStyle/>
          <a:p>
            <a:pPr algn="r">
              <a:defRPr sz="1100" b="1">
                <a:solidFill>
                  <a:srgbClr val="64748B"/>
                </a:solidFill>
              </a:defRPr>
            </a:pPr>
            <a:r>
              <a:t>Slide 12 of 16</a:t>
            </a:r>
          </a:p>
        </p:txBody>
      </p:sp>
      <p:sp>
        <p:nvSpPr>
          <p:cNvPr id="6" name="TextBox 5"/>
          <p:cNvSpPr txBox="1"/>
          <p:nvPr/>
        </p:nvSpPr>
        <p:spPr>
          <a:xfrm>
            <a:off x="731520" y="658368"/>
            <a:ext cx="10728655" cy="685800"/>
          </a:xfrm>
          <a:prstGeom prst="rect">
            <a:avLst/>
          </a:prstGeom>
          <a:noFill/>
        </p:spPr>
        <p:txBody>
          <a:bodyPr wrap="square">
            <a:spAutoFit/>
          </a:bodyPr>
          <a:lstStyle/>
          <a:p>
            <a:pPr>
              <a:defRPr sz="2200" b="1">
                <a:solidFill>
                  <a:srgbClr val="0F172A"/>
                </a:solidFill>
              </a:defRPr>
            </a:pPr>
            <a:r>
              <a:t>Tools &amp; Technologies Used</a:t>
            </a:r>
          </a:p>
          <a:p>
            <a:pPr>
              <a:defRPr sz="1150">
                <a:solidFill>
                  <a:srgbClr val="64748B"/>
                </a:solidFill>
              </a:defRPr>
            </a:pPr>
            <a:r>
              <a:t>Components chosen and why we chose them</a:t>
            </a:r>
          </a:p>
        </p:txBody>
      </p:sp>
      <p:sp>
        <p:nvSpPr>
          <p:cNvPr id="7" name="Rounded Rectangle 6"/>
          <p:cNvSpPr/>
          <p:nvPr/>
        </p:nvSpPr>
        <p:spPr>
          <a:xfrm>
            <a:off x="731520" y="1463040"/>
            <a:ext cx="5120640" cy="2331720"/>
          </a:xfrm>
          <a:prstGeom prst="roundRect">
            <a:avLst/>
          </a:prstGeom>
          <a:solidFill>
            <a:srgbClr val="F0F7FF"/>
          </a:solidFill>
          <a:ln w="1524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0120" y="1645920"/>
            <a:ext cx="4663440" cy="1965960"/>
          </a:xfrm>
          <a:prstGeom prst="rect">
            <a:avLst/>
          </a:prstGeom>
          <a:noFill/>
        </p:spPr>
        <p:txBody>
          <a:bodyPr wrap="square">
            <a:spAutoFit/>
          </a:bodyPr>
          <a:lstStyle/>
          <a:p>
            <a:pPr>
              <a:spcAft>
                <a:spcPts val="800"/>
              </a:spcAft>
              <a:defRPr sz="1400" b="1">
                <a:solidFill>
                  <a:srgbClr val="0F172A"/>
                </a:solidFill>
              </a:defRPr>
            </a:pPr>
            <a:r>
              <a:t>⚙️  1. Backend: Python &amp; FastAPI</a:t>
            </a:r>
          </a:p>
          <a:p>
            <a:pPr>
              <a:spcAft>
                <a:spcPts val="600"/>
              </a:spcAft>
              <a:defRPr sz="1150">
                <a:solidFill>
                  <a:srgbClr val="1E293B"/>
                </a:solidFill>
              </a:defRPr>
            </a:pPr>
            <a:r>
              <a:t>•  Python 3.12: Main programming language.</a:t>
            </a:r>
          </a:p>
          <a:p>
            <a:pPr>
              <a:spcAft>
                <a:spcPts val="600"/>
              </a:spcAft>
              <a:defRPr sz="1150">
                <a:solidFill>
                  <a:srgbClr val="1E293B"/>
                </a:solidFill>
              </a:defRPr>
            </a:pPr>
            <a:r>
              <a:t>•  FastAPI: Asynchronous, high-speed backend API.</a:t>
            </a:r>
          </a:p>
          <a:p>
            <a:pPr>
              <a:spcAft>
                <a:spcPts val="600"/>
              </a:spcAft>
              <a:defRPr sz="1150">
                <a:solidFill>
                  <a:srgbClr val="1E293B"/>
                </a:solidFill>
              </a:defRPr>
            </a:pPr>
            <a:r>
              <a:t>•  Uvicorn: Runs the local web server on port 8000.</a:t>
            </a:r>
          </a:p>
          <a:p>
            <a:pPr>
              <a:spcAft>
                <a:spcPts val="600"/>
              </a:spcAft>
              <a:defRPr sz="1150">
                <a:solidFill>
                  <a:srgbClr val="1E293B"/>
                </a:solidFill>
              </a:defRPr>
            </a:pPr>
            <a:r>
              <a:t>•  Why chosen: Fast, lightweight, and connects directly with AI libraries.</a:t>
            </a:r>
          </a:p>
        </p:txBody>
      </p:sp>
      <p:sp>
        <p:nvSpPr>
          <p:cNvPr id="9" name="Rounded Rectangle 8"/>
          <p:cNvSpPr/>
          <p:nvPr/>
        </p:nvSpPr>
        <p:spPr>
          <a:xfrm>
            <a:off x="6217920" y="1463040"/>
            <a:ext cx="5242255" cy="233172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46520" y="1645920"/>
            <a:ext cx="4785055" cy="1965960"/>
          </a:xfrm>
          <a:prstGeom prst="rect">
            <a:avLst/>
          </a:prstGeom>
          <a:noFill/>
        </p:spPr>
        <p:txBody>
          <a:bodyPr wrap="square">
            <a:spAutoFit/>
          </a:bodyPr>
          <a:lstStyle/>
          <a:p>
            <a:pPr>
              <a:spcAft>
                <a:spcPts val="800"/>
              </a:spcAft>
              <a:defRPr sz="1400" b="1">
                <a:solidFill>
                  <a:srgbClr val="0F172A"/>
                </a:solidFill>
              </a:defRPr>
            </a:pPr>
            <a:r>
              <a:t>📖  2. Text Reading: EasyOCR</a:t>
            </a:r>
          </a:p>
          <a:p>
            <a:pPr>
              <a:spcAft>
                <a:spcPts val="600"/>
              </a:spcAft>
              <a:defRPr sz="1150">
                <a:solidFill>
                  <a:srgbClr val="1E293B"/>
                </a:solidFill>
              </a:defRPr>
            </a:pPr>
            <a:r>
              <a:t>•  EasyOCR (PyTorch): Deep learning optical character reader.</a:t>
            </a:r>
          </a:p>
          <a:p>
            <a:pPr>
              <a:spcAft>
                <a:spcPts val="600"/>
              </a:spcAft>
              <a:defRPr sz="1150">
                <a:solidFill>
                  <a:srgbClr val="1E293B"/>
                </a:solidFill>
              </a:defRPr>
            </a:pPr>
            <a:r>
              <a:t>•  Reads English and Indian regional text (Tamil, Hindi, etc.).</a:t>
            </a:r>
          </a:p>
          <a:p>
            <a:pPr>
              <a:spcAft>
                <a:spcPts val="600"/>
              </a:spcAft>
              <a:defRPr sz="1150">
                <a:solidFill>
                  <a:srgbClr val="1E293B"/>
                </a:solidFill>
              </a:defRPr>
            </a:pPr>
            <a:r>
              <a:t>•  pypdfium2: Renders PDF documents into 300 DPI images.</a:t>
            </a:r>
          </a:p>
          <a:p>
            <a:pPr>
              <a:spcAft>
                <a:spcPts val="600"/>
              </a:spcAft>
              <a:defRPr sz="1150">
                <a:solidFill>
                  <a:srgbClr val="1E293B"/>
                </a:solidFill>
              </a:defRPr>
            </a:pPr>
            <a:r>
              <a:t>•  Why chosen: Highly accurate on complex Indian ID layouts.</a:t>
            </a:r>
          </a:p>
        </p:txBody>
      </p:sp>
      <p:sp>
        <p:nvSpPr>
          <p:cNvPr id="11" name="Rounded Rectangle 10"/>
          <p:cNvSpPr/>
          <p:nvPr/>
        </p:nvSpPr>
        <p:spPr>
          <a:xfrm>
            <a:off x="731520" y="3931920"/>
            <a:ext cx="5120640" cy="2331720"/>
          </a:xfrm>
          <a:prstGeom prst="roundRect">
            <a:avLst/>
          </a:prstGeom>
          <a:solidFill>
            <a:srgbClr val="F0FDF4"/>
          </a:solidFill>
          <a:ln w="15240">
            <a:solidFill>
              <a:srgbClr val="BBF7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60120" y="4114800"/>
            <a:ext cx="4663440" cy="1965960"/>
          </a:xfrm>
          <a:prstGeom prst="rect">
            <a:avLst/>
          </a:prstGeom>
          <a:noFill/>
        </p:spPr>
        <p:txBody>
          <a:bodyPr wrap="square">
            <a:spAutoFit/>
          </a:bodyPr>
          <a:lstStyle/>
          <a:p>
            <a:pPr>
              <a:spcAft>
                <a:spcPts val="800"/>
              </a:spcAft>
              <a:defRPr sz="1400" b="1">
                <a:solidFill>
                  <a:srgbClr val="0F172A"/>
                </a:solidFill>
              </a:defRPr>
            </a:pPr>
            <a:r>
              <a:t>🧠  3. Local AI: Meta Llama 3.2</a:t>
            </a:r>
          </a:p>
          <a:p>
            <a:pPr>
              <a:spcAft>
                <a:spcPts val="600"/>
              </a:spcAft>
              <a:defRPr sz="1150">
                <a:solidFill>
                  <a:srgbClr val="1E293B"/>
                </a:solidFill>
              </a:defRPr>
            </a:pPr>
            <a:r>
              <a:t>•  Meta Llama 3.2 (3B): Small Language Model created by Meta AI.</a:t>
            </a:r>
          </a:p>
          <a:p>
            <a:pPr>
              <a:spcAft>
                <a:spcPts val="600"/>
              </a:spcAft>
              <a:defRPr sz="1150">
                <a:solidFill>
                  <a:srgbClr val="1E293B"/>
                </a:solidFill>
              </a:defRPr>
            </a:pPr>
            <a:r>
              <a:t>•  Ollama: Software that runs Llama 3.2 locally on the laptop.</a:t>
            </a:r>
          </a:p>
          <a:p>
            <a:pPr>
              <a:spcAft>
                <a:spcPts val="600"/>
              </a:spcAft>
              <a:defRPr sz="1150">
                <a:solidFill>
                  <a:srgbClr val="1E293B"/>
                </a:solidFill>
              </a:defRPr>
            </a:pPr>
            <a:r>
              <a:t>•  Converts messy OCR text into clean, structured fields.</a:t>
            </a:r>
          </a:p>
          <a:p>
            <a:pPr>
              <a:spcAft>
                <a:spcPts val="600"/>
              </a:spcAft>
              <a:defRPr sz="1150">
                <a:solidFill>
                  <a:srgbClr val="1E293B"/>
                </a:solidFill>
              </a:defRPr>
            </a:pPr>
            <a:r>
              <a:t>•  Why chosen: Works offline without internet, keeping personal data 100% safe.</a:t>
            </a:r>
          </a:p>
        </p:txBody>
      </p:sp>
      <p:sp>
        <p:nvSpPr>
          <p:cNvPr id="13" name="Rounded Rectangle 12"/>
          <p:cNvSpPr/>
          <p:nvPr/>
        </p:nvSpPr>
        <p:spPr>
          <a:xfrm>
            <a:off x="6217920" y="3931920"/>
            <a:ext cx="5242255" cy="233172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46520" y="4114800"/>
            <a:ext cx="4785055" cy="1965960"/>
          </a:xfrm>
          <a:prstGeom prst="rect">
            <a:avLst/>
          </a:prstGeom>
          <a:noFill/>
        </p:spPr>
        <p:txBody>
          <a:bodyPr wrap="square">
            <a:spAutoFit/>
          </a:bodyPr>
          <a:lstStyle/>
          <a:p>
            <a:pPr>
              <a:spcAft>
                <a:spcPts val="800"/>
              </a:spcAft>
              <a:defRPr sz="1400" b="1">
                <a:solidFill>
                  <a:srgbClr val="0F172A"/>
                </a:solidFill>
              </a:defRPr>
            </a:pPr>
            <a:r>
              <a:t>👁️  4. Face Cropping: OpenCV YuNet</a:t>
            </a:r>
          </a:p>
          <a:p>
            <a:pPr>
              <a:spcAft>
                <a:spcPts val="600"/>
              </a:spcAft>
              <a:defRPr sz="1150">
                <a:solidFill>
                  <a:srgbClr val="1E293B"/>
                </a:solidFill>
              </a:defRPr>
            </a:pPr>
            <a:r>
              <a:t>•  OpenCV YuNet: Modern deep learning face detector.</a:t>
            </a:r>
          </a:p>
          <a:p>
            <a:pPr>
              <a:spcAft>
                <a:spcPts val="600"/>
              </a:spcAft>
              <a:defRPr sz="1150">
                <a:solidFill>
                  <a:srgbClr val="1E293B"/>
                </a:solidFill>
              </a:defRPr>
            </a:pPr>
            <a:r>
              <a:t>•  Small 232 KB model that achieves over 92% face accuracy.</a:t>
            </a:r>
          </a:p>
          <a:p>
            <a:pPr>
              <a:spcAft>
                <a:spcPts val="600"/>
              </a:spcAft>
              <a:defRPr sz="1150">
                <a:solidFill>
                  <a:srgbClr val="1E293B"/>
                </a:solidFill>
              </a:defRPr>
            </a:pPr>
            <a:r>
              <a:t>•  Frontend: Clean Semantic HTML5, CSS3, and JavaScript.</a:t>
            </a:r>
          </a:p>
          <a:p>
            <a:pPr>
              <a:spcAft>
                <a:spcPts val="600"/>
              </a:spcAft>
              <a:defRPr sz="1150">
                <a:solidFill>
                  <a:srgbClr val="1E293B"/>
                </a:solidFill>
              </a:defRPr>
            </a:pPr>
            <a:r>
              <a:t>•  Why chosen: Crops 1:1 passport photos automatically on any normal laptop.</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A56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228600"/>
            <a:ext cx="4754880" cy="347472"/>
          </a:xfrm>
          <a:prstGeom prst="roundRect">
            <a:avLst/>
          </a:prstGeom>
          <a:solidFill>
            <a:srgbClr val="EFF6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37744"/>
            <a:ext cx="4572000" cy="320040"/>
          </a:xfrm>
          <a:prstGeom prst="rect">
            <a:avLst/>
          </a:prstGeom>
          <a:noFill/>
        </p:spPr>
        <p:txBody>
          <a:bodyPr wrap="square">
            <a:spAutoFit/>
          </a:bodyPr>
          <a:lstStyle/>
          <a:p>
            <a:pPr>
              <a:defRPr sz="1050" b="1">
                <a:solidFill>
                  <a:srgbClr val="1E40AF"/>
                </a:solidFill>
              </a:defRPr>
            </a:pPr>
            <a:r>
              <a:t>B.E. COMPUTER SCIENCE &amp; ENGINEERING | FIRST REVIEW</a:t>
            </a:r>
          </a:p>
        </p:txBody>
      </p:sp>
      <p:sp>
        <p:nvSpPr>
          <p:cNvPr id="5" name="TextBox 4"/>
          <p:cNvSpPr txBox="1"/>
          <p:nvPr/>
        </p:nvSpPr>
        <p:spPr>
          <a:xfrm>
            <a:off x="9875520" y="228600"/>
            <a:ext cx="1645920" cy="320040"/>
          </a:xfrm>
          <a:prstGeom prst="rect">
            <a:avLst/>
          </a:prstGeom>
          <a:noFill/>
        </p:spPr>
        <p:txBody>
          <a:bodyPr wrap="none">
            <a:spAutoFit/>
          </a:bodyPr>
          <a:lstStyle/>
          <a:p>
            <a:pPr algn="r">
              <a:defRPr sz="1100" b="1">
                <a:solidFill>
                  <a:srgbClr val="64748B"/>
                </a:solidFill>
              </a:defRPr>
            </a:pPr>
            <a:r>
              <a:t>Slide 13 of 16</a:t>
            </a:r>
          </a:p>
        </p:txBody>
      </p:sp>
      <p:sp>
        <p:nvSpPr>
          <p:cNvPr id="6" name="TextBox 5"/>
          <p:cNvSpPr txBox="1"/>
          <p:nvPr/>
        </p:nvSpPr>
        <p:spPr>
          <a:xfrm>
            <a:off x="731520" y="658368"/>
            <a:ext cx="10728655" cy="685800"/>
          </a:xfrm>
          <a:prstGeom prst="rect">
            <a:avLst/>
          </a:prstGeom>
          <a:noFill/>
        </p:spPr>
        <p:txBody>
          <a:bodyPr wrap="square">
            <a:spAutoFit/>
          </a:bodyPr>
          <a:lstStyle/>
          <a:p>
            <a:pPr>
              <a:defRPr sz="2200" b="1">
                <a:solidFill>
                  <a:srgbClr val="0F172A"/>
                </a:solidFill>
              </a:defRPr>
            </a:pPr>
            <a:r>
              <a:t>Work Completed So Far (Our Working Results)</a:t>
            </a:r>
          </a:p>
          <a:p>
            <a:pPr>
              <a:defRPr sz="1150">
                <a:solidFill>
                  <a:srgbClr val="64748B"/>
                </a:solidFill>
              </a:defRPr>
            </a:pPr>
            <a:r>
              <a:t>Fully working prototype already built and tested</a:t>
            </a:r>
          </a:p>
        </p:txBody>
      </p:sp>
      <p:sp>
        <p:nvSpPr>
          <p:cNvPr id="7" name="Rounded Rectangle 6"/>
          <p:cNvSpPr/>
          <p:nvPr/>
        </p:nvSpPr>
        <p:spPr>
          <a:xfrm>
            <a:off x="731520" y="1463040"/>
            <a:ext cx="5120640" cy="2331720"/>
          </a:xfrm>
          <a:prstGeom prst="roundRect">
            <a:avLst/>
          </a:prstGeom>
          <a:solidFill>
            <a:srgbClr val="F0FDF4"/>
          </a:solidFill>
          <a:ln w="15240">
            <a:solidFill>
              <a:srgbClr val="BBF7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0120" y="1645920"/>
            <a:ext cx="4663440" cy="1965960"/>
          </a:xfrm>
          <a:prstGeom prst="rect">
            <a:avLst/>
          </a:prstGeom>
          <a:noFill/>
        </p:spPr>
        <p:txBody>
          <a:bodyPr wrap="square">
            <a:spAutoFit/>
          </a:bodyPr>
          <a:lstStyle/>
          <a:p>
            <a:pPr>
              <a:spcAft>
                <a:spcPts val="800"/>
              </a:spcAft>
              <a:defRPr sz="1400" b="1">
                <a:solidFill>
                  <a:srgbClr val="0F172A"/>
                </a:solidFill>
              </a:defRPr>
            </a:pPr>
            <a:r>
              <a:t>✅  1. Multi-Document File Manager</a:t>
            </a:r>
          </a:p>
          <a:p>
            <a:pPr>
              <a:spcAft>
                <a:spcPts val="600"/>
              </a:spcAft>
              <a:defRPr sz="1150">
                <a:solidFill>
                  <a:srgbClr val="1E293B"/>
                </a:solidFill>
              </a:defRPr>
            </a:pPr>
            <a:r>
              <a:t>•  Built an interactive drag-and-drop file uploader.</a:t>
            </a:r>
          </a:p>
          <a:p>
            <a:pPr>
              <a:spcAft>
                <a:spcPts val="600"/>
              </a:spcAft>
              <a:defRPr sz="1150">
                <a:solidFill>
                  <a:srgbClr val="1E293B"/>
                </a:solidFill>
              </a:defRPr>
            </a:pPr>
            <a:r>
              <a:t>•  Users can attach Front PNG, Back PNG, and multi-page PDFs.</a:t>
            </a:r>
          </a:p>
          <a:p>
            <a:pPr>
              <a:spcAft>
                <a:spcPts val="600"/>
              </a:spcAft>
              <a:defRPr sz="1150">
                <a:solidFill>
                  <a:srgbClr val="1E293B"/>
                </a:solidFill>
              </a:defRPr>
            </a:pPr>
            <a:r>
              <a:t>•  Shows file size badges and an 'X' button to remove files.</a:t>
            </a:r>
          </a:p>
          <a:p>
            <a:pPr>
              <a:spcAft>
                <a:spcPts val="600"/>
              </a:spcAft>
              <a:defRPr sz="1150">
                <a:solidFill>
                  <a:srgbClr val="1E293B"/>
                </a:solidFill>
              </a:defRPr>
            </a:pPr>
            <a:r>
              <a:t>•  Status: 100% Completed &amp; Verified.</a:t>
            </a:r>
          </a:p>
        </p:txBody>
      </p:sp>
      <p:sp>
        <p:nvSpPr>
          <p:cNvPr id="9" name="Rounded Rectangle 8"/>
          <p:cNvSpPr/>
          <p:nvPr/>
        </p:nvSpPr>
        <p:spPr>
          <a:xfrm>
            <a:off x="6217920" y="1463040"/>
            <a:ext cx="5242255" cy="2331720"/>
          </a:xfrm>
          <a:prstGeom prst="roundRect">
            <a:avLst/>
          </a:prstGeom>
          <a:solidFill>
            <a:srgbClr val="F0FDF4"/>
          </a:solidFill>
          <a:ln w="15240">
            <a:solidFill>
              <a:srgbClr val="BBF7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46520" y="1645920"/>
            <a:ext cx="4785055" cy="1965960"/>
          </a:xfrm>
          <a:prstGeom prst="rect">
            <a:avLst/>
          </a:prstGeom>
          <a:noFill/>
        </p:spPr>
        <p:txBody>
          <a:bodyPr wrap="square">
            <a:spAutoFit/>
          </a:bodyPr>
          <a:lstStyle/>
          <a:p>
            <a:pPr>
              <a:spcAft>
                <a:spcPts val="800"/>
              </a:spcAft>
              <a:defRPr sz="1400" b="1">
                <a:solidFill>
                  <a:srgbClr val="0F172A"/>
                </a:solidFill>
              </a:defRPr>
            </a:pPr>
            <a:r>
              <a:t>✅  2. Deep Learning Face Cropping</a:t>
            </a:r>
          </a:p>
          <a:p>
            <a:pPr>
              <a:spcAft>
                <a:spcPts val="600"/>
              </a:spcAft>
              <a:defRPr sz="1150">
                <a:solidFill>
                  <a:srgbClr val="1E293B"/>
                </a:solidFill>
              </a:defRPr>
            </a:pPr>
            <a:r>
              <a:t>•  Integrated OpenCV YuNet neural network (232 KB model).</a:t>
            </a:r>
          </a:p>
          <a:p>
            <a:pPr>
              <a:spcAft>
                <a:spcPts val="600"/>
              </a:spcAft>
              <a:defRPr sz="1150">
                <a:solidFill>
                  <a:srgbClr val="1E293B"/>
                </a:solidFill>
              </a:defRPr>
            </a:pPr>
            <a:r>
              <a:t>•  Finds the applicant's face on the card with over 92% confidence.</a:t>
            </a:r>
          </a:p>
          <a:p>
            <a:pPr>
              <a:spcAft>
                <a:spcPts val="600"/>
              </a:spcAft>
              <a:defRPr sz="1150">
                <a:solidFill>
                  <a:srgbClr val="1E293B"/>
                </a:solidFill>
              </a:defRPr>
            </a:pPr>
            <a:r>
              <a:t>•  Crops a clean 1:1 passport photo with proper margins around head.</a:t>
            </a:r>
          </a:p>
          <a:p>
            <a:pPr>
              <a:spcAft>
                <a:spcPts val="600"/>
              </a:spcAft>
              <a:defRPr sz="1150">
                <a:solidFill>
                  <a:srgbClr val="1E293B"/>
                </a:solidFill>
              </a:defRPr>
            </a:pPr>
            <a:r>
              <a:t>•  Skin-tone filter prevents accidentally cropping text boxes.</a:t>
            </a:r>
          </a:p>
        </p:txBody>
      </p:sp>
      <p:sp>
        <p:nvSpPr>
          <p:cNvPr id="11" name="Rounded Rectangle 10"/>
          <p:cNvSpPr/>
          <p:nvPr/>
        </p:nvSpPr>
        <p:spPr>
          <a:xfrm>
            <a:off x="731520" y="3931920"/>
            <a:ext cx="5120640" cy="2331720"/>
          </a:xfrm>
          <a:prstGeom prst="roundRect">
            <a:avLst/>
          </a:prstGeom>
          <a:solidFill>
            <a:srgbClr val="F0F7FF"/>
          </a:solidFill>
          <a:ln w="1524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60120" y="4114800"/>
            <a:ext cx="4663440" cy="1965960"/>
          </a:xfrm>
          <a:prstGeom prst="rect">
            <a:avLst/>
          </a:prstGeom>
          <a:noFill/>
        </p:spPr>
        <p:txBody>
          <a:bodyPr wrap="square">
            <a:spAutoFit/>
          </a:bodyPr>
          <a:lstStyle/>
          <a:p>
            <a:pPr>
              <a:spcAft>
                <a:spcPts val="800"/>
              </a:spcAft>
              <a:defRPr sz="1400" b="1">
                <a:solidFill>
                  <a:srgbClr val="0F172A"/>
                </a:solidFill>
              </a:defRPr>
            </a:pPr>
            <a:r>
              <a:t>✅  3. Accurate Aadhaar &amp; Relation</a:t>
            </a:r>
          </a:p>
          <a:p>
            <a:pPr>
              <a:spcAft>
                <a:spcPts val="600"/>
              </a:spcAft>
              <a:defRPr sz="1150">
                <a:solidFill>
                  <a:srgbClr val="1E293B"/>
                </a:solidFill>
              </a:defRPr>
            </a:pPr>
            <a:r>
              <a:t>•  Fixed Aadhaar extraction: Picks 12-digit UID (e.g. 6120 9678 1604) and ignores 14-digit enrolment numbers.</a:t>
            </a:r>
          </a:p>
          <a:p>
            <a:pPr>
              <a:spcAft>
                <a:spcPts val="600"/>
              </a:spcAft>
              <a:defRPr sz="1150">
                <a:solidFill>
                  <a:srgbClr val="1E293B"/>
                </a:solidFill>
              </a:defRPr>
            </a:pPr>
            <a:r>
              <a:t>•  Fixed Relative extraction: Handles 'SJO' or 'S/O' and extracts father's name ('Shankar').</a:t>
            </a:r>
          </a:p>
          <a:p>
            <a:pPr>
              <a:spcAft>
                <a:spcPts val="600"/>
              </a:spcAft>
              <a:defRPr sz="1150">
                <a:solidFill>
                  <a:srgbClr val="1E293B"/>
                </a:solidFill>
              </a:defRPr>
            </a:pPr>
            <a:r>
              <a:t>•  Automatically sets 'Father' in the relationship dropdown.</a:t>
            </a:r>
          </a:p>
        </p:txBody>
      </p:sp>
      <p:sp>
        <p:nvSpPr>
          <p:cNvPr id="13" name="Rounded Rectangle 12"/>
          <p:cNvSpPr/>
          <p:nvPr/>
        </p:nvSpPr>
        <p:spPr>
          <a:xfrm>
            <a:off x="6217920" y="3931920"/>
            <a:ext cx="5242255" cy="2331720"/>
          </a:xfrm>
          <a:prstGeom prst="roundRect">
            <a:avLst/>
          </a:prstGeom>
          <a:solidFill>
            <a:srgbClr val="F0F7FF"/>
          </a:solidFill>
          <a:ln w="1524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46520" y="4114800"/>
            <a:ext cx="4785055" cy="1965960"/>
          </a:xfrm>
          <a:prstGeom prst="rect">
            <a:avLst/>
          </a:prstGeom>
          <a:noFill/>
        </p:spPr>
        <p:txBody>
          <a:bodyPr wrap="square">
            <a:spAutoFit/>
          </a:bodyPr>
          <a:lstStyle/>
          <a:p>
            <a:pPr>
              <a:spcAft>
                <a:spcPts val="800"/>
              </a:spcAft>
              <a:defRPr sz="1400" b="1">
                <a:solidFill>
                  <a:srgbClr val="0F172A"/>
                </a:solidFill>
              </a:defRPr>
            </a:pPr>
            <a:r>
              <a:t>✅  4. Clean Address Splitting</a:t>
            </a:r>
          </a:p>
          <a:p>
            <a:pPr>
              <a:spcAft>
                <a:spcPts val="600"/>
              </a:spcAft>
              <a:defRPr sz="1150">
                <a:solidFill>
                  <a:srgbClr val="1E293B"/>
                </a:solidFill>
              </a:defRPr>
            </a:pPr>
            <a:r>
              <a:t>•  Filtered out legal warnings ('Documents to support identity...').</a:t>
            </a:r>
          </a:p>
          <a:p>
            <a:pPr>
              <a:spcAft>
                <a:spcPts val="600"/>
              </a:spcAft>
              <a:defRPr sz="1150">
                <a:solidFill>
                  <a:srgbClr val="1E293B"/>
                </a:solidFill>
              </a:defRPr>
            </a:pPr>
            <a:r>
              <a:t>•  Cleanly splits House/Door No ('78') and Street ('2ND STREET, INDRA GANDHI NAGAR').</a:t>
            </a:r>
          </a:p>
          <a:p>
            <a:pPr>
              <a:spcAft>
                <a:spcPts val="600"/>
              </a:spcAft>
              <a:defRPr sz="1150">
                <a:solidFill>
                  <a:srgbClr val="1E293B"/>
                </a:solidFill>
              </a:defRPr>
            </a:pPr>
            <a:r>
              <a:t>•  Converts Date of Birth to HTML date format ('21-02-2006').</a:t>
            </a:r>
          </a:p>
          <a:p>
            <a:pPr>
              <a:spcAft>
                <a:spcPts val="600"/>
              </a:spcAft>
              <a:defRPr sz="1150">
                <a:solidFill>
                  <a:srgbClr val="1E293B"/>
                </a:solidFill>
              </a:defRPr>
            </a:pPr>
            <a:r>
              <a:t>•  Code pushed to GitHub: github.com/deva-2006/govtAutofill.</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A56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228600"/>
            <a:ext cx="4754880" cy="347472"/>
          </a:xfrm>
          <a:prstGeom prst="roundRect">
            <a:avLst/>
          </a:prstGeom>
          <a:solidFill>
            <a:srgbClr val="EFF6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37744"/>
            <a:ext cx="4572000" cy="320040"/>
          </a:xfrm>
          <a:prstGeom prst="rect">
            <a:avLst/>
          </a:prstGeom>
          <a:noFill/>
        </p:spPr>
        <p:txBody>
          <a:bodyPr wrap="square">
            <a:spAutoFit/>
          </a:bodyPr>
          <a:lstStyle/>
          <a:p>
            <a:pPr>
              <a:defRPr sz="1050" b="1">
                <a:solidFill>
                  <a:srgbClr val="1E40AF"/>
                </a:solidFill>
              </a:defRPr>
            </a:pPr>
            <a:r>
              <a:t>B.E. COMPUTER SCIENCE &amp; ENGINEERING | FIRST REVIEW</a:t>
            </a:r>
          </a:p>
        </p:txBody>
      </p:sp>
      <p:sp>
        <p:nvSpPr>
          <p:cNvPr id="5" name="TextBox 4"/>
          <p:cNvSpPr txBox="1"/>
          <p:nvPr/>
        </p:nvSpPr>
        <p:spPr>
          <a:xfrm>
            <a:off x="9875520" y="228600"/>
            <a:ext cx="1645920" cy="320040"/>
          </a:xfrm>
          <a:prstGeom prst="rect">
            <a:avLst/>
          </a:prstGeom>
          <a:noFill/>
        </p:spPr>
        <p:txBody>
          <a:bodyPr wrap="none">
            <a:spAutoFit/>
          </a:bodyPr>
          <a:lstStyle/>
          <a:p>
            <a:pPr algn="r">
              <a:defRPr sz="1100" b="1">
                <a:solidFill>
                  <a:srgbClr val="64748B"/>
                </a:solidFill>
              </a:defRPr>
            </a:pPr>
            <a:r>
              <a:t>Slide 14 of 16</a:t>
            </a:r>
          </a:p>
        </p:txBody>
      </p:sp>
      <p:sp>
        <p:nvSpPr>
          <p:cNvPr id="6" name="TextBox 5"/>
          <p:cNvSpPr txBox="1"/>
          <p:nvPr/>
        </p:nvSpPr>
        <p:spPr>
          <a:xfrm>
            <a:off x="731520" y="658368"/>
            <a:ext cx="10728655" cy="685800"/>
          </a:xfrm>
          <a:prstGeom prst="rect">
            <a:avLst/>
          </a:prstGeom>
          <a:noFill/>
        </p:spPr>
        <p:txBody>
          <a:bodyPr wrap="square">
            <a:spAutoFit/>
          </a:bodyPr>
          <a:lstStyle/>
          <a:p>
            <a:pPr>
              <a:defRPr sz="2200" b="1">
                <a:solidFill>
                  <a:srgbClr val="0F172A"/>
                </a:solidFill>
              </a:defRPr>
            </a:pPr>
            <a:r>
              <a:t>Expected Outcomes: Big Benefits for Citizens</a:t>
            </a:r>
          </a:p>
          <a:p>
            <a:pPr>
              <a:defRPr sz="1150">
                <a:solidFill>
                  <a:srgbClr val="64748B"/>
                </a:solidFill>
              </a:defRPr>
            </a:pPr>
            <a:r>
              <a:t>Measurable improvements delivered by our system</a:t>
            </a:r>
          </a:p>
        </p:txBody>
      </p:sp>
      <p:sp>
        <p:nvSpPr>
          <p:cNvPr id="7" name="Rounded Rectangle 6"/>
          <p:cNvSpPr/>
          <p:nvPr/>
        </p:nvSpPr>
        <p:spPr>
          <a:xfrm>
            <a:off x="731520" y="1463040"/>
            <a:ext cx="5120640" cy="2331720"/>
          </a:xfrm>
          <a:prstGeom prst="roundRect">
            <a:avLst/>
          </a:prstGeom>
          <a:solidFill>
            <a:srgbClr val="F0FDF4"/>
          </a:solidFill>
          <a:ln w="15240">
            <a:solidFill>
              <a:srgbClr val="BBF7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0120" y="1645920"/>
            <a:ext cx="4663440" cy="1965960"/>
          </a:xfrm>
          <a:prstGeom prst="rect">
            <a:avLst/>
          </a:prstGeom>
          <a:noFill/>
        </p:spPr>
        <p:txBody>
          <a:bodyPr wrap="square">
            <a:spAutoFit/>
          </a:bodyPr>
          <a:lstStyle/>
          <a:p>
            <a:pPr>
              <a:spcAft>
                <a:spcPts val="800"/>
              </a:spcAft>
              <a:defRPr sz="1400" b="1">
                <a:solidFill>
                  <a:srgbClr val="0F172A"/>
                </a:solidFill>
              </a:defRPr>
            </a:pPr>
            <a:r>
              <a:t>⚡  1. 90% Faster Form Filling</a:t>
            </a:r>
          </a:p>
          <a:p>
            <a:pPr>
              <a:spcAft>
                <a:spcPts val="600"/>
              </a:spcAft>
              <a:defRPr sz="1150">
                <a:solidFill>
                  <a:srgbClr val="1E293B"/>
                </a:solidFill>
              </a:defRPr>
            </a:pPr>
            <a:r>
              <a:t>•  Manual time today: 10 to 15 minutes per form.</a:t>
            </a:r>
          </a:p>
          <a:p>
            <a:pPr>
              <a:spcAft>
                <a:spcPts val="600"/>
              </a:spcAft>
              <a:defRPr sz="1150">
                <a:solidFill>
                  <a:srgbClr val="1E293B"/>
                </a:solidFill>
              </a:defRPr>
            </a:pPr>
            <a:r>
              <a:t>•  With our system: Under 25 to 30 seconds.</a:t>
            </a:r>
          </a:p>
          <a:p>
            <a:pPr>
              <a:spcAft>
                <a:spcPts val="600"/>
              </a:spcAft>
              <a:defRPr sz="1150">
                <a:solidFill>
                  <a:srgbClr val="1E293B"/>
                </a:solidFill>
              </a:defRPr>
            </a:pPr>
            <a:r>
              <a:t>•  Saves huge amounts of time for citizens and registration camps.</a:t>
            </a:r>
          </a:p>
        </p:txBody>
      </p:sp>
      <p:sp>
        <p:nvSpPr>
          <p:cNvPr id="9" name="Rounded Rectangle 8"/>
          <p:cNvSpPr/>
          <p:nvPr/>
        </p:nvSpPr>
        <p:spPr>
          <a:xfrm>
            <a:off x="6217920" y="1463040"/>
            <a:ext cx="5242255" cy="2331720"/>
          </a:xfrm>
          <a:prstGeom prst="roundRect">
            <a:avLst/>
          </a:prstGeom>
          <a:solidFill>
            <a:srgbClr val="F0FDF4"/>
          </a:solidFill>
          <a:ln w="15240">
            <a:solidFill>
              <a:srgbClr val="BBF7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46520" y="1645920"/>
            <a:ext cx="4785055" cy="1965960"/>
          </a:xfrm>
          <a:prstGeom prst="rect">
            <a:avLst/>
          </a:prstGeom>
          <a:noFill/>
        </p:spPr>
        <p:txBody>
          <a:bodyPr wrap="square">
            <a:spAutoFit/>
          </a:bodyPr>
          <a:lstStyle/>
          <a:p>
            <a:pPr>
              <a:spcAft>
                <a:spcPts val="800"/>
              </a:spcAft>
              <a:defRPr sz="1400" b="1">
                <a:solidFill>
                  <a:srgbClr val="0F172A"/>
                </a:solidFill>
              </a:defRPr>
            </a:pPr>
            <a:r>
              <a:t>🎯  2. Almost Zero Typing Mistakes</a:t>
            </a:r>
          </a:p>
          <a:p>
            <a:pPr>
              <a:spcAft>
                <a:spcPts val="600"/>
              </a:spcAft>
              <a:defRPr sz="1150">
                <a:solidFill>
                  <a:srgbClr val="1E293B"/>
                </a:solidFill>
              </a:defRPr>
            </a:pPr>
            <a:r>
              <a:t>•  Typing error rate drops from ~20% to less than 2%.</a:t>
            </a:r>
          </a:p>
          <a:p>
            <a:pPr>
              <a:spcAft>
                <a:spcPts val="600"/>
              </a:spcAft>
              <a:defRPr sz="1150">
                <a:solidFill>
                  <a:srgbClr val="1E293B"/>
                </a:solidFill>
              </a:defRPr>
            </a:pPr>
            <a:r>
              <a:t>•  Eliminates wrong date formats and misspelled names.</a:t>
            </a:r>
          </a:p>
          <a:p>
            <a:pPr>
              <a:spcAft>
                <a:spcPts val="600"/>
              </a:spcAft>
              <a:defRPr sz="1150">
                <a:solidFill>
                  <a:srgbClr val="1E293B"/>
                </a:solidFill>
              </a:defRPr>
            </a:pPr>
            <a:r>
              <a:t>•  Applications get approved faster without administrative queries.</a:t>
            </a:r>
          </a:p>
        </p:txBody>
      </p:sp>
      <p:sp>
        <p:nvSpPr>
          <p:cNvPr id="11" name="Rounded Rectangle 10"/>
          <p:cNvSpPr/>
          <p:nvPr/>
        </p:nvSpPr>
        <p:spPr>
          <a:xfrm>
            <a:off x="731520" y="3931920"/>
            <a:ext cx="5120640" cy="2331720"/>
          </a:xfrm>
          <a:prstGeom prst="roundRect">
            <a:avLst/>
          </a:prstGeom>
          <a:solidFill>
            <a:srgbClr val="F0F7FF"/>
          </a:solidFill>
          <a:ln w="1524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60120" y="4114800"/>
            <a:ext cx="4663440" cy="1965960"/>
          </a:xfrm>
          <a:prstGeom prst="rect">
            <a:avLst/>
          </a:prstGeom>
          <a:noFill/>
        </p:spPr>
        <p:txBody>
          <a:bodyPr wrap="square">
            <a:spAutoFit/>
          </a:bodyPr>
          <a:lstStyle/>
          <a:p>
            <a:pPr>
              <a:spcAft>
                <a:spcPts val="800"/>
              </a:spcAft>
              <a:defRPr sz="1400" b="1">
                <a:solidFill>
                  <a:srgbClr val="0F172A"/>
                </a:solidFill>
              </a:defRPr>
            </a:pPr>
            <a:r>
              <a:t>🔒  3. 100% Data Privacy (Safe)</a:t>
            </a:r>
          </a:p>
          <a:p>
            <a:pPr>
              <a:spcAft>
                <a:spcPts val="600"/>
              </a:spcAft>
              <a:defRPr sz="1150">
                <a:solidFill>
                  <a:srgbClr val="1E293B"/>
                </a:solidFill>
              </a:defRPr>
            </a:pPr>
            <a:r>
              <a:t>•  All processing runs locally on the user's computer.</a:t>
            </a:r>
          </a:p>
          <a:p>
            <a:pPr>
              <a:spcAft>
                <a:spcPts val="600"/>
              </a:spcAft>
              <a:defRPr sz="1150">
                <a:solidFill>
                  <a:srgbClr val="1E293B"/>
                </a:solidFill>
              </a:defRPr>
            </a:pPr>
            <a:r>
              <a:t>•  No Aadhaar data is stored or sent to outside servers.</a:t>
            </a:r>
          </a:p>
          <a:p>
            <a:pPr>
              <a:spcAft>
                <a:spcPts val="600"/>
              </a:spcAft>
              <a:defRPr sz="1150">
                <a:solidFill>
                  <a:srgbClr val="1E293B"/>
                </a:solidFill>
              </a:defRPr>
            </a:pPr>
            <a:r>
              <a:t>•  Safe to use even on personal computers.</a:t>
            </a:r>
          </a:p>
        </p:txBody>
      </p:sp>
      <p:sp>
        <p:nvSpPr>
          <p:cNvPr id="13" name="Rounded Rectangle 12"/>
          <p:cNvSpPr/>
          <p:nvPr/>
        </p:nvSpPr>
        <p:spPr>
          <a:xfrm>
            <a:off x="6217920" y="3931920"/>
            <a:ext cx="5242255" cy="233172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46520" y="4114800"/>
            <a:ext cx="4785055" cy="1965960"/>
          </a:xfrm>
          <a:prstGeom prst="rect">
            <a:avLst/>
          </a:prstGeom>
          <a:noFill/>
        </p:spPr>
        <p:txBody>
          <a:bodyPr wrap="square">
            <a:spAutoFit/>
          </a:bodyPr>
          <a:lstStyle/>
          <a:p>
            <a:pPr>
              <a:spcAft>
                <a:spcPts val="800"/>
              </a:spcAft>
              <a:defRPr sz="1400" b="1">
                <a:solidFill>
                  <a:srgbClr val="0F172A"/>
                </a:solidFill>
              </a:defRPr>
            </a:pPr>
            <a:r>
              <a:t>🔄  4. Reusable for Other Forms</a:t>
            </a:r>
          </a:p>
          <a:p>
            <a:pPr>
              <a:spcAft>
                <a:spcPts val="600"/>
              </a:spcAft>
              <a:defRPr sz="1150">
                <a:solidFill>
                  <a:srgbClr val="1E293B"/>
                </a:solidFill>
              </a:defRPr>
            </a:pPr>
            <a:r>
              <a:t>•  Can be easily adapted for PAN card applications, Driving License forms, or College admissions.</a:t>
            </a:r>
          </a:p>
          <a:p>
            <a:pPr>
              <a:spcAft>
                <a:spcPts val="600"/>
              </a:spcAft>
              <a:defRPr sz="1150">
                <a:solidFill>
                  <a:srgbClr val="1E293B"/>
                </a:solidFill>
              </a:defRPr>
            </a:pPr>
            <a:r>
              <a:t>•  Works on normal 8GB RAM laptops without expensive GPUs.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A56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228600"/>
            <a:ext cx="4754880" cy="347472"/>
          </a:xfrm>
          <a:prstGeom prst="roundRect">
            <a:avLst/>
          </a:prstGeom>
          <a:solidFill>
            <a:srgbClr val="EFF6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37744"/>
            <a:ext cx="4572000" cy="320040"/>
          </a:xfrm>
          <a:prstGeom prst="rect">
            <a:avLst/>
          </a:prstGeom>
          <a:noFill/>
        </p:spPr>
        <p:txBody>
          <a:bodyPr wrap="square">
            <a:spAutoFit/>
          </a:bodyPr>
          <a:lstStyle/>
          <a:p>
            <a:pPr>
              <a:defRPr sz="1050" b="1">
                <a:solidFill>
                  <a:srgbClr val="1E40AF"/>
                </a:solidFill>
              </a:defRPr>
            </a:pPr>
            <a:r>
              <a:t>B.E. COMPUTER SCIENCE &amp; ENGINEERING | FIRST REVIEW</a:t>
            </a:r>
          </a:p>
        </p:txBody>
      </p:sp>
      <p:sp>
        <p:nvSpPr>
          <p:cNvPr id="5" name="TextBox 4"/>
          <p:cNvSpPr txBox="1"/>
          <p:nvPr/>
        </p:nvSpPr>
        <p:spPr>
          <a:xfrm>
            <a:off x="9875520" y="228600"/>
            <a:ext cx="1645920" cy="320040"/>
          </a:xfrm>
          <a:prstGeom prst="rect">
            <a:avLst/>
          </a:prstGeom>
          <a:noFill/>
        </p:spPr>
        <p:txBody>
          <a:bodyPr wrap="none">
            <a:spAutoFit/>
          </a:bodyPr>
          <a:lstStyle/>
          <a:p>
            <a:pPr algn="r">
              <a:defRPr sz="1100" b="1">
                <a:solidFill>
                  <a:srgbClr val="64748B"/>
                </a:solidFill>
              </a:defRPr>
            </a:pPr>
            <a:r>
              <a:t>Slide 15 of 16</a:t>
            </a:r>
          </a:p>
        </p:txBody>
      </p:sp>
      <p:sp>
        <p:nvSpPr>
          <p:cNvPr id="6" name="TextBox 5"/>
          <p:cNvSpPr txBox="1"/>
          <p:nvPr/>
        </p:nvSpPr>
        <p:spPr>
          <a:xfrm>
            <a:off x="731520" y="658368"/>
            <a:ext cx="10728655" cy="685800"/>
          </a:xfrm>
          <a:prstGeom prst="rect">
            <a:avLst/>
          </a:prstGeom>
          <a:noFill/>
        </p:spPr>
        <p:txBody>
          <a:bodyPr wrap="square">
            <a:spAutoFit/>
          </a:bodyPr>
          <a:lstStyle/>
          <a:p>
            <a:pPr>
              <a:defRPr sz="2200" b="1">
                <a:solidFill>
                  <a:srgbClr val="0F172A"/>
                </a:solidFill>
              </a:defRPr>
            </a:pPr>
            <a:r>
              <a:t>Project Timeline &amp; Work Plan</a:t>
            </a:r>
          </a:p>
          <a:p>
            <a:pPr>
              <a:defRPr sz="1150">
                <a:solidFill>
                  <a:srgbClr val="64748B"/>
                </a:solidFill>
              </a:defRPr>
            </a:pPr>
            <a:r>
              <a:t>Roadmap across the three review stages</a:t>
            </a:r>
          </a:p>
        </p:txBody>
      </p:sp>
      <p:sp>
        <p:nvSpPr>
          <p:cNvPr id="7" name="Rounded Rectangle 6"/>
          <p:cNvSpPr/>
          <p:nvPr/>
        </p:nvSpPr>
        <p:spPr>
          <a:xfrm>
            <a:off x="731520" y="1463040"/>
            <a:ext cx="5120640" cy="2331720"/>
          </a:xfrm>
          <a:prstGeom prst="roundRect">
            <a:avLst/>
          </a:prstGeom>
          <a:solidFill>
            <a:srgbClr val="F0FDF4"/>
          </a:solidFill>
          <a:ln w="15240">
            <a:solidFill>
              <a:srgbClr val="BBF7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0120" y="1645920"/>
            <a:ext cx="4663440" cy="1965960"/>
          </a:xfrm>
          <a:prstGeom prst="rect">
            <a:avLst/>
          </a:prstGeom>
          <a:noFill/>
        </p:spPr>
        <p:txBody>
          <a:bodyPr wrap="square">
            <a:spAutoFit/>
          </a:bodyPr>
          <a:lstStyle/>
          <a:p>
            <a:pPr>
              <a:spcAft>
                <a:spcPts val="800"/>
              </a:spcAft>
              <a:defRPr sz="1400" b="1">
                <a:solidFill>
                  <a:srgbClr val="0F172A"/>
                </a:solidFill>
              </a:defRPr>
            </a:pPr>
            <a:r>
              <a:t>🏁  Phase 1: Working Prototype [DONE]</a:t>
            </a:r>
          </a:p>
          <a:p>
            <a:pPr>
              <a:spcAft>
                <a:spcPts val="600"/>
              </a:spcAft>
              <a:defRPr sz="1150">
                <a:solidFill>
                  <a:srgbClr val="1E293B"/>
                </a:solidFill>
              </a:defRPr>
            </a:pPr>
            <a:r>
              <a:t>•  Studied Voter ID Form 6 requirements.</a:t>
            </a:r>
          </a:p>
          <a:p>
            <a:pPr>
              <a:spcAft>
                <a:spcPts val="600"/>
              </a:spcAft>
              <a:defRPr sz="1150">
                <a:solidFill>
                  <a:srgbClr val="1E293B"/>
                </a:solidFill>
              </a:defRPr>
            </a:pPr>
            <a:r>
              <a:t>•  Integrated EasyOCR for reading text.</a:t>
            </a:r>
          </a:p>
          <a:p>
            <a:pPr>
              <a:spcAft>
                <a:spcPts val="600"/>
              </a:spcAft>
              <a:defRPr sz="1150">
                <a:solidFill>
                  <a:srgbClr val="1E293B"/>
                </a:solidFill>
              </a:defRPr>
            </a:pPr>
            <a:r>
              <a:t>•  Setup local Meta Llama 3.2 AI via Ollama.</a:t>
            </a:r>
          </a:p>
          <a:p>
            <a:pPr>
              <a:spcAft>
                <a:spcPts val="600"/>
              </a:spcAft>
              <a:defRPr sz="1150">
                <a:solidFill>
                  <a:srgbClr val="1E293B"/>
                </a:solidFill>
              </a:defRPr>
            </a:pPr>
            <a:r>
              <a:t>•  Integrated OpenCV YuNet deep learning face cropping.</a:t>
            </a:r>
          </a:p>
          <a:p>
            <a:pPr>
              <a:spcAft>
                <a:spcPts val="600"/>
              </a:spcAft>
              <a:defRPr sz="1150">
                <a:solidFill>
                  <a:srgbClr val="1E293B"/>
                </a:solidFill>
              </a:defRPr>
            </a:pPr>
            <a:r>
              <a:t>•  Tested and verified on sample Aadhaar cards.</a:t>
            </a:r>
          </a:p>
          <a:p>
            <a:pPr>
              <a:spcAft>
                <a:spcPts val="600"/>
              </a:spcAft>
              <a:defRPr sz="1150">
                <a:solidFill>
                  <a:srgbClr val="1E293B"/>
                </a:solidFill>
              </a:defRPr>
            </a:pPr>
            <a:r>
              <a:t>•  Current Status: Fully working prototype demonstrated in Review 1.</a:t>
            </a:r>
          </a:p>
        </p:txBody>
      </p:sp>
      <p:sp>
        <p:nvSpPr>
          <p:cNvPr id="9" name="Rounded Rectangle 8"/>
          <p:cNvSpPr/>
          <p:nvPr/>
        </p:nvSpPr>
        <p:spPr>
          <a:xfrm>
            <a:off x="6217920" y="1463040"/>
            <a:ext cx="5242255" cy="2331720"/>
          </a:xfrm>
          <a:prstGeom prst="roundRect">
            <a:avLst/>
          </a:prstGeom>
          <a:solidFill>
            <a:srgbClr val="F0F7FF"/>
          </a:solidFill>
          <a:ln w="1524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46520" y="1645920"/>
            <a:ext cx="4785055" cy="1965960"/>
          </a:xfrm>
          <a:prstGeom prst="rect">
            <a:avLst/>
          </a:prstGeom>
          <a:noFill/>
        </p:spPr>
        <p:txBody>
          <a:bodyPr wrap="square">
            <a:spAutoFit/>
          </a:bodyPr>
          <a:lstStyle/>
          <a:p>
            <a:pPr>
              <a:spcAft>
                <a:spcPts val="800"/>
              </a:spcAft>
              <a:defRPr sz="1400" b="1">
                <a:solidFill>
                  <a:srgbClr val="0F172A"/>
                </a:solidFill>
              </a:defRPr>
            </a:pPr>
            <a:r>
              <a:t>🚀  Phase 2: More Documents [MID REVIEW]</a:t>
            </a:r>
          </a:p>
          <a:p>
            <a:pPr>
              <a:spcAft>
                <a:spcPts val="600"/>
              </a:spcAft>
              <a:defRPr sz="1150">
                <a:solidFill>
                  <a:srgbClr val="1E293B"/>
                </a:solidFill>
              </a:defRPr>
            </a:pPr>
            <a:r>
              <a:t>•  Add support for PAN Card and Driving License uploads.</a:t>
            </a:r>
          </a:p>
          <a:p>
            <a:pPr>
              <a:spcAft>
                <a:spcPts val="600"/>
              </a:spcAft>
              <a:defRPr sz="1150">
                <a:solidFill>
                  <a:srgbClr val="1E293B"/>
                </a:solidFill>
              </a:defRPr>
            </a:pPr>
            <a:r>
              <a:t>•  Cross-verify name and DOB between Aadhaar and PAN card.</a:t>
            </a:r>
          </a:p>
          <a:p>
            <a:pPr>
              <a:spcAft>
                <a:spcPts val="600"/>
              </a:spcAft>
              <a:defRPr sz="1150">
                <a:solidFill>
                  <a:srgbClr val="1E293B"/>
                </a:solidFill>
              </a:defRPr>
            </a:pPr>
            <a:r>
              <a:t>•  Add green checkmarks showing confidence for each filled box.</a:t>
            </a:r>
          </a:p>
          <a:p>
            <a:pPr>
              <a:spcAft>
                <a:spcPts val="600"/>
              </a:spcAft>
              <a:defRPr sz="1150">
                <a:solidFill>
                  <a:srgbClr val="1E293B"/>
                </a:solidFill>
              </a:defRPr>
            </a:pPr>
            <a:r>
              <a:t>•  Automatically wipe uploaded images from memory after form is submitted.</a:t>
            </a:r>
          </a:p>
        </p:txBody>
      </p:sp>
      <p:sp>
        <p:nvSpPr>
          <p:cNvPr id="11" name="Rounded Rectangle 10"/>
          <p:cNvSpPr/>
          <p:nvPr/>
        </p:nvSpPr>
        <p:spPr>
          <a:xfrm>
            <a:off x="731520" y="3931920"/>
            <a:ext cx="10728655" cy="233172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60120" y="4114800"/>
            <a:ext cx="10271455" cy="1965960"/>
          </a:xfrm>
          <a:prstGeom prst="rect">
            <a:avLst/>
          </a:prstGeom>
          <a:noFill/>
        </p:spPr>
        <p:txBody>
          <a:bodyPr wrap="square">
            <a:spAutoFit/>
          </a:bodyPr>
          <a:lstStyle/>
          <a:p>
            <a:pPr>
              <a:spcAft>
                <a:spcPts val="800"/>
              </a:spcAft>
              <a:defRPr sz="1400" b="1">
                <a:solidFill>
                  <a:srgbClr val="0F172A"/>
                </a:solidFill>
              </a:defRPr>
            </a:pPr>
            <a:r>
              <a:t>🌐  Phase 3: Browser Extension &amp; Live Testing [FINAL REVIEW]</a:t>
            </a:r>
          </a:p>
          <a:p>
            <a:pPr>
              <a:spcAft>
                <a:spcPts val="600"/>
              </a:spcAft>
              <a:defRPr sz="1150">
                <a:solidFill>
                  <a:srgbClr val="1E293B"/>
                </a:solidFill>
              </a:defRPr>
            </a:pPr>
            <a:r>
              <a:t>•  Package the system as a Chrome / Firefox Browser Extension.</a:t>
            </a:r>
          </a:p>
          <a:p>
            <a:pPr>
              <a:spcAft>
                <a:spcPts val="600"/>
              </a:spcAft>
              <a:defRPr sz="1150">
                <a:solidFill>
                  <a:srgbClr val="1E293B"/>
                </a:solidFill>
              </a:defRPr>
            </a:pPr>
            <a:r>
              <a:t>•  The extension will directly fill the real live government website (voters.eci.gov.in) with 1 click.</a:t>
            </a:r>
          </a:p>
          <a:p>
            <a:pPr>
              <a:spcAft>
                <a:spcPts val="600"/>
              </a:spcAft>
              <a:defRPr sz="1150">
                <a:solidFill>
                  <a:srgbClr val="1E293B"/>
                </a:solidFill>
              </a:defRPr>
            </a:pPr>
            <a:r>
              <a:t>•  Test on 50 different sample cards with different photo qualities.</a:t>
            </a:r>
          </a:p>
          <a:p>
            <a:pPr>
              <a:spcAft>
                <a:spcPts val="600"/>
              </a:spcAft>
              <a:defRPr sz="1150">
                <a:solidFill>
                  <a:srgbClr val="1E293B"/>
                </a:solidFill>
              </a:defRPr>
            </a:pPr>
            <a:r>
              <a:t>•  Complete final project report and documentation.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A56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228600"/>
            <a:ext cx="4754880" cy="347472"/>
          </a:xfrm>
          <a:prstGeom prst="roundRect">
            <a:avLst/>
          </a:prstGeom>
          <a:solidFill>
            <a:srgbClr val="EFF6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37744"/>
            <a:ext cx="4572000" cy="320040"/>
          </a:xfrm>
          <a:prstGeom prst="rect">
            <a:avLst/>
          </a:prstGeom>
          <a:noFill/>
        </p:spPr>
        <p:txBody>
          <a:bodyPr wrap="square">
            <a:spAutoFit/>
          </a:bodyPr>
          <a:lstStyle/>
          <a:p>
            <a:pPr>
              <a:defRPr sz="1050" b="1">
                <a:solidFill>
                  <a:srgbClr val="1E40AF"/>
                </a:solidFill>
              </a:defRPr>
            </a:pPr>
            <a:r>
              <a:t>B.E. COMPUTER SCIENCE &amp; ENGINEERING | FIRST REVIEW</a:t>
            </a:r>
          </a:p>
        </p:txBody>
      </p:sp>
      <p:sp>
        <p:nvSpPr>
          <p:cNvPr id="5" name="TextBox 4"/>
          <p:cNvSpPr txBox="1"/>
          <p:nvPr/>
        </p:nvSpPr>
        <p:spPr>
          <a:xfrm>
            <a:off x="9875520" y="228600"/>
            <a:ext cx="1645920" cy="320040"/>
          </a:xfrm>
          <a:prstGeom prst="rect">
            <a:avLst/>
          </a:prstGeom>
          <a:noFill/>
        </p:spPr>
        <p:txBody>
          <a:bodyPr wrap="none">
            <a:spAutoFit/>
          </a:bodyPr>
          <a:lstStyle/>
          <a:p>
            <a:pPr algn="r">
              <a:defRPr sz="1100" b="1">
                <a:solidFill>
                  <a:srgbClr val="64748B"/>
                </a:solidFill>
              </a:defRPr>
            </a:pPr>
            <a:r>
              <a:t>Slide 16 of 16</a:t>
            </a:r>
          </a:p>
        </p:txBody>
      </p:sp>
      <p:sp>
        <p:nvSpPr>
          <p:cNvPr id="6" name="TextBox 5"/>
          <p:cNvSpPr txBox="1"/>
          <p:nvPr/>
        </p:nvSpPr>
        <p:spPr>
          <a:xfrm>
            <a:off x="731520" y="658368"/>
            <a:ext cx="10728655" cy="685800"/>
          </a:xfrm>
          <a:prstGeom prst="rect">
            <a:avLst/>
          </a:prstGeom>
          <a:noFill/>
        </p:spPr>
        <p:txBody>
          <a:bodyPr wrap="square">
            <a:spAutoFit/>
          </a:bodyPr>
          <a:lstStyle/>
          <a:p>
            <a:pPr>
              <a:defRPr sz="2200" b="1">
                <a:solidFill>
                  <a:srgbClr val="0F172A"/>
                </a:solidFill>
              </a:defRPr>
            </a:pPr>
            <a:r>
              <a:t>Conclusion &amp; References</a:t>
            </a:r>
          </a:p>
          <a:p>
            <a:pPr>
              <a:defRPr sz="1150">
                <a:solidFill>
                  <a:srgbClr val="64748B"/>
                </a:solidFill>
              </a:defRPr>
            </a:pPr>
            <a:r>
              <a:t>Summary of our work</a:t>
            </a:r>
          </a:p>
        </p:txBody>
      </p:sp>
      <p:sp>
        <p:nvSpPr>
          <p:cNvPr id="7" name="Rounded Rectangle 6"/>
          <p:cNvSpPr/>
          <p:nvPr/>
        </p:nvSpPr>
        <p:spPr>
          <a:xfrm>
            <a:off x="731520" y="1463040"/>
            <a:ext cx="5120640" cy="475488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0120" y="1645920"/>
            <a:ext cx="4663440" cy="4389120"/>
          </a:xfrm>
          <a:prstGeom prst="rect">
            <a:avLst/>
          </a:prstGeom>
          <a:noFill/>
        </p:spPr>
        <p:txBody>
          <a:bodyPr wrap="square">
            <a:spAutoFit/>
          </a:bodyPr>
          <a:lstStyle/>
          <a:p>
            <a:pPr>
              <a:spcAft>
                <a:spcPts val="800"/>
              </a:spcAft>
              <a:defRPr sz="1400" b="1">
                <a:solidFill>
                  <a:srgbClr val="0F172A"/>
                </a:solidFill>
              </a:defRPr>
            </a:pPr>
            <a:r>
              <a:t>📚  Key References</a:t>
            </a:r>
          </a:p>
          <a:p>
            <a:pPr>
              <a:spcAft>
                <a:spcPts val="600"/>
              </a:spcAft>
              <a:defRPr sz="1150">
                <a:solidFill>
                  <a:srgbClr val="1E293B"/>
                </a:solidFill>
              </a:defRPr>
            </a:pPr>
            <a:r>
              <a:t>•  1. Election Commission of India (ECI), 'Voter Registration Form 6 Guidelines', eci.gov.in, 2023.</a:t>
            </a:r>
          </a:p>
          <a:p>
            <a:pPr>
              <a:spcAft>
                <a:spcPts val="600"/>
              </a:spcAft>
              <a:defRPr sz="1150">
                <a:solidFill>
                  <a:srgbClr val="1E293B"/>
                </a:solidFill>
              </a:defRPr>
            </a:pPr>
            <a:r>
              <a:t>•  2. Meta AI, 'Llama 3.2: Lightweight Multilingual Models for Edge Devices', 2024.</a:t>
            </a:r>
          </a:p>
          <a:p>
            <a:pPr>
              <a:spcAft>
                <a:spcPts val="600"/>
              </a:spcAft>
              <a:defRPr sz="1150">
                <a:solidFill>
                  <a:srgbClr val="1E293B"/>
                </a:solidFill>
              </a:defRPr>
            </a:pPr>
            <a:r>
              <a:t>•  3. OpenCV Zoo, 'YuNet: Compact Deep Neural Network for Real-Time Face Detection', 2023.</a:t>
            </a:r>
          </a:p>
          <a:p>
            <a:pPr>
              <a:spcAft>
                <a:spcPts val="600"/>
              </a:spcAft>
              <a:defRPr sz="1150">
                <a:solidFill>
                  <a:srgbClr val="1E293B"/>
                </a:solidFill>
              </a:defRPr>
            </a:pPr>
            <a:r>
              <a:t>•  4. Jaided AI, 'EasyOCR: Python Package for Optical Character Recognition', 2023.</a:t>
            </a:r>
          </a:p>
          <a:p>
            <a:pPr>
              <a:spcAft>
                <a:spcPts val="600"/>
              </a:spcAft>
              <a:defRPr sz="1150">
                <a:solidFill>
                  <a:srgbClr val="1E293B"/>
                </a:solidFill>
              </a:defRPr>
            </a:pPr>
            <a:r>
              <a:t>•  5. Project GitHub Repository: https://github.com/deva-2006/govtAutofill</a:t>
            </a:r>
          </a:p>
        </p:txBody>
      </p:sp>
      <p:sp>
        <p:nvSpPr>
          <p:cNvPr id="9" name="Rounded Rectangle 8"/>
          <p:cNvSpPr/>
          <p:nvPr/>
        </p:nvSpPr>
        <p:spPr>
          <a:xfrm>
            <a:off x="6217920" y="1463040"/>
            <a:ext cx="5242255" cy="4754880"/>
          </a:xfrm>
          <a:prstGeom prst="roundRect">
            <a:avLst/>
          </a:prstGeom>
          <a:solidFill>
            <a:srgbClr val="F0FDF4"/>
          </a:solidFill>
          <a:ln w="15240">
            <a:solidFill>
              <a:srgbClr val="BBF7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46520" y="1645920"/>
            <a:ext cx="4785055" cy="4389120"/>
          </a:xfrm>
          <a:prstGeom prst="rect">
            <a:avLst/>
          </a:prstGeom>
          <a:noFill/>
        </p:spPr>
        <p:txBody>
          <a:bodyPr wrap="square">
            <a:spAutoFit/>
          </a:bodyPr>
          <a:lstStyle/>
          <a:p>
            <a:pPr>
              <a:spcAft>
                <a:spcPts val="800"/>
              </a:spcAft>
              <a:defRPr sz="1400" b="1">
                <a:solidFill>
                  <a:srgbClr val="0F172A"/>
                </a:solidFill>
              </a:defRPr>
            </a:pPr>
            <a:r>
              <a:t>🏆  Concluding Summary</a:t>
            </a:r>
          </a:p>
          <a:p>
            <a:pPr>
              <a:spcAft>
                <a:spcPts val="600"/>
              </a:spcAft>
              <a:defRPr sz="1150">
                <a:solidFill>
                  <a:srgbClr val="1E293B"/>
                </a:solidFill>
              </a:defRPr>
            </a:pPr>
            <a:r>
              <a:t>•  Solves a Real Problem: Eliminates boring, error-prone typing for citizens applying for government voter cards.</a:t>
            </a:r>
          </a:p>
          <a:p>
            <a:pPr>
              <a:spcAft>
                <a:spcPts val="600"/>
              </a:spcAft>
              <a:defRPr sz="1150">
                <a:solidFill>
                  <a:srgbClr val="1E293B"/>
                </a:solidFill>
              </a:defRPr>
            </a:pPr>
            <a:r>
              <a:t>•  Privacy First: Uses local AI and on-device face detection so no private data leaves the laptop.</a:t>
            </a:r>
          </a:p>
          <a:p>
            <a:pPr>
              <a:spcAft>
                <a:spcPts val="600"/>
              </a:spcAft>
              <a:defRPr sz="1150">
                <a:solidFill>
                  <a:srgbClr val="1E293B"/>
                </a:solidFill>
              </a:defRPr>
            </a:pPr>
            <a:r>
              <a:t>•  High Accuracy: Automatically separates door numbers, picks true Aadhaar numbers, and crops passport photos.</a:t>
            </a:r>
          </a:p>
          <a:p>
            <a:pPr>
              <a:spcAft>
                <a:spcPts val="600"/>
              </a:spcAft>
              <a:defRPr sz="1150">
                <a:solidFill>
                  <a:srgbClr val="1E293B"/>
                </a:solidFill>
              </a:defRPr>
            </a:pPr>
            <a:r>
              <a:t>•  Proven Working System: Already tested and working; strong base ready for Phase 2 expansion.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